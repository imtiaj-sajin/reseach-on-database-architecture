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13"/>
    <p:sldId id="263" r:id="rId14"/>
    <p:sldId id="264" r:id="rId15"/>
    <p:sldId id="265" r:id="rId16"/>
    <p:sldId id="266" r:id="rId17"/>
    <p:sldId id="267" r:id="rId18"/>
    <p:sldId id="268"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4095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an empirical study of how two relational engines choose an access path, and whether the tuning advice written for that decision actually works. The reason there are two engines rather than one is the core of the talk: with a single system you cannot tell a property of cost-based optimisation from a quirk of one product.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starting point. Every query needs one decision made for it, and the same query on the same data can be a hundred times slower depending on it. Because the decision is invisible, a large body of tuning advice has grown around helping the database make it. That advice is written by good engineers and it sounds right. Almost none of it has been measured under controlled conditions, so nobody knows the conditions under which it holds.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slide that explains why the study has two databases rather than one, and it is the frame for everything after it. If you measure one optimiser and find a failure, you cannot tell whether you have found something about cost-based optimisation or a bug in one product. Two independently written engines let you separate those. When both fail the same way it points at a shared design assumption. When only one fails it is an implementation choice. Every result from here on is labelled one way or the other.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definitions. Regret is how many times slower the plan the engine chose was than the fastest plan actually available to it, measured by forcing each index configuration separately and re-running the same query. A regret of one means it did the best it could. That separates the quality of the decision from the raw speed of the engine, which matters when comparing two products. Q-error is the standard measure of estimation accuracy. The whole paper turns on these two being reported separately.</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design in one slide. Data is generated rather than taken from a benchmark, because a fixed dataset fixes skew, correlation and clustering at whatever values it happens to have, and then you cannot attribute an effect to any one property. Generating it also means the true row count is known for every query, so misestimation is measured rather than inferred. Both engines cover the same seven table sizes, so the comparison is symmetric rather than one system being probed harder.</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first result and the frame for the comparison. On identical data PostgreSQL picks the best available plan 97.7 percent of the time. That matters because it means the PostgreSQL failures I show later are specific, identifiable defects rather than a generally weak </a:t>
            </a:r>
            <a:r>
              <a:rPr dirty="0" err="1"/>
              <a:t>optimiser</a:t>
            </a:r>
            <a:r>
              <a:rPr dirty="0"/>
              <a:t>. MariaDB errs on two thirds of queries. But notice the last column: its median error is mild. Wrong often, mostly by a little.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So why is MariaDB wrong so much more often? It is not that it costs plans less carefully. It is that it has fewer plans to choose from. This counts what each engine actually picked when handed every index. PostgreSQL answers almost everything with a bitmap scan, which sorts the matching row locations into disk order before fetching them. MariaDB never forms one. It either does a direct index lookup or gives up and scans the whole table, sixty six times, where PostgreSQL did it nine times. That single difference explains the gap.</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Everything from here is about PostgreSQL alone, and I want to be clear about that because MariaDB does not have a BRIN index at all, so it cannot make this particular mistake. On slide six I said PostgreSQL chooses well, 2.3 percent bad. That number was measured without a BRIN index. Now watch what happens when I add one. Same engine, same data, same queries. The only difference between these two rows is whether a BRIN index exists on the column beside the B-tree. Bad choices go from 2.3 percent to 73.3 percent, and the worst case goes from 1.4 times to nearly 19. So this is not a contradiction of slide six. It is what adding one supposedly free index does to it.</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So why did it choose badly? The textbook answer is that the database misjudged how many rows would come back. I checked. Of those 113 bad choices, 98 percent had the row count essentially right. The median estimation error was 1.017, where a perfect estimate is 1.000. So it knew how many rows were coming. It knew both indexes existed. And it still picked the slower one. That rules out the usual explanation, and it rules out the usual fix, because running ANALYZE or adding statistics cannot improve a number that was already correct. Which leaves one question: if the estimates were right, what did it get wrong?</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Here is the answer, and I found it by reading the PostgreSQL source code. There is a function called choose_bitmap_and. When two indexes can both answer the same query, it keeps one and throws the other away, and it decides by asking which index is cheaper to read. That sounds reasonable. The problem is that reading the index is only half the job. After reading it, the query still has to go and fetch the actual rows from the table, and that cost is not counted in the comparison. A BRIN index is tiny, so it is always cheaper to read, so it always wins. But BRIN only narrows the search to a block range, so the query then has to scan far more rows. Look at the numbers: the index that costs 17 times less to read is the one that runs 194 times slower. It compares the wrong quantity.</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Measuring both engines across all seven table sizes shows they do not just differ by degree, they fail in opposite ways. As tables grow, PostgreSQL gets wrong more often but its worst case stays small, never past 3.7 times. MariaDB gets wrong less often but its worst case climbs to 31 times. The practical point is the one on the right: a database that is wrong often but never badly is easier to live with than one wrong rarely but catastrophically. If you summarise either engine with a single number you lose exactly this.</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Pulling it together. We tested four pieces of advice that appear in official documentation and well-regarded blogs. Every one of them is sensible. Every one of them, under conditions we can now name, makes things worse. And look at the middle column: in three of the four the advice does exactly what it promises. Extended statistics really do fix the estimate, by a factor of 108. The query still gets slower. That is the pattern of the whole study: the advice improves a proxy, and the proxy is not what determines the outcome.</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So what do we actually recommend. On the left, four things to do. Measure the whole workload, not one query, because we had a 24 times effect on one query that vanished across the workload. Test more than two table sizes, because the problem moved in two directions at once and two points would have given us the opposite answer. Report how often and how badly separately, because they move in opposite directions. And keep the shipped defaults unless your own measurement says otherwise. On the right, four things not to do, each with the number that justifies it. And the line at the bottom is the one sentence I would want people to remember: every one of these was good advice, it just never came with the conditions attached.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171A"/>
        </a:solidFill>
        <a:effectLst/>
      </p:bgPr>
    </p:bg>
    <p:spTree>
      <p:nvGrpSpPr>
        <p:cNvPr id="1" name=""/>
        <p:cNvGrpSpPr/>
        <p:nvPr/>
      </p:nvGrpSpPr>
      <p:grpSpPr>
        <a:xfrm>
          <a:off x="0" y="0"/>
          <a:ext cx="0" cy="0"/>
          <a:chOff x="0" y="0"/>
          <a:chExt cx="0" cy="0"/>
        </a:xfrm>
      </p:grpSpPr>
      <p:sp>
        <p:nvSpPr>
          <p:cNvPr id="2" name="Rectangle 1"/>
          <p:cNvSpPr/>
          <p:nvPr/>
        </p:nvSpPr>
        <p:spPr>
          <a:xfrm>
            <a:off x="822960" y="1371600"/>
            <a:ext cx="1280160" cy="31750"/>
          </a:xfrm>
          <a:prstGeom prst="rect">
            <a:avLst/>
          </a:prstGeom>
          <a:solidFill>
            <a:srgbClr val="A832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1645920"/>
            <a:ext cx="9875520" cy="2103120"/>
          </a:xfrm>
          <a:prstGeom prst="rect">
            <a:avLst/>
          </a:prstGeom>
          <a:noFill/>
        </p:spPr>
        <p:txBody>
          <a:bodyPr wrap="square" lIns="0" tIns="0" rIns="0" bIns="0" anchor="t">
            <a:spAutoFit/>
          </a:bodyPr>
          <a:lstStyle/>
          <a:p>
            <a:pPr algn="l">
              <a:lnSpc>
                <a:spcPct val="114000"/>
              </a:lnSpc>
            </a:pPr>
            <a:r>
              <a:rPr sz="3500" b="0">
                <a:solidFill>
                  <a:srgbClr val="F2EFEA"/>
                </a:solidFill>
                <a:latin typeface="Georgia"/>
              </a:rPr>
              <a:t>Measuring the Impact of Index Types and Tuning Settings on Query Execution Plans in PostgreSQL and MariaDB</a:t>
            </a:r>
          </a:p>
        </p:txBody>
      </p:sp>
      <p:sp>
        <p:nvSpPr>
          <p:cNvPr id="4" name="TextBox 3"/>
          <p:cNvSpPr txBox="1"/>
          <p:nvPr/>
        </p:nvSpPr>
        <p:spPr>
          <a:xfrm>
            <a:off x="822960" y="3931920"/>
            <a:ext cx="9875520" cy="365760"/>
          </a:xfrm>
          <a:prstGeom prst="rect">
            <a:avLst/>
          </a:prstGeom>
          <a:noFill/>
        </p:spPr>
        <p:txBody>
          <a:bodyPr wrap="square" lIns="0" tIns="0" rIns="0" bIns="0" anchor="t">
            <a:spAutoFit/>
          </a:bodyPr>
          <a:lstStyle/>
          <a:p>
            <a:pPr algn="l">
              <a:lnSpc>
                <a:spcPct val="120000"/>
              </a:lnSpc>
            </a:pPr>
            <a:r>
              <a:rPr sz="1400" b="0">
                <a:solidFill>
                  <a:srgbClr val="92989E"/>
                </a:solidFill>
                <a:latin typeface="Segoe UI"/>
              </a:rPr>
              <a:t>An access-path study across two independently written optimisers</a:t>
            </a:r>
          </a:p>
        </p:txBody>
      </p:sp>
      <p:sp>
        <p:nvSpPr>
          <p:cNvPr id="5" name="Rectangle 4"/>
          <p:cNvSpPr/>
          <p:nvPr/>
        </p:nvSpPr>
        <p:spPr>
          <a:xfrm>
            <a:off x="822960" y="4480560"/>
            <a:ext cx="10545775" cy="9525"/>
          </a:xfrm>
          <a:prstGeom prst="rect">
            <a:avLst/>
          </a:prstGeom>
          <a:solidFill>
            <a:srgbClr val="333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4754880"/>
            <a:ext cx="4937760" cy="1188720"/>
          </a:xfrm>
          <a:prstGeom prst="rect">
            <a:avLst/>
          </a:prstGeom>
          <a:noFill/>
        </p:spPr>
        <p:txBody>
          <a:bodyPr wrap="square" lIns="0" tIns="0" rIns="0" bIns="0" anchor="t">
            <a:spAutoFit/>
          </a:bodyPr>
          <a:lstStyle/>
          <a:p>
            <a:pPr algn="l">
              <a:lnSpc>
                <a:spcPct val="145000"/>
              </a:lnSpc>
            </a:pPr>
            <a:r>
              <a:rPr sz="1500" b="1">
                <a:solidFill>
                  <a:srgbClr val="F2EFEA"/>
                </a:solidFill>
                <a:latin typeface="Segoe UI"/>
              </a:rPr>
              <a:t>Md. Imtiaj Alam Sajin</a:t>
            </a:r>
          </a:p>
          <a:p>
            <a:pPr algn="l">
              <a:lnSpc>
                <a:spcPct val="145000"/>
              </a:lnSpc>
            </a:pPr>
            <a:r>
              <a:rPr sz="1200" b="0">
                <a:solidFill>
                  <a:srgbClr val="92989E"/>
                </a:solidFill>
                <a:latin typeface="Segoe UI"/>
              </a:rPr>
              <a:t>26-94090-2   |   26-94090-2@student.aiub.edu</a:t>
            </a:r>
          </a:p>
        </p:txBody>
      </p:sp>
      <p:sp>
        <p:nvSpPr>
          <p:cNvPr id="7" name="TextBox 6"/>
          <p:cNvSpPr txBox="1"/>
          <p:nvPr/>
        </p:nvSpPr>
        <p:spPr>
          <a:xfrm>
            <a:off x="6583680" y="4754880"/>
            <a:ext cx="4754880" cy="1188720"/>
          </a:xfrm>
          <a:prstGeom prst="rect">
            <a:avLst/>
          </a:prstGeom>
          <a:noFill/>
        </p:spPr>
        <p:txBody>
          <a:bodyPr wrap="square" lIns="0" tIns="0" rIns="0" bIns="0" anchor="t">
            <a:spAutoFit/>
          </a:bodyPr>
          <a:lstStyle/>
          <a:p>
            <a:pPr algn="l">
              <a:lnSpc>
                <a:spcPct val="145000"/>
              </a:lnSpc>
            </a:pPr>
            <a:r>
              <a:rPr sz="1100" b="0">
                <a:solidFill>
                  <a:srgbClr val="92989E"/>
                </a:solidFill>
                <a:latin typeface="Segoe UI"/>
              </a:rPr>
              <a:t>Supervisor</a:t>
            </a:r>
          </a:p>
          <a:p>
            <a:pPr algn="l">
              <a:lnSpc>
                <a:spcPct val="145000"/>
              </a:lnSpc>
            </a:pPr>
            <a:r>
              <a:rPr sz="1500" b="1">
                <a:solidFill>
                  <a:srgbClr val="F2EFEA"/>
                </a:solidFill>
                <a:latin typeface="Segoe UI"/>
              </a:rPr>
              <a:t>Dr. Ashraf Uddin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22960" y="566928"/>
            <a:ext cx="10545775" cy="274320"/>
          </a:xfrm>
          <a:prstGeom prst="rect">
            <a:avLst/>
          </a:prstGeom>
          <a:noFill/>
        </p:spPr>
        <p:txBody>
          <a:bodyPr wrap="square" lIns="0" tIns="0" rIns="0" bIns="0" anchor="t">
            <a:spAutoFit/>
          </a:bodyPr>
          <a:lstStyle/>
          <a:p>
            <a:pPr algn="l">
              <a:lnSpc>
                <a:spcPct val="100000"/>
              </a:lnSpc>
            </a:pPr>
            <a:r>
              <a:rPr sz="1050" b="1">
                <a:solidFill>
                  <a:srgbClr val="A8322A"/>
                </a:solidFill>
                <a:latin typeface="Segoe UI"/>
              </a:rPr>
              <a:t>MOTIVATION</a:t>
            </a:r>
          </a:p>
        </p:txBody>
      </p:sp>
      <p:sp>
        <p:nvSpPr>
          <p:cNvPr id="3" name="TextBox 2"/>
          <p:cNvSpPr txBox="1"/>
          <p:nvPr/>
        </p:nvSpPr>
        <p:spPr>
          <a:xfrm>
            <a:off x="822960" y="914400"/>
            <a:ext cx="10545775" cy="1005840"/>
          </a:xfrm>
          <a:prstGeom prst="rect">
            <a:avLst/>
          </a:prstGeom>
          <a:noFill/>
        </p:spPr>
        <p:txBody>
          <a:bodyPr wrap="square" lIns="0" tIns="0" rIns="0" bIns="0" anchor="t">
            <a:spAutoFit/>
          </a:bodyPr>
          <a:lstStyle/>
          <a:p>
            <a:pPr algn="l">
              <a:lnSpc>
                <a:spcPct val="112000"/>
              </a:lnSpc>
            </a:pPr>
            <a:r>
              <a:rPr sz="3100" b="0">
                <a:solidFill>
                  <a:srgbClr val="1A1D21"/>
                </a:solidFill>
                <a:latin typeface="Georgia"/>
              </a:rPr>
              <a:t>A decision nobody sees, and advice nobody measured</a:t>
            </a:r>
          </a:p>
        </p:txBody>
      </p:sp>
      <p:sp>
        <p:nvSpPr>
          <p:cNvPr id="4" name="Rectangle 3"/>
          <p:cNvSpPr/>
          <p:nvPr/>
        </p:nvSpPr>
        <p:spPr>
          <a:xfrm>
            <a:off x="822960" y="2011680"/>
            <a:ext cx="10545775" cy="9525"/>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2331720"/>
            <a:ext cx="5577840" cy="2743200"/>
          </a:xfrm>
          <a:prstGeom prst="rect">
            <a:avLst/>
          </a:prstGeom>
          <a:noFill/>
        </p:spPr>
        <p:txBody>
          <a:bodyPr wrap="square" lIns="0" tIns="0" rIns="0" bIns="0" anchor="t">
            <a:spAutoFit/>
          </a:bodyPr>
          <a:lstStyle/>
          <a:p>
            <a:pPr algn="l">
              <a:lnSpc>
                <a:spcPct val="140000"/>
              </a:lnSpc>
            </a:pPr>
            <a:r>
              <a:rPr sz="1700" b="1">
                <a:solidFill>
                  <a:srgbClr val="1A1D21"/>
                </a:solidFill>
                <a:latin typeface="Segoe UI"/>
              </a:rPr>
              <a:t>Scan the table, or use an index, and if so which one.</a:t>
            </a:r>
          </a:p>
          <a:p>
            <a:pPr algn="l">
              <a:lnSpc>
                <a:spcPct val="140000"/>
              </a:lnSpc>
            </a:pPr>
            <a:endParaRPr sz="1700" b="1">
              <a:solidFill>
                <a:srgbClr val="1A1D21"/>
              </a:solidFill>
              <a:latin typeface="Segoe UI"/>
            </a:endParaRPr>
          </a:p>
          <a:p>
            <a:pPr algn="l">
              <a:lnSpc>
                <a:spcPct val="140000"/>
              </a:lnSpc>
            </a:pPr>
            <a:r>
              <a:rPr sz="1550" b="0">
                <a:solidFill>
                  <a:srgbClr val="70757A"/>
                </a:solidFill>
                <a:latin typeface="Segoe UI"/>
              </a:rPr>
              <a:t>One decision per query, invisible to the user, worth up to two orders of magnitude in runtime.</a:t>
            </a:r>
          </a:p>
          <a:p>
            <a:pPr algn="l">
              <a:lnSpc>
                <a:spcPct val="140000"/>
              </a:lnSpc>
            </a:pPr>
            <a:endParaRPr sz="1550" b="0">
              <a:solidFill>
                <a:srgbClr val="70757A"/>
              </a:solidFill>
              <a:latin typeface="Segoe UI"/>
            </a:endParaRPr>
          </a:p>
          <a:p>
            <a:pPr algn="l">
              <a:lnSpc>
                <a:spcPct val="140000"/>
              </a:lnSpc>
            </a:pPr>
            <a:r>
              <a:rPr sz="1550" b="0">
                <a:solidFill>
                  <a:srgbClr val="70757A"/>
                </a:solidFill>
                <a:latin typeface="Segoe UI"/>
              </a:rPr>
              <a:t>The literature attributes bad plans to cardinality misestimation. That work targets join ordering. The single-relation access-path decision has not been isolated the same way.</a:t>
            </a:r>
          </a:p>
        </p:txBody>
      </p:sp>
      <p:sp>
        <p:nvSpPr>
          <p:cNvPr id="6" name="TextBox 5"/>
          <p:cNvSpPr txBox="1"/>
          <p:nvPr/>
        </p:nvSpPr>
        <p:spPr>
          <a:xfrm>
            <a:off x="6949440" y="2331720"/>
            <a:ext cx="4389120" cy="3108960"/>
          </a:xfrm>
          <a:prstGeom prst="rect">
            <a:avLst/>
          </a:prstGeom>
          <a:noFill/>
        </p:spPr>
        <p:txBody>
          <a:bodyPr wrap="square" lIns="0" tIns="0" rIns="0" bIns="0" anchor="t">
            <a:spAutoFit/>
          </a:bodyPr>
          <a:lstStyle/>
          <a:p>
            <a:pPr algn="l">
              <a:lnSpc>
                <a:spcPct val="145000"/>
              </a:lnSpc>
            </a:pPr>
            <a:r>
              <a:rPr sz="1300" b="1" dirty="0">
                <a:solidFill>
                  <a:srgbClr val="A8322A"/>
                </a:solidFill>
                <a:latin typeface="Segoe UI"/>
              </a:rPr>
              <a:t>Four widely recommended practices</a:t>
            </a:r>
          </a:p>
          <a:p>
            <a:pPr algn="l">
              <a:lnSpc>
                <a:spcPct val="145000"/>
              </a:lnSpc>
            </a:pPr>
            <a:endParaRPr sz="1300" b="1" dirty="0">
              <a:solidFill>
                <a:srgbClr val="A8322A"/>
              </a:solidFill>
              <a:latin typeface="Segoe UI"/>
            </a:endParaRPr>
          </a:p>
          <a:p>
            <a:pPr marL="342900" indent="-342900" algn="l">
              <a:lnSpc>
                <a:spcPct val="145000"/>
              </a:lnSpc>
              <a:buFont typeface="Arial" panose="020B0604020202020204" pitchFamily="34" charset="0"/>
              <a:buChar char="•"/>
            </a:pPr>
            <a:r>
              <a:rPr sz="1450" b="0" dirty="0">
                <a:solidFill>
                  <a:srgbClr val="1A1D21"/>
                </a:solidFill>
                <a:latin typeface="Segoe UI"/>
              </a:rPr>
              <a:t>Extended statistics for correlated columns</a:t>
            </a:r>
          </a:p>
          <a:p>
            <a:pPr marL="342900" indent="-342900" algn="l">
              <a:lnSpc>
                <a:spcPct val="145000"/>
              </a:lnSpc>
              <a:buFont typeface="Arial" panose="020B0604020202020204" pitchFamily="34" charset="0"/>
              <a:buChar char="•"/>
            </a:pPr>
            <a:r>
              <a:rPr sz="1450" b="0" dirty="0">
                <a:solidFill>
                  <a:srgbClr val="1A1D21"/>
                </a:solidFill>
                <a:latin typeface="Segoe UI"/>
              </a:rPr>
              <a:t>Lower </a:t>
            </a:r>
            <a:r>
              <a:rPr sz="1450" b="0" dirty="0" err="1">
                <a:solidFill>
                  <a:srgbClr val="1A1D21"/>
                </a:solidFill>
                <a:latin typeface="Segoe UI"/>
              </a:rPr>
              <a:t>random_page_cost</a:t>
            </a:r>
            <a:r>
              <a:rPr sz="1450" b="0" dirty="0">
                <a:solidFill>
                  <a:srgbClr val="1A1D21"/>
                </a:solidFill>
                <a:latin typeface="Segoe UI"/>
              </a:rPr>
              <a:t> on SSD storage</a:t>
            </a:r>
          </a:p>
          <a:p>
            <a:pPr marL="342900" indent="-342900" algn="l">
              <a:lnSpc>
                <a:spcPct val="145000"/>
              </a:lnSpc>
              <a:buFont typeface="Arial" panose="020B0604020202020204" pitchFamily="34" charset="0"/>
              <a:buChar char="•"/>
            </a:pPr>
            <a:r>
              <a:rPr sz="1450" b="0" dirty="0">
                <a:solidFill>
                  <a:srgbClr val="1A1D21"/>
                </a:solidFill>
                <a:latin typeface="Segoe UI"/>
              </a:rPr>
              <a:t>Add a BRIN index, it costs almost nothing</a:t>
            </a:r>
          </a:p>
          <a:p>
            <a:pPr marL="342900" indent="-342900" algn="l">
              <a:lnSpc>
                <a:spcPct val="145000"/>
              </a:lnSpc>
              <a:buFont typeface="Arial" panose="020B0604020202020204" pitchFamily="34" charset="0"/>
              <a:buChar char="•"/>
            </a:pPr>
            <a:r>
              <a:rPr sz="1450" b="0" dirty="0">
                <a:solidFill>
                  <a:srgbClr val="1A1D21"/>
                </a:solidFill>
                <a:latin typeface="Segoe UI"/>
              </a:rPr>
              <a:t>Enable Multi-Range Read in MariaDB</a:t>
            </a:r>
          </a:p>
          <a:p>
            <a:pPr algn="l">
              <a:lnSpc>
                <a:spcPct val="145000"/>
              </a:lnSpc>
            </a:pPr>
            <a:endParaRPr sz="1450" b="0" dirty="0">
              <a:solidFill>
                <a:srgbClr val="1A1D21"/>
              </a:solidFill>
              <a:latin typeface="Segoe UI"/>
            </a:endParaRPr>
          </a:p>
          <a:p>
            <a:pPr algn="l">
              <a:lnSpc>
                <a:spcPct val="145000"/>
              </a:lnSpc>
            </a:pPr>
            <a:r>
              <a:rPr sz="1450" b="1" dirty="0">
                <a:solidFill>
                  <a:srgbClr val="1A1D21"/>
                </a:solidFill>
                <a:latin typeface="Segoe UI"/>
              </a:rPr>
              <a:t>Every one is sound in the case it was written for. This study measures where each stops being sound.</a:t>
            </a:r>
          </a:p>
        </p:txBody>
      </p:sp>
      <p:sp>
        <p:nvSpPr>
          <p:cNvPr id="7" name="TextBox 6"/>
          <p:cNvSpPr txBox="1"/>
          <p:nvPr/>
        </p:nvSpPr>
        <p:spPr>
          <a:xfrm>
            <a:off x="10728655" y="6327648"/>
            <a:ext cx="640080" cy="274320"/>
          </a:xfrm>
          <a:prstGeom prst="rect">
            <a:avLst/>
          </a:prstGeom>
          <a:noFill/>
        </p:spPr>
        <p:txBody>
          <a:bodyPr wrap="square" lIns="0" tIns="0" rIns="0" bIns="0" anchor="t">
            <a:spAutoFit/>
          </a:bodyPr>
          <a:lstStyle/>
          <a:p>
            <a:pPr algn="r">
              <a:lnSpc>
                <a:spcPct val="100000"/>
              </a:lnSpc>
            </a:pPr>
            <a:r>
              <a:rPr sz="1000" b="0">
                <a:solidFill>
                  <a:srgbClr val="A8ACB0"/>
                </a:solidFill>
                <a:latin typeface="Segoe UI"/>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4171A"/>
        </a:solidFill>
        <a:effectLst/>
      </p:bgPr>
    </p:bg>
    <p:spTree>
      <p:nvGrpSpPr>
        <p:cNvPr id="1" name=""/>
        <p:cNvGrpSpPr/>
        <p:nvPr/>
      </p:nvGrpSpPr>
      <p:grpSpPr>
        <a:xfrm>
          <a:off x="0" y="0"/>
          <a:ext cx="0" cy="0"/>
          <a:chOff x="0" y="0"/>
          <a:chExt cx="0" cy="0"/>
        </a:xfrm>
      </p:grpSpPr>
      <p:sp>
        <p:nvSpPr>
          <p:cNvPr id="3" name="TextBox 2"/>
          <p:cNvSpPr txBox="1"/>
          <p:nvPr/>
        </p:nvSpPr>
        <p:spPr>
          <a:xfrm>
            <a:off x="822960" y="914400"/>
            <a:ext cx="10545775" cy="461024"/>
          </a:xfrm>
          <a:prstGeom prst="rect">
            <a:avLst/>
          </a:prstGeom>
          <a:noFill/>
        </p:spPr>
        <p:txBody>
          <a:bodyPr wrap="square" lIns="0" tIns="0" rIns="0" bIns="0" anchor="t">
            <a:spAutoFit/>
          </a:bodyPr>
          <a:lstStyle/>
          <a:p>
            <a:pPr algn="l">
              <a:lnSpc>
                <a:spcPct val="112000"/>
              </a:lnSpc>
            </a:pPr>
            <a:r>
              <a:rPr lang="en-US" sz="2900" b="0" dirty="0">
                <a:solidFill>
                  <a:srgbClr val="F2EFEA"/>
                </a:solidFill>
                <a:latin typeface="Georgia"/>
              </a:rPr>
              <a:t>Two engines chosen (</a:t>
            </a:r>
            <a:r>
              <a:rPr lang="en-US" sz="2900" b="0" dirty="0">
                <a:solidFill>
                  <a:schemeClr val="accent6">
                    <a:lumMod val="60000"/>
                    <a:lumOff val="40000"/>
                  </a:schemeClr>
                </a:solidFill>
                <a:latin typeface="Georgia"/>
              </a:rPr>
              <a:t>Postgres vs MariaDB</a:t>
            </a:r>
            <a:r>
              <a:rPr lang="en-US" sz="2900" b="0" dirty="0">
                <a:solidFill>
                  <a:srgbClr val="F2EFEA"/>
                </a:solidFill>
                <a:latin typeface="Georgia"/>
              </a:rPr>
              <a:t>)</a:t>
            </a:r>
            <a:endParaRPr sz="2900" b="0" dirty="0">
              <a:solidFill>
                <a:srgbClr val="F2EFEA"/>
              </a:solidFill>
              <a:latin typeface="Georgia"/>
            </a:endParaRPr>
          </a:p>
        </p:txBody>
      </p:sp>
      <p:sp>
        <p:nvSpPr>
          <p:cNvPr id="4" name="Rectangle 3"/>
          <p:cNvSpPr/>
          <p:nvPr/>
        </p:nvSpPr>
        <p:spPr>
          <a:xfrm>
            <a:off x="822960" y="1920240"/>
            <a:ext cx="10545775" cy="9525"/>
          </a:xfrm>
          <a:prstGeom prst="rect">
            <a:avLst/>
          </a:prstGeom>
          <a:solidFill>
            <a:srgbClr val="333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2286000"/>
            <a:ext cx="10515600" cy="731520"/>
          </a:xfrm>
          <a:prstGeom prst="rect">
            <a:avLst/>
          </a:prstGeom>
          <a:noFill/>
        </p:spPr>
        <p:txBody>
          <a:bodyPr wrap="square" lIns="0" tIns="0" rIns="0" bIns="0" anchor="t">
            <a:spAutoFit/>
          </a:bodyPr>
          <a:lstStyle/>
          <a:p>
            <a:pPr algn="l">
              <a:lnSpc>
                <a:spcPct val="125000"/>
              </a:lnSpc>
            </a:pPr>
            <a:r>
              <a:rPr sz="2000" b="0" dirty="0">
                <a:solidFill>
                  <a:srgbClr val="F2EFEA"/>
                </a:solidFill>
                <a:latin typeface="Georgia"/>
              </a:rPr>
              <a:t>A single-system study cannot separate a property of cost-based access-path selection from an artefact of one implementation.</a:t>
            </a:r>
          </a:p>
        </p:txBody>
      </p:sp>
      <p:sp>
        <p:nvSpPr>
          <p:cNvPr id="9" name="TextBox 8"/>
          <p:cNvSpPr txBox="1"/>
          <p:nvPr/>
        </p:nvSpPr>
        <p:spPr>
          <a:xfrm>
            <a:off x="822960" y="6108192"/>
            <a:ext cx="10545775" cy="365760"/>
          </a:xfrm>
          <a:prstGeom prst="rect">
            <a:avLst/>
          </a:prstGeom>
          <a:noFill/>
        </p:spPr>
        <p:txBody>
          <a:bodyPr wrap="square" lIns="0" tIns="0" rIns="0" bIns="0" anchor="t">
            <a:spAutoFit/>
          </a:bodyPr>
          <a:lstStyle/>
          <a:p>
            <a:pPr algn="l">
              <a:lnSpc>
                <a:spcPct val="120000"/>
              </a:lnSpc>
            </a:pPr>
            <a:r>
              <a:rPr sz="1050" b="0" dirty="0">
                <a:solidFill>
                  <a:srgbClr val="92989E"/>
                </a:solidFill>
                <a:latin typeface="Segoe UI"/>
              </a:rPr>
              <a:t>Both systems run identical generated data, identical queries, identical metrics and a matched 128 MB buffer pool.</a:t>
            </a:r>
          </a:p>
        </p:txBody>
      </p:sp>
      <p:sp>
        <p:nvSpPr>
          <p:cNvPr id="10" name="TextBox 9"/>
          <p:cNvSpPr txBox="1"/>
          <p:nvPr/>
        </p:nvSpPr>
        <p:spPr>
          <a:xfrm>
            <a:off x="10728655" y="6327648"/>
            <a:ext cx="640080" cy="274320"/>
          </a:xfrm>
          <a:prstGeom prst="rect">
            <a:avLst/>
          </a:prstGeom>
          <a:noFill/>
        </p:spPr>
        <p:txBody>
          <a:bodyPr wrap="square" lIns="0" tIns="0" rIns="0" bIns="0" anchor="t">
            <a:spAutoFit/>
          </a:bodyPr>
          <a:lstStyle/>
          <a:p>
            <a:pPr algn="r">
              <a:lnSpc>
                <a:spcPct val="100000"/>
              </a:lnSpc>
            </a:pPr>
            <a:r>
              <a:rPr sz="1000" b="0">
                <a:solidFill>
                  <a:srgbClr val="4A5056"/>
                </a:solidFill>
                <a:latin typeface="Segoe UI"/>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22960" y="566928"/>
            <a:ext cx="10545775" cy="274320"/>
          </a:xfrm>
          <a:prstGeom prst="rect">
            <a:avLst/>
          </a:prstGeom>
          <a:noFill/>
        </p:spPr>
        <p:txBody>
          <a:bodyPr wrap="square" lIns="0" tIns="0" rIns="0" bIns="0" anchor="t">
            <a:spAutoFit/>
          </a:bodyPr>
          <a:lstStyle/>
          <a:p>
            <a:pPr algn="l">
              <a:lnSpc>
                <a:spcPct val="100000"/>
              </a:lnSpc>
            </a:pPr>
            <a:r>
              <a:rPr sz="1050" b="1">
                <a:solidFill>
                  <a:srgbClr val="A8322A"/>
                </a:solidFill>
                <a:latin typeface="Segoe UI"/>
              </a:rPr>
              <a:t>METRICS</a:t>
            </a:r>
          </a:p>
        </p:txBody>
      </p:sp>
      <p:sp>
        <p:nvSpPr>
          <p:cNvPr id="3" name="TextBox 2"/>
          <p:cNvSpPr txBox="1"/>
          <p:nvPr/>
        </p:nvSpPr>
        <p:spPr>
          <a:xfrm>
            <a:off x="822960" y="914400"/>
            <a:ext cx="10545775" cy="1005840"/>
          </a:xfrm>
          <a:prstGeom prst="rect">
            <a:avLst/>
          </a:prstGeom>
          <a:noFill/>
        </p:spPr>
        <p:txBody>
          <a:bodyPr wrap="square" lIns="0" tIns="0" rIns="0" bIns="0" anchor="t">
            <a:spAutoFit/>
          </a:bodyPr>
          <a:lstStyle/>
          <a:p>
            <a:pPr algn="l">
              <a:lnSpc>
                <a:spcPct val="112000"/>
              </a:lnSpc>
            </a:pPr>
            <a:r>
              <a:rPr sz="2900" b="0">
                <a:solidFill>
                  <a:srgbClr val="1A1D21"/>
                </a:solidFill>
                <a:latin typeface="Georgia"/>
              </a:rPr>
              <a:t>Two measures, deliberately kept apart</a:t>
            </a:r>
          </a:p>
        </p:txBody>
      </p:sp>
      <p:sp>
        <p:nvSpPr>
          <p:cNvPr id="4" name="TextBox 3"/>
          <p:cNvSpPr txBox="1"/>
          <p:nvPr/>
        </p:nvSpPr>
        <p:spPr>
          <a:xfrm>
            <a:off x="822960" y="1920240"/>
            <a:ext cx="6949440" cy="548640"/>
          </a:xfrm>
          <a:prstGeom prst="rect">
            <a:avLst/>
          </a:prstGeom>
          <a:noFill/>
        </p:spPr>
        <p:txBody>
          <a:bodyPr wrap="square" lIns="0" tIns="0" rIns="0" bIns="0" anchor="t">
            <a:spAutoFit/>
          </a:bodyPr>
          <a:lstStyle/>
          <a:p>
            <a:pPr algn="l">
              <a:lnSpc>
                <a:spcPct val="120000"/>
              </a:lnSpc>
            </a:pPr>
            <a:r>
              <a:rPr sz="1600" b="0" dirty="0">
                <a:solidFill>
                  <a:srgbClr val="1F4E5F"/>
                </a:solidFill>
                <a:latin typeface="Georgia"/>
              </a:rPr>
              <a:t>R  =  time of the plan chosen  /  time of the fastest plan available</a:t>
            </a:r>
          </a:p>
        </p:txBody>
      </p:sp>
      <p:sp>
        <p:nvSpPr>
          <p:cNvPr id="5" name="Rectangle 4"/>
          <p:cNvSpPr/>
          <p:nvPr/>
        </p:nvSpPr>
        <p:spPr>
          <a:xfrm>
            <a:off x="822960" y="2606040"/>
            <a:ext cx="6949440" cy="9525"/>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2880360"/>
            <a:ext cx="6949440" cy="2377440"/>
          </a:xfrm>
          <a:prstGeom prst="rect">
            <a:avLst/>
          </a:prstGeom>
          <a:noFill/>
        </p:spPr>
        <p:txBody>
          <a:bodyPr wrap="square" lIns="0" tIns="0" rIns="0" bIns="0" anchor="t">
            <a:spAutoFit/>
          </a:bodyPr>
          <a:lstStyle/>
          <a:p>
            <a:pPr algn="l">
              <a:lnSpc>
                <a:spcPct val="138000"/>
              </a:lnSpc>
            </a:pPr>
            <a:r>
              <a:rPr sz="1400" b="1" dirty="0">
                <a:solidFill>
                  <a:srgbClr val="1A1D21"/>
                </a:solidFill>
                <a:latin typeface="Segoe UI"/>
              </a:rPr>
              <a:t>Access-path regret</a:t>
            </a:r>
            <a:r>
              <a:rPr sz="1500" b="0" dirty="0">
                <a:solidFill>
                  <a:srgbClr val="1A1D21"/>
                </a:solidFill>
                <a:latin typeface="Segoe UI"/>
              </a:rPr>
              <a:t>  measures the decision. The comparison is against plans the engine really had, forced one at a time, so a slow engine is not </a:t>
            </a:r>
            <a:r>
              <a:rPr sz="1500" b="0" dirty="0" err="1">
                <a:solidFill>
                  <a:srgbClr val="1A1D21"/>
                </a:solidFill>
                <a:latin typeface="Segoe UI"/>
              </a:rPr>
              <a:t>penalised</a:t>
            </a:r>
            <a:r>
              <a:rPr sz="1500" b="0" dirty="0">
                <a:solidFill>
                  <a:srgbClr val="1A1D21"/>
                </a:solidFill>
                <a:latin typeface="Segoe UI"/>
              </a:rPr>
              <a:t> for being slow.</a:t>
            </a:r>
          </a:p>
          <a:p>
            <a:pPr algn="l">
              <a:lnSpc>
                <a:spcPct val="138000"/>
              </a:lnSpc>
            </a:pPr>
            <a:endParaRPr sz="1500" b="0" dirty="0">
              <a:solidFill>
                <a:srgbClr val="1A1D21"/>
              </a:solidFill>
              <a:latin typeface="Segoe UI"/>
            </a:endParaRPr>
          </a:p>
          <a:p>
            <a:pPr algn="l">
              <a:lnSpc>
                <a:spcPct val="138000"/>
              </a:lnSpc>
            </a:pPr>
            <a:r>
              <a:rPr sz="1400" b="1" dirty="0">
                <a:solidFill>
                  <a:srgbClr val="1A1D21"/>
                </a:solidFill>
                <a:latin typeface="Segoe UI"/>
              </a:rPr>
              <a:t>q-error</a:t>
            </a:r>
            <a:r>
              <a:rPr sz="1500" b="0" dirty="0">
                <a:solidFill>
                  <a:srgbClr val="1A1D21"/>
                </a:solidFill>
                <a:latin typeface="Segoe UI"/>
              </a:rPr>
              <a:t>  measures the estimate: the factor by which the predicted row count misses the truth. Reported separately throughout, because the paper's main negative result is that the two come apart.</a:t>
            </a:r>
          </a:p>
        </p:txBody>
      </p:sp>
      <p:sp>
        <p:nvSpPr>
          <p:cNvPr id="7" name="TextBox 6"/>
          <p:cNvSpPr txBox="1"/>
          <p:nvPr/>
        </p:nvSpPr>
        <p:spPr>
          <a:xfrm>
            <a:off x="8321040" y="2103120"/>
            <a:ext cx="3017520" cy="1280160"/>
          </a:xfrm>
          <a:prstGeom prst="rect">
            <a:avLst/>
          </a:prstGeom>
          <a:noFill/>
        </p:spPr>
        <p:txBody>
          <a:bodyPr wrap="square" lIns="0" tIns="0" rIns="0" bIns="0" anchor="t">
            <a:spAutoFit/>
          </a:bodyPr>
          <a:lstStyle/>
          <a:p>
            <a:pPr algn="l">
              <a:lnSpc>
                <a:spcPct val="95000"/>
              </a:lnSpc>
            </a:pPr>
            <a:r>
              <a:rPr sz="6000" b="0">
                <a:solidFill>
                  <a:srgbClr val="1F4E5F"/>
                </a:solidFill>
                <a:latin typeface="Georgia"/>
              </a:rPr>
              <a:t>1.0</a:t>
            </a:r>
          </a:p>
        </p:txBody>
      </p:sp>
      <p:sp>
        <p:nvSpPr>
          <p:cNvPr id="8" name="TextBox 7"/>
          <p:cNvSpPr txBox="1"/>
          <p:nvPr/>
        </p:nvSpPr>
        <p:spPr>
          <a:xfrm>
            <a:off x="8321040" y="2999232"/>
            <a:ext cx="3017520" cy="731520"/>
          </a:xfrm>
          <a:prstGeom prst="rect">
            <a:avLst/>
          </a:prstGeom>
          <a:noFill/>
        </p:spPr>
        <p:txBody>
          <a:bodyPr wrap="square" lIns="0" tIns="0" rIns="0" bIns="0" anchor="t">
            <a:spAutoFit/>
          </a:bodyPr>
          <a:lstStyle/>
          <a:p>
            <a:pPr algn="l">
              <a:lnSpc>
                <a:spcPct val="125000"/>
              </a:lnSpc>
            </a:pPr>
            <a:r>
              <a:rPr sz="1250" b="0" dirty="0">
                <a:solidFill>
                  <a:srgbClr val="70757A"/>
                </a:solidFill>
                <a:latin typeface="Segoe UI"/>
              </a:rPr>
              <a:t>the engine made the best
choice available to it</a:t>
            </a:r>
          </a:p>
        </p:txBody>
      </p:sp>
      <p:sp>
        <p:nvSpPr>
          <p:cNvPr id="9" name="TextBox 8"/>
          <p:cNvSpPr txBox="1"/>
          <p:nvPr/>
        </p:nvSpPr>
        <p:spPr>
          <a:xfrm>
            <a:off x="8321040" y="4114800"/>
            <a:ext cx="3017520" cy="1280160"/>
          </a:xfrm>
          <a:prstGeom prst="rect">
            <a:avLst/>
          </a:prstGeom>
          <a:noFill/>
        </p:spPr>
        <p:txBody>
          <a:bodyPr wrap="square" lIns="0" tIns="0" rIns="0" bIns="0" anchor="t">
            <a:spAutoFit/>
          </a:bodyPr>
          <a:lstStyle/>
          <a:p>
            <a:pPr algn="l">
              <a:lnSpc>
                <a:spcPct val="95000"/>
              </a:lnSpc>
            </a:pPr>
            <a:r>
              <a:rPr sz="5200" b="0">
                <a:solidFill>
                  <a:srgbClr val="1A1D21"/>
                </a:solidFill>
                <a:latin typeface="Georgia"/>
              </a:rPr>
              <a:t>23,480</a:t>
            </a:r>
          </a:p>
        </p:txBody>
      </p:sp>
      <p:sp>
        <p:nvSpPr>
          <p:cNvPr id="10" name="TextBox 9"/>
          <p:cNvSpPr txBox="1"/>
          <p:nvPr/>
        </p:nvSpPr>
        <p:spPr>
          <a:xfrm>
            <a:off x="8321040" y="4907280"/>
            <a:ext cx="3017520" cy="731520"/>
          </a:xfrm>
          <a:prstGeom prst="rect">
            <a:avLst/>
          </a:prstGeom>
          <a:noFill/>
        </p:spPr>
        <p:txBody>
          <a:bodyPr wrap="square" lIns="0" tIns="0" rIns="0" bIns="0" anchor="t">
            <a:spAutoFit/>
          </a:bodyPr>
          <a:lstStyle/>
          <a:p>
            <a:pPr algn="l">
              <a:lnSpc>
                <a:spcPct val="125000"/>
              </a:lnSpc>
            </a:pPr>
            <a:r>
              <a:rPr sz="1250" b="0" dirty="0">
                <a:solidFill>
                  <a:srgbClr val="70757A"/>
                </a:solidFill>
                <a:latin typeface="Segoe UI"/>
              </a:rPr>
              <a:t>measurements across
both engines</a:t>
            </a:r>
          </a:p>
        </p:txBody>
      </p:sp>
      <p:sp>
        <p:nvSpPr>
          <p:cNvPr id="11" name="TextBox 10"/>
          <p:cNvSpPr txBox="1"/>
          <p:nvPr/>
        </p:nvSpPr>
        <p:spPr>
          <a:xfrm>
            <a:off x="10728655" y="6327648"/>
            <a:ext cx="640080" cy="274320"/>
          </a:xfrm>
          <a:prstGeom prst="rect">
            <a:avLst/>
          </a:prstGeom>
          <a:noFill/>
        </p:spPr>
        <p:txBody>
          <a:bodyPr wrap="square" lIns="0" tIns="0" rIns="0" bIns="0" anchor="t">
            <a:spAutoFit/>
          </a:bodyPr>
          <a:lstStyle/>
          <a:p>
            <a:pPr algn="r">
              <a:lnSpc>
                <a:spcPct val="100000"/>
              </a:lnSpc>
            </a:pPr>
            <a:r>
              <a:rPr sz="1000" b="0">
                <a:solidFill>
                  <a:srgbClr val="A8ACB0"/>
                </a:solidFill>
                <a:latin typeface="Segoe UI"/>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22960" y="566928"/>
            <a:ext cx="10545775" cy="274320"/>
          </a:xfrm>
          <a:prstGeom prst="rect">
            <a:avLst/>
          </a:prstGeom>
          <a:noFill/>
        </p:spPr>
        <p:txBody>
          <a:bodyPr wrap="square" lIns="0" tIns="0" rIns="0" bIns="0" anchor="t">
            <a:spAutoFit/>
          </a:bodyPr>
          <a:lstStyle/>
          <a:p>
            <a:pPr algn="l">
              <a:lnSpc>
                <a:spcPct val="100000"/>
              </a:lnSpc>
            </a:pPr>
            <a:r>
              <a:rPr sz="1050" b="1">
                <a:solidFill>
                  <a:srgbClr val="A8322A"/>
                </a:solidFill>
                <a:latin typeface="Segoe UI"/>
              </a:rPr>
              <a:t>EXPERIMENTAL DESIGN</a:t>
            </a:r>
          </a:p>
        </p:txBody>
      </p:sp>
      <p:sp>
        <p:nvSpPr>
          <p:cNvPr id="3" name="TextBox 2"/>
          <p:cNvSpPr txBox="1"/>
          <p:nvPr/>
        </p:nvSpPr>
        <p:spPr>
          <a:xfrm>
            <a:off x="822960" y="914400"/>
            <a:ext cx="10545775" cy="1005840"/>
          </a:xfrm>
          <a:prstGeom prst="rect">
            <a:avLst/>
          </a:prstGeom>
          <a:noFill/>
        </p:spPr>
        <p:txBody>
          <a:bodyPr wrap="square" lIns="0" tIns="0" rIns="0" bIns="0" anchor="t">
            <a:spAutoFit/>
          </a:bodyPr>
          <a:lstStyle/>
          <a:p>
            <a:pPr algn="l">
              <a:lnSpc>
                <a:spcPct val="112000"/>
              </a:lnSpc>
            </a:pPr>
            <a:r>
              <a:rPr sz="2900" b="0" dirty="0">
                <a:solidFill>
                  <a:srgbClr val="1A1D21"/>
                </a:solidFill>
                <a:latin typeface="Georgia"/>
              </a:rPr>
              <a:t>Symmetric, controlled, and seeded</a:t>
            </a:r>
          </a:p>
        </p:txBody>
      </p:sp>
      <p:sp>
        <p:nvSpPr>
          <p:cNvPr id="5" name="TextBox 4"/>
          <p:cNvSpPr txBox="1"/>
          <p:nvPr/>
        </p:nvSpPr>
        <p:spPr>
          <a:xfrm>
            <a:off x="6400800" y="1828800"/>
            <a:ext cx="2286000" cy="301752"/>
          </a:xfrm>
          <a:prstGeom prst="rect">
            <a:avLst/>
          </a:prstGeom>
          <a:noFill/>
        </p:spPr>
        <p:txBody>
          <a:bodyPr wrap="square" lIns="0" tIns="0" rIns="0" bIns="0" anchor="b">
            <a:spAutoFit/>
          </a:bodyPr>
          <a:lstStyle/>
          <a:p>
            <a:pPr algn="l">
              <a:lnSpc>
                <a:spcPct val="110000"/>
              </a:lnSpc>
            </a:pPr>
            <a:r>
              <a:rPr sz="1100" b="1" dirty="0">
                <a:solidFill>
                  <a:srgbClr val="70757A"/>
                </a:solidFill>
                <a:latin typeface="Segoe UI"/>
              </a:rPr>
              <a:t>Table size</a:t>
            </a:r>
          </a:p>
        </p:txBody>
      </p:sp>
      <p:sp>
        <p:nvSpPr>
          <p:cNvPr id="6" name="TextBox 5"/>
          <p:cNvSpPr txBox="1"/>
          <p:nvPr/>
        </p:nvSpPr>
        <p:spPr>
          <a:xfrm>
            <a:off x="8869680" y="1828800"/>
            <a:ext cx="1188720" cy="301752"/>
          </a:xfrm>
          <a:prstGeom prst="rect">
            <a:avLst/>
          </a:prstGeom>
          <a:noFill/>
        </p:spPr>
        <p:txBody>
          <a:bodyPr wrap="square" lIns="0" tIns="0" rIns="0" bIns="0" anchor="b">
            <a:spAutoFit/>
          </a:bodyPr>
          <a:lstStyle/>
          <a:p>
            <a:pPr algn="r">
              <a:lnSpc>
                <a:spcPct val="110000"/>
              </a:lnSpc>
            </a:pPr>
            <a:r>
              <a:rPr sz="1100" b="1">
                <a:solidFill>
                  <a:srgbClr val="70757A"/>
                </a:solidFill>
                <a:latin typeface="Segoe UI"/>
              </a:rPr>
              <a:t>PostgreSQL</a:t>
            </a:r>
          </a:p>
        </p:txBody>
      </p:sp>
      <p:sp>
        <p:nvSpPr>
          <p:cNvPr id="7" name="TextBox 6"/>
          <p:cNvSpPr txBox="1"/>
          <p:nvPr/>
        </p:nvSpPr>
        <p:spPr>
          <a:xfrm>
            <a:off x="10241280" y="1828800"/>
            <a:ext cx="1097280" cy="301752"/>
          </a:xfrm>
          <a:prstGeom prst="rect">
            <a:avLst/>
          </a:prstGeom>
          <a:noFill/>
        </p:spPr>
        <p:txBody>
          <a:bodyPr wrap="square" lIns="0" tIns="0" rIns="0" bIns="0" anchor="b">
            <a:spAutoFit/>
          </a:bodyPr>
          <a:lstStyle/>
          <a:p>
            <a:pPr algn="r">
              <a:lnSpc>
                <a:spcPct val="110000"/>
              </a:lnSpc>
            </a:pPr>
            <a:r>
              <a:rPr sz="1100" b="1">
                <a:solidFill>
                  <a:srgbClr val="70757A"/>
                </a:solidFill>
                <a:latin typeface="Segoe UI"/>
              </a:rPr>
              <a:t>MariaDB</a:t>
            </a:r>
          </a:p>
        </p:txBody>
      </p:sp>
      <p:sp>
        <p:nvSpPr>
          <p:cNvPr id="8" name="Rectangle 7"/>
          <p:cNvSpPr/>
          <p:nvPr/>
        </p:nvSpPr>
        <p:spPr>
          <a:xfrm>
            <a:off x="6309360" y="2130552"/>
            <a:ext cx="512064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2276856"/>
            <a:ext cx="2286000" cy="200055"/>
          </a:xfrm>
          <a:prstGeom prst="rect">
            <a:avLst/>
          </a:prstGeom>
          <a:noFill/>
        </p:spPr>
        <p:txBody>
          <a:bodyPr wrap="square" lIns="0" tIns="0" rIns="0" bIns="0" anchor="t">
            <a:spAutoFit/>
          </a:bodyPr>
          <a:lstStyle/>
          <a:p>
            <a:pPr algn="l">
              <a:lnSpc>
                <a:spcPct val="100000"/>
              </a:lnSpc>
            </a:pPr>
            <a:r>
              <a:rPr lang="en-US" sz="1300" b="0" dirty="0">
                <a:solidFill>
                  <a:srgbClr val="1A1D21"/>
                </a:solidFill>
                <a:latin typeface="Segoe UI"/>
              </a:rPr>
              <a:t>1M</a:t>
            </a:r>
            <a:endParaRPr sz="1300" b="0" dirty="0">
              <a:solidFill>
                <a:srgbClr val="1A1D21"/>
              </a:solidFill>
              <a:latin typeface="Segoe UI"/>
            </a:endParaRPr>
          </a:p>
        </p:txBody>
      </p:sp>
      <p:sp>
        <p:nvSpPr>
          <p:cNvPr id="10" name="TextBox 9"/>
          <p:cNvSpPr txBox="1"/>
          <p:nvPr/>
        </p:nvSpPr>
        <p:spPr>
          <a:xfrm>
            <a:off x="8869680" y="2276856"/>
            <a:ext cx="1188720" cy="310896"/>
          </a:xfrm>
          <a:prstGeom prst="rect">
            <a:avLst/>
          </a:prstGeom>
          <a:noFill/>
        </p:spPr>
        <p:txBody>
          <a:bodyPr wrap="square" lIns="0" tIns="0" rIns="0" bIns="0" anchor="t">
            <a:spAutoFit/>
          </a:bodyPr>
          <a:lstStyle/>
          <a:p>
            <a:pPr algn="r">
              <a:lnSpc>
                <a:spcPct val="100000"/>
              </a:lnSpc>
            </a:pPr>
            <a:r>
              <a:rPr sz="1300" b="0" dirty="0">
                <a:solidFill>
                  <a:srgbClr val="1A1D21"/>
                </a:solidFill>
                <a:latin typeface="Segoe UI"/>
              </a:rPr>
              <a:t>2,398</a:t>
            </a:r>
          </a:p>
        </p:txBody>
      </p:sp>
      <p:sp>
        <p:nvSpPr>
          <p:cNvPr id="11" name="TextBox 10"/>
          <p:cNvSpPr txBox="1"/>
          <p:nvPr/>
        </p:nvSpPr>
        <p:spPr>
          <a:xfrm>
            <a:off x="10241280" y="2276856"/>
            <a:ext cx="1097280" cy="310896"/>
          </a:xfrm>
          <a:prstGeom prst="rect">
            <a:avLst/>
          </a:prstGeom>
          <a:noFill/>
        </p:spPr>
        <p:txBody>
          <a:bodyPr wrap="square" lIns="0" tIns="0" rIns="0" bIns="0" anchor="t">
            <a:spAutoFit/>
          </a:bodyPr>
          <a:lstStyle/>
          <a:p>
            <a:pPr algn="r">
              <a:lnSpc>
                <a:spcPct val="100000"/>
              </a:lnSpc>
            </a:pPr>
            <a:r>
              <a:rPr sz="1300" b="0">
                <a:solidFill>
                  <a:srgbClr val="1A1D21"/>
                </a:solidFill>
                <a:latin typeface="Segoe UI"/>
              </a:rPr>
              <a:t>1,232</a:t>
            </a:r>
          </a:p>
        </p:txBody>
      </p:sp>
      <p:sp>
        <p:nvSpPr>
          <p:cNvPr id="12" name="Rectangle 11"/>
          <p:cNvSpPr/>
          <p:nvPr/>
        </p:nvSpPr>
        <p:spPr>
          <a:xfrm>
            <a:off x="6309360" y="2546604"/>
            <a:ext cx="512064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0" y="2638044"/>
            <a:ext cx="2286000" cy="200055"/>
          </a:xfrm>
          <a:prstGeom prst="rect">
            <a:avLst/>
          </a:prstGeom>
          <a:noFill/>
        </p:spPr>
        <p:txBody>
          <a:bodyPr wrap="square" lIns="0" tIns="0" rIns="0" bIns="0" anchor="t">
            <a:spAutoFit/>
          </a:bodyPr>
          <a:lstStyle/>
          <a:p>
            <a:pPr algn="l">
              <a:lnSpc>
                <a:spcPct val="100000"/>
              </a:lnSpc>
            </a:pPr>
            <a:r>
              <a:rPr lang="en-US" sz="1300" b="0" dirty="0">
                <a:solidFill>
                  <a:srgbClr val="1A1D21"/>
                </a:solidFill>
                <a:latin typeface="Segoe UI"/>
              </a:rPr>
              <a:t>1.25M</a:t>
            </a:r>
            <a:endParaRPr sz="1300" b="0" dirty="0">
              <a:solidFill>
                <a:srgbClr val="1A1D21"/>
              </a:solidFill>
              <a:latin typeface="Segoe UI"/>
            </a:endParaRPr>
          </a:p>
        </p:txBody>
      </p:sp>
      <p:sp>
        <p:nvSpPr>
          <p:cNvPr id="14" name="TextBox 13"/>
          <p:cNvSpPr txBox="1"/>
          <p:nvPr/>
        </p:nvSpPr>
        <p:spPr>
          <a:xfrm>
            <a:off x="8869680" y="2638044"/>
            <a:ext cx="1188720" cy="310896"/>
          </a:xfrm>
          <a:prstGeom prst="rect">
            <a:avLst/>
          </a:prstGeom>
          <a:noFill/>
        </p:spPr>
        <p:txBody>
          <a:bodyPr wrap="square" lIns="0" tIns="0" rIns="0" bIns="0" anchor="t">
            <a:spAutoFit/>
          </a:bodyPr>
          <a:lstStyle/>
          <a:p>
            <a:pPr algn="r">
              <a:lnSpc>
                <a:spcPct val="100000"/>
              </a:lnSpc>
            </a:pPr>
            <a:r>
              <a:rPr sz="1300" b="0">
                <a:solidFill>
                  <a:srgbClr val="1A1D21"/>
                </a:solidFill>
                <a:latin typeface="Segoe UI"/>
              </a:rPr>
              <a:t>654</a:t>
            </a:r>
          </a:p>
        </p:txBody>
      </p:sp>
      <p:sp>
        <p:nvSpPr>
          <p:cNvPr id="15" name="TextBox 14"/>
          <p:cNvSpPr txBox="1"/>
          <p:nvPr/>
        </p:nvSpPr>
        <p:spPr>
          <a:xfrm>
            <a:off x="10241280" y="2638044"/>
            <a:ext cx="1097280" cy="310896"/>
          </a:xfrm>
          <a:prstGeom prst="rect">
            <a:avLst/>
          </a:prstGeom>
          <a:noFill/>
        </p:spPr>
        <p:txBody>
          <a:bodyPr wrap="square" lIns="0" tIns="0" rIns="0" bIns="0" anchor="t">
            <a:spAutoFit/>
          </a:bodyPr>
          <a:lstStyle/>
          <a:p>
            <a:pPr algn="r">
              <a:lnSpc>
                <a:spcPct val="100000"/>
              </a:lnSpc>
            </a:pPr>
            <a:r>
              <a:rPr sz="1300" b="0">
                <a:solidFill>
                  <a:srgbClr val="1A1D21"/>
                </a:solidFill>
                <a:latin typeface="Segoe UI"/>
              </a:rPr>
              <a:t>336</a:t>
            </a:r>
          </a:p>
        </p:txBody>
      </p:sp>
      <p:sp>
        <p:nvSpPr>
          <p:cNvPr id="16" name="Rectangle 15"/>
          <p:cNvSpPr/>
          <p:nvPr/>
        </p:nvSpPr>
        <p:spPr>
          <a:xfrm>
            <a:off x="6309360" y="2907792"/>
            <a:ext cx="512064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0" y="2999232"/>
            <a:ext cx="2286000" cy="200055"/>
          </a:xfrm>
          <a:prstGeom prst="rect">
            <a:avLst/>
          </a:prstGeom>
          <a:noFill/>
        </p:spPr>
        <p:txBody>
          <a:bodyPr wrap="square" lIns="0" tIns="0" rIns="0" bIns="0" anchor="t">
            <a:spAutoFit/>
          </a:bodyPr>
          <a:lstStyle/>
          <a:p>
            <a:pPr algn="l">
              <a:lnSpc>
                <a:spcPct val="100000"/>
              </a:lnSpc>
            </a:pPr>
            <a:r>
              <a:rPr lang="en-US" sz="1300" b="0" dirty="0">
                <a:solidFill>
                  <a:srgbClr val="1A1D21"/>
                </a:solidFill>
                <a:latin typeface="Segoe UI"/>
              </a:rPr>
              <a:t>1.5M</a:t>
            </a:r>
            <a:endParaRPr sz="1300" b="0" dirty="0">
              <a:solidFill>
                <a:srgbClr val="1A1D21"/>
              </a:solidFill>
              <a:latin typeface="Segoe UI"/>
            </a:endParaRPr>
          </a:p>
        </p:txBody>
      </p:sp>
      <p:sp>
        <p:nvSpPr>
          <p:cNvPr id="18" name="TextBox 17"/>
          <p:cNvSpPr txBox="1"/>
          <p:nvPr/>
        </p:nvSpPr>
        <p:spPr>
          <a:xfrm>
            <a:off x="8869680" y="2999232"/>
            <a:ext cx="1188720" cy="310896"/>
          </a:xfrm>
          <a:prstGeom prst="rect">
            <a:avLst/>
          </a:prstGeom>
          <a:noFill/>
        </p:spPr>
        <p:txBody>
          <a:bodyPr wrap="square" lIns="0" tIns="0" rIns="0" bIns="0" anchor="t">
            <a:spAutoFit/>
          </a:bodyPr>
          <a:lstStyle/>
          <a:p>
            <a:pPr algn="r">
              <a:lnSpc>
                <a:spcPct val="100000"/>
              </a:lnSpc>
            </a:pPr>
            <a:r>
              <a:rPr sz="1300" b="0">
                <a:solidFill>
                  <a:srgbClr val="1A1D21"/>
                </a:solidFill>
                <a:latin typeface="Segoe UI"/>
              </a:rPr>
              <a:t>654</a:t>
            </a:r>
          </a:p>
        </p:txBody>
      </p:sp>
      <p:sp>
        <p:nvSpPr>
          <p:cNvPr id="19" name="TextBox 18"/>
          <p:cNvSpPr txBox="1"/>
          <p:nvPr/>
        </p:nvSpPr>
        <p:spPr>
          <a:xfrm>
            <a:off x="10241280" y="2999232"/>
            <a:ext cx="1097280" cy="310896"/>
          </a:xfrm>
          <a:prstGeom prst="rect">
            <a:avLst/>
          </a:prstGeom>
          <a:noFill/>
        </p:spPr>
        <p:txBody>
          <a:bodyPr wrap="square" lIns="0" tIns="0" rIns="0" bIns="0" anchor="t">
            <a:spAutoFit/>
          </a:bodyPr>
          <a:lstStyle/>
          <a:p>
            <a:pPr algn="r">
              <a:lnSpc>
                <a:spcPct val="100000"/>
              </a:lnSpc>
            </a:pPr>
            <a:r>
              <a:rPr sz="1300" b="0">
                <a:solidFill>
                  <a:srgbClr val="1A1D21"/>
                </a:solidFill>
                <a:latin typeface="Segoe UI"/>
              </a:rPr>
              <a:t>336</a:t>
            </a:r>
          </a:p>
        </p:txBody>
      </p:sp>
      <p:sp>
        <p:nvSpPr>
          <p:cNvPr id="20" name="Rectangle 19"/>
          <p:cNvSpPr/>
          <p:nvPr/>
        </p:nvSpPr>
        <p:spPr>
          <a:xfrm>
            <a:off x="6309360" y="3268980"/>
            <a:ext cx="512064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00800" y="3360420"/>
            <a:ext cx="2286000" cy="200055"/>
          </a:xfrm>
          <a:prstGeom prst="rect">
            <a:avLst/>
          </a:prstGeom>
          <a:noFill/>
        </p:spPr>
        <p:txBody>
          <a:bodyPr wrap="square" lIns="0" tIns="0" rIns="0" bIns="0" anchor="t">
            <a:spAutoFit/>
          </a:bodyPr>
          <a:lstStyle/>
          <a:p>
            <a:pPr algn="l">
              <a:lnSpc>
                <a:spcPct val="100000"/>
              </a:lnSpc>
            </a:pPr>
            <a:r>
              <a:rPr lang="en-US" sz="1300" b="0" dirty="0">
                <a:solidFill>
                  <a:srgbClr val="1A1D21"/>
                </a:solidFill>
                <a:latin typeface="Segoe UI"/>
              </a:rPr>
              <a:t>2M</a:t>
            </a:r>
            <a:endParaRPr sz="1300" b="0" dirty="0">
              <a:solidFill>
                <a:srgbClr val="1A1D21"/>
              </a:solidFill>
              <a:latin typeface="Segoe UI"/>
            </a:endParaRPr>
          </a:p>
        </p:txBody>
      </p:sp>
      <p:sp>
        <p:nvSpPr>
          <p:cNvPr id="22" name="TextBox 21"/>
          <p:cNvSpPr txBox="1"/>
          <p:nvPr/>
        </p:nvSpPr>
        <p:spPr>
          <a:xfrm>
            <a:off x="8869680" y="3360420"/>
            <a:ext cx="1188720" cy="310896"/>
          </a:xfrm>
          <a:prstGeom prst="rect">
            <a:avLst/>
          </a:prstGeom>
          <a:noFill/>
        </p:spPr>
        <p:txBody>
          <a:bodyPr wrap="square" lIns="0" tIns="0" rIns="0" bIns="0" anchor="t">
            <a:spAutoFit/>
          </a:bodyPr>
          <a:lstStyle/>
          <a:p>
            <a:pPr algn="r">
              <a:lnSpc>
                <a:spcPct val="100000"/>
              </a:lnSpc>
            </a:pPr>
            <a:r>
              <a:rPr sz="1300" b="0">
                <a:solidFill>
                  <a:srgbClr val="1A1D21"/>
                </a:solidFill>
                <a:latin typeface="Segoe UI"/>
              </a:rPr>
              <a:t>654</a:t>
            </a:r>
          </a:p>
        </p:txBody>
      </p:sp>
      <p:sp>
        <p:nvSpPr>
          <p:cNvPr id="23" name="TextBox 22"/>
          <p:cNvSpPr txBox="1"/>
          <p:nvPr/>
        </p:nvSpPr>
        <p:spPr>
          <a:xfrm>
            <a:off x="10241280" y="3360420"/>
            <a:ext cx="1097280" cy="310896"/>
          </a:xfrm>
          <a:prstGeom prst="rect">
            <a:avLst/>
          </a:prstGeom>
          <a:noFill/>
        </p:spPr>
        <p:txBody>
          <a:bodyPr wrap="square" lIns="0" tIns="0" rIns="0" bIns="0" anchor="t">
            <a:spAutoFit/>
          </a:bodyPr>
          <a:lstStyle/>
          <a:p>
            <a:pPr algn="r">
              <a:lnSpc>
                <a:spcPct val="100000"/>
              </a:lnSpc>
            </a:pPr>
            <a:r>
              <a:rPr sz="1300" b="0">
                <a:solidFill>
                  <a:srgbClr val="1A1D21"/>
                </a:solidFill>
                <a:latin typeface="Segoe UI"/>
              </a:rPr>
              <a:t>336</a:t>
            </a:r>
          </a:p>
        </p:txBody>
      </p:sp>
      <p:sp>
        <p:nvSpPr>
          <p:cNvPr id="24" name="Rectangle 23"/>
          <p:cNvSpPr/>
          <p:nvPr/>
        </p:nvSpPr>
        <p:spPr>
          <a:xfrm>
            <a:off x="6309360" y="3630168"/>
            <a:ext cx="512064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00800" y="3721608"/>
            <a:ext cx="2286000" cy="200055"/>
          </a:xfrm>
          <a:prstGeom prst="rect">
            <a:avLst/>
          </a:prstGeom>
          <a:noFill/>
        </p:spPr>
        <p:txBody>
          <a:bodyPr wrap="square" lIns="0" tIns="0" rIns="0" bIns="0" anchor="t">
            <a:spAutoFit/>
          </a:bodyPr>
          <a:lstStyle/>
          <a:p>
            <a:pPr algn="l">
              <a:lnSpc>
                <a:spcPct val="100000"/>
              </a:lnSpc>
            </a:pPr>
            <a:r>
              <a:rPr lang="en-US" sz="1300" b="0" dirty="0">
                <a:solidFill>
                  <a:srgbClr val="1A1D21"/>
                </a:solidFill>
                <a:latin typeface="Segoe UI"/>
              </a:rPr>
              <a:t>3M</a:t>
            </a:r>
            <a:endParaRPr sz="1300" b="0" dirty="0">
              <a:solidFill>
                <a:srgbClr val="1A1D21"/>
              </a:solidFill>
              <a:latin typeface="Segoe UI"/>
            </a:endParaRPr>
          </a:p>
        </p:txBody>
      </p:sp>
      <p:sp>
        <p:nvSpPr>
          <p:cNvPr id="26" name="TextBox 25"/>
          <p:cNvSpPr txBox="1"/>
          <p:nvPr/>
        </p:nvSpPr>
        <p:spPr>
          <a:xfrm>
            <a:off x="8869680" y="3721608"/>
            <a:ext cx="1188720" cy="310896"/>
          </a:xfrm>
          <a:prstGeom prst="rect">
            <a:avLst/>
          </a:prstGeom>
          <a:noFill/>
        </p:spPr>
        <p:txBody>
          <a:bodyPr wrap="square" lIns="0" tIns="0" rIns="0" bIns="0" anchor="t">
            <a:spAutoFit/>
          </a:bodyPr>
          <a:lstStyle/>
          <a:p>
            <a:pPr algn="r">
              <a:lnSpc>
                <a:spcPct val="100000"/>
              </a:lnSpc>
            </a:pPr>
            <a:r>
              <a:rPr sz="1300" b="0">
                <a:solidFill>
                  <a:srgbClr val="1A1D21"/>
                </a:solidFill>
                <a:latin typeface="Segoe UI"/>
              </a:rPr>
              <a:t>654</a:t>
            </a:r>
          </a:p>
        </p:txBody>
      </p:sp>
      <p:sp>
        <p:nvSpPr>
          <p:cNvPr id="27" name="TextBox 26"/>
          <p:cNvSpPr txBox="1"/>
          <p:nvPr/>
        </p:nvSpPr>
        <p:spPr>
          <a:xfrm>
            <a:off x="10241280" y="3721608"/>
            <a:ext cx="1097280" cy="310896"/>
          </a:xfrm>
          <a:prstGeom prst="rect">
            <a:avLst/>
          </a:prstGeom>
          <a:noFill/>
        </p:spPr>
        <p:txBody>
          <a:bodyPr wrap="square" lIns="0" tIns="0" rIns="0" bIns="0" anchor="t">
            <a:spAutoFit/>
          </a:bodyPr>
          <a:lstStyle/>
          <a:p>
            <a:pPr algn="r">
              <a:lnSpc>
                <a:spcPct val="100000"/>
              </a:lnSpc>
            </a:pPr>
            <a:r>
              <a:rPr sz="1300" b="0">
                <a:solidFill>
                  <a:srgbClr val="1A1D21"/>
                </a:solidFill>
                <a:latin typeface="Segoe UI"/>
              </a:rPr>
              <a:t>336</a:t>
            </a:r>
          </a:p>
        </p:txBody>
      </p:sp>
      <p:sp>
        <p:nvSpPr>
          <p:cNvPr id="28" name="Rectangle 27"/>
          <p:cNvSpPr/>
          <p:nvPr/>
        </p:nvSpPr>
        <p:spPr>
          <a:xfrm>
            <a:off x="6309360" y="3991356"/>
            <a:ext cx="512064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00800" y="4082796"/>
            <a:ext cx="2286000" cy="200055"/>
          </a:xfrm>
          <a:prstGeom prst="rect">
            <a:avLst/>
          </a:prstGeom>
          <a:noFill/>
        </p:spPr>
        <p:txBody>
          <a:bodyPr wrap="square" lIns="0" tIns="0" rIns="0" bIns="0" anchor="t">
            <a:spAutoFit/>
          </a:bodyPr>
          <a:lstStyle/>
          <a:p>
            <a:pPr algn="l">
              <a:lnSpc>
                <a:spcPct val="100000"/>
              </a:lnSpc>
            </a:pPr>
            <a:r>
              <a:rPr lang="en-US" sz="1300" b="0" dirty="0">
                <a:solidFill>
                  <a:srgbClr val="1A1D21"/>
                </a:solidFill>
                <a:latin typeface="Segoe UI"/>
              </a:rPr>
              <a:t>5M</a:t>
            </a:r>
            <a:endParaRPr sz="1300" b="0" dirty="0">
              <a:solidFill>
                <a:srgbClr val="1A1D21"/>
              </a:solidFill>
              <a:latin typeface="Segoe UI"/>
            </a:endParaRPr>
          </a:p>
        </p:txBody>
      </p:sp>
      <p:sp>
        <p:nvSpPr>
          <p:cNvPr id="30" name="TextBox 29"/>
          <p:cNvSpPr txBox="1"/>
          <p:nvPr/>
        </p:nvSpPr>
        <p:spPr>
          <a:xfrm>
            <a:off x="8869680" y="4082796"/>
            <a:ext cx="1188720" cy="310896"/>
          </a:xfrm>
          <a:prstGeom prst="rect">
            <a:avLst/>
          </a:prstGeom>
          <a:noFill/>
        </p:spPr>
        <p:txBody>
          <a:bodyPr wrap="square" lIns="0" tIns="0" rIns="0" bIns="0" anchor="t">
            <a:spAutoFit/>
          </a:bodyPr>
          <a:lstStyle/>
          <a:p>
            <a:pPr algn="r">
              <a:lnSpc>
                <a:spcPct val="100000"/>
              </a:lnSpc>
            </a:pPr>
            <a:r>
              <a:rPr sz="1300" b="0">
                <a:solidFill>
                  <a:srgbClr val="1A1D21"/>
                </a:solidFill>
                <a:latin typeface="Segoe UI"/>
              </a:rPr>
              <a:t>654</a:t>
            </a:r>
          </a:p>
        </p:txBody>
      </p:sp>
      <p:sp>
        <p:nvSpPr>
          <p:cNvPr id="31" name="TextBox 30"/>
          <p:cNvSpPr txBox="1"/>
          <p:nvPr/>
        </p:nvSpPr>
        <p:spPr>
          <a:xfrm>
            <a:off x="10241280" y="4082796"/>
            <a:ext cx="1097280" cy="310896"/>
          </a:xfrm>
          <a:prstGeom prst="rect">
            <a:avLst/>
          </a:prstGeom>
          <a:noFill/>
        </p:spPr>
        <p:txBody>
          <a:bodyPr wrap="square" lIns="0" tIns="0" rIns="0" bIns="0" anchor="t">
            <a:spAutoFit/>
          </a:bodyPr>
          <a:lstStyle/>
          <a:p>
            <a:pPr algn="r">
              <a:lnSpc>
                <a:spcPct val="100000"/>
              </a:lnSpc>
            </a:pPr>
            <a:r>
              <a:rPr sz="1300" b="0">
                <a:solidFill>
                  <a:srgbClr val="1A1D21"/>
                </a:solidFill>
                <a:latin typeface="Segoe UI"/>
              </a:rPr>
              <a:t>336</a:t>
            </a:r>
          </a:p>
        </p:txBody>
      </p:sp>
      <p:sp>
        <p:nvSpPr>
          <p:cNvPr id="32" name="Rectangle 31"/>
          <p:cNvSpPr/>
          <p:nvPr/>
        </p:nvSpPr>
        <p:spPr>
          <a:xfrm>
            <a:off x="6309360" y="4352544"/>
            <a:ext cx="512064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00800" y="4443984"/>
            <a:ext cx="2286000" cy="200055"/>
          </a:xfrm>
          <a:prstGeom prst="rect">
            <a:avLst/>
          </a:prstGeom>
          <a:noFill/>
        </p:spPr>
        <p:txBody>
          <a:bodyPr wrap="square" lIns="0" tIns="0" rIns="0" bIns="0" anchor="t">
            <a:spAutoFit/>
          </a:bodyPr>
          <a:lstStyle/>
          <a:p>
            <a:pPr algn="l">
              <a:lnSpc>
                <a:spcPct val="100000"/>
              </a:lnSpc>
            </a:pPr>
            <a:r>
              <a:rPr lang="en-US" sz="1300" b="0" dirty="0">
                <a:solidFill>
                  <a:srgbClr val="1A1D21"/>
                </a:solidFill>
                <a:latin typeface="Segoe UI"/>
              </a:rPr>
              <a:t>10M</a:t>
            </a:r>
            <a:endParaRPr sz="1300" b="0" dirty="0">
              <a:solidFill>
                <a:srgbClr val="1A1D21"/>
              </a:solidFill>
              <a:latin typeface="Segoe UI"/>
            </a:endParaRPr>
          </a:p>
        </p:txBody>
      </p:sp>
      <p:sp>
        <p:nvSpPr>
          <p:cNvPr id="34" name="TextBox 33"/>
          <p:cNvSpPr txBox="1"/>
          <p:nvPr/>
        </p:nvSpPr>
        <p:spPr>
          <a:xfrm>
            <a:off x="8869680" y="4443984"/>
            <a:ext cx="1188720" cy="310896"/>
          </a:xfrm>
          <a:prstGeom prst="rect">
            <a:avLst/>
          </a:prstGeom>
          <a:noFill/>
        </p:spPr>
        <p:txBody>
          <a:bodyPr wrap="square" lIns="0" tIns="0" rIns="0" bIns="0" anchor="t">
            <a:spAutoFit/>
          </a:bodyPr>
          <a:lstStyle/>
          <a:p>
            <a:pPr algn="r">
              <a:lnSpc>
                <a:spcPct val="100000"/>
              </a:lnSpc>
            </a:pPr>
            <a:r>
              <a:rPr sz="1300" b="0" dirty="0">
                <a:solidFill>
                  <a:srgbClr val="1A1D21"/>
                </a:solidFill>
                <a:latin typeface="Segoe UI"/>
              </a:rPr>
              <a:t>2,398</a:t>
            </a:r>
          </a:p>
        </p:txBody>
      </p:sp>
      <p:sp>
        <p:nvSpPr>
          <p:cNvPr id="35" name="TextBox 34"/>
          <p:cNvSpPr txBox="1"/>
          <p:nvPr/>
        </p:nvSpPr>
        <p:spPr>
          <a:xfrm>
            <a:off x="10241280" y="4443984"/>
            <a:ext cx="1097280" cy="310896"/>
          </a:xfrm>
          <a:prstGeom prst="rect">
            <a:avLst/>
          </a:prstGeom>
          <a:noFill/>
        </p:spPr>
        <p:txBody>
          <a:bodyPr wrap="square" lIns="0" tIns="0" rIns="0" bIns="0" anchor="t">
            <a:spAutoFit/>
          </a:bodyPr>
          <a:lstStyle/>
          <a:p>
            <a:pPr algn="r">
              <a:lnSpc>
                <a:spcPct val="100000"/>
              </a:lnSpc>
            </a:pPr>
            <a:r>
              <a:rPr sz="1300" b="0">
                <a:solidFill>
                  <a:srgbClr val="1A1D21"/>
                </a:solidFill>
                <a:latin typeface="Segoe UI"/>
              </a:rPr>
              <a:t>1,232</a:t>
            </a:r>
          </a:p>
        </p:txBody>
      </p:sp>
      <p:sp>
        <p:nvSpPr>
          <p:cNvPr id="36" name="Rectangle 35"/>
          <p:cNvSpPr/>
          <p:nvPr/>
        </p:nvSpPr>
        <p:spPr>
          <a:xfrm>
            <a:off x="6309360" y="4713732"/>
            <a:ext cx="512064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400800" y="4805172"/>
            <a:ext cx="2286000" cy="310896"/>
          </a:xfrm>
          <a:prstGeom prst="rect">
            <a:avLst/>
          </a:prstGeom>
          <a:noFill/>
        </p:spPr>
        <p:txBody>
          <a:bodyPr wrap="square" lIns="0" tIns="0" rIns="0" bIns="0" anchor="t">
            <a:spAutoFit/>
          </a:bodyPr>
          <a:lstStyle/>
          <a:p>
            <a:pPr algn="l">
              <a:lnSpc>
                <a:spcPct val="100000"/>
              </a:lnSpc>
            </a:pPr>
            <a:r>
              <a:rPr sz="1300" b="0">
                <a:solidFill>
                  <a:srgbClr val="1A1D21"/>
                </a:solidFill>
                <a:latin typeface="Segoe UI"/>
              </a:rPr>
              <a:t>Configuration sweeps</a:t>
            </a:r>
          </a:p>
        </p:txBody>
      </p:sp>
      <p:sp>
        <p:nvSpPr>
          <p:cNvPr id="38" name="TextBox 37"/>
          <p:cNvSpPr txBox="1"/>
          <p:nvPr/>
        </p:nvSpPr>
        <p:spPr>
          <a:xfrm>
            <a:off x="8869680" y="4805172"/>
            <a:ext cx="1188720" cy="310896"/>
          </a:xfrm>
          <a:prstGeom prst="rect">
            <a:avLst/>
          </a:prstGeom>
          <a:noFill/>
        </p:spPr>
        <p:txBody>
          <a:bodyPr wrap="square" lIns="0" tIns="0" rIns="0" bIns="0" anchor="t">
            <a:spAutoFit/>
          </a:bodyPr>
          <a:lstStyle/>
          <a:p>
            <a:pPr algn="r">
              <a:lnSpc>
                <a:spcPct val="100000"/>
              </a:lnSpc>
            </a:pPr>
            <a:r>
              <a:rPr sz="1300" b="0">
                <a:solidFill>
                  <a:srgbClr val="1A1D21"/>
                </a:solidFill>
                <a:latin typeface="Segoe UI"/>
              </a:rPr>
              <a:t>6,230</a:t>
            </a:r>
          </a:p>
        </p:txBody>
      </p:sp>
      <p:sp>
        <p:nvSpPr>
          <p:cNvPr id="39" name="TextBox 38"/>
          <p:cNvSpPr txBox="1"/>
          <p:nvPr/>
        </p:nvSpPr>
        <p:spPr>
          <a:xfrm>
            <a:off x="10241280" y="4805172"/>
            <a:ext cx="1097280" cy="310896"/>
          </a:xfrm>
          <a:prstGeom prst="rect">
            <a:avLst/>
          </a:prstGeom>
          <a:noFill/>
        </p:spPr>
        <p:txBody>
          <a:bodyPr wrap="square" lIns="0" tIns="0" rIns="0" bIns="0" anchor="t">
            <a:spAutoFit/>
          </a:bodyPr>
          <a:lstStyle/>
          <a:p>
            <a:pPr algn="r">
              <a:lnSpc>
                <a:spcPct val="100000"/>
              </a:lnSpc>
            </a:pPr>
            <a:r>
              <a:rPr sz="1300" b="0">
                <a:solidFill>
                  <a:srgbClr val="1A1D21"/>
                </a:solidFill>
                <a:latin typeface="Segoe UI"/>
              </a:rPr>
              <a:t>5,040</a:t>
            </a:r>
          </a:p>
        </p:txBody>
      </p:sp>
      <p:sp>
        <p:nvSpPr>
          <p:cNvPr id="40" name="Rectangle 39"/>
          <p:cNvSpPr/>
          <p:nvPr/>
        </p:nvSpPr>
        <p:spPr>
          <a:xfrm>
            <a:off x="6309360" y="5074920"/>
            <a:ext cx="512064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400800" y="5166360"/>
            <a:ext cx="2286000" cy="310896"/>
          </a:xfrm>
          <a:prstGeom prst="rect">
            <a:avLst/>
          </a:prstGeom>
          <a:noFill/>
        </p:spPr>
        <p:txBody>
          <a:bodyPr wrap="square" lIns="0" tIns="0" rIns="0" bIns="0" anchor="t">
            <a:spAutoFit/>
          </a:bodyPr>
          <a:lstStyle/>
          <a:p>
            <a:pPr algn="l">
              <a:lnSpc>
                <a:spcPct val="100000"/>
              </a:lnSpc>
            </a:pPr>
            <a:r>
              <a:rPr sz="1300" b="1">
                <a:solidFill>
                  <a:srgbClr val="1A1D21"/>
                </a:solidFill>
                <a:latin typeface="Segoe UI"/>
              </a:rPr>
              <a:t>Total</a:t>
            </a:r>
          </a:p>
        </p:txBody>
      </p:sp>
      <p:sp>
        <p:nvSpPr>
          <p:cNvPr id="42" name="TextBox 41"/>
          <p:cNvSpPr txBox="1"/>
          <p:nvPr/>
        </p:nvSpPr>
        <p:spPr>
          <a:xfrm>
            <a:off x="8869680" y="5166360"/>
            <a:ext cx="1188720" cy="310896"/>
          </a:xfrm>
          <a:prstGeom prst="rect">
            <a:avLst/>
          </a:prstGeom>
          <a:noFill/>
        </p:spPr>
        <p:txBody>
          <a:bodyPr wrap="square" lIns="0" tIns="0" rIns="0" bIns="0" anchor="t">
            <a:spAutoFit/>
          </a:bodyPr>
          <a:lstStyle/>
          <a:p>
            <a:pPr algn="r">
              <a:lnSpc>
                <a:spcPct val="100000"/>
              </a:lnSpc>
            </a:pPr>
            <a:r>
              <a:rPr sz="1300" b="1">
                <a:solidFill>
                  <a:srgbClr val="1A1D21"/>
                </a:solidFill>
                <a:latin typeface="Segoe UI"/>
              </a:rPr>
              <a:t>14,296</a:t>
            </a:r>
          </a:p>
        </p:txBody>
      </p:sp>
      <p:sp>
        <p:nvSpPr>
          <p:cNvPr id="43" name="TextBox 42"/>
          <p:cNvSpPr txBox="1"/>
          <p:nvPr/>
        </p:nvSpPr>
        <p:spPr>
          <a:xfrm>
            <a:off x="10241280" y="5166360"/>
            <a:ext cx="1097280" cy="310896"/>
          </a:xfrm>
          <a:prstGeom prst="rect">
            <a:avLst/>
          </a:prstGeom>
          <a:noFill/>
        </p:spPr>
        <p:txBody>
          <a:bodyPr wrap="square" lIns="0" tIns="0" rIns="0" bIns="0" anchor="t">
            <a:spAutoFit/>
          </a:bodyPr>
          <a:lstStyle/>
          <a:p>
            <a:pPr algn="r">
              <a:lnSpc>
                <a:spcPct val="100000"/>
              </a:lnSpc>
            </a:pPr>
            <a:r>
              <a:rPr sz="1300" b="1">
                <a:solidFill>
                  <a:srgbClr val="1A1D21"/>
                </a:solidFill>
                <a:latin typeface="Segoe UI"/>
              </a:rPr>
              <a:t>9,184</a:t>
            </a:r>
          </a:p>
        </p:txBody>
      </p:sp>
      <p:sp>
        <p:nvSpPr>
          <p:cNvPr id="44" name="Rectangle 43"/>
          <p:cNvSpPr/>
          <p:nvPr/>
        </p:nvSpPr>
        <p:spPr>
          <a:xfrm>
            <a:off x="6309360" y="5454396"/>
            <a:ext cx="512064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22960" y="6108192"/>
            <a:ext cx="10545775" cy="365760"/>
          </a:xfrm>
          <a:prstGeom prst="rect">
            <a:avLst/>
          </a:prstGeom>
          <a:noFill/>
        </p:spPr>
        <p:txBody>
          <a:bodyPr wrap="square" lIns="0" tIns="0" rIns="0" bIns="0" anchor="t">
            <a:spAutoFit/>
          </a:bodyPr>
          <a:lstStyle/>
          <a:p>
            <a:pPr algn="l">
              <a:lnSpc>
                <a:spcPct val="120000"/>
              </a:lnSpc>
            </a:pPr>
            <a:r>
              <a:rPr sz="1050" b="0" dirty="0">
                <a:solidFill>
                  <a:srgbClr val="70757A"/>
                </a:solidFill>
                <a:latin typeface="Segoe UI"/>
              </a:rPr>
              <a:t>10 index configurations, 4 query families, 8 selectivity targets. Seven runs per query, first discarded. Parallelism and JIT off.</a:t>
            </a:r>
          </a:p>
        </p:txBody>
      </p:sp>
      <p:sp>
        <p:nvSpPr>
          <p:cNvPr id="46" name="TextBox 45"/>
          <p:cNvSpPr txBox="1"/>
          <p:nvPr/>
        </p:nvSpPr>
        <p:spPr>
          <a:xfrm>
            <a:off x="10728655" y="6327648"/>
            <a:ext cx="640080" cy="274320"/>
          </a:xfrm>
          <a:prstGeom prst="rect">
            <a:avLst/>
          </a:prstGeom>
          <a:noFill/>
        </p:spPr>
        <p:txBody>
          <a:bodyPr wrap="square" lIns="0" tIns="0" rIns="0" bIns="0" anchor="t">
            <a:spAutoFit/>
          </a:bodyPr>
          <a:lstStyle/>
          <a:p>
            <a:pPr algn="r">
              <a:lnSpc>
                <a:spcPct val="100000"/>
              </a:lnSpc>
            </a:pPr>
            <a:r>
              <a:rPr sz="1000" b="0">
                <a:solidFill>
                  <a:srgbClr val="A8ACB0"/>
                </a:solidFill>
                <a:latin typeface="Segoe UI"/>
              </a:rPr>
              <a:t>5</a:t>
            </a:r>
          </a:p>
        </p:txBody>
      </p:sp>
      <p:sp>
        <p:nvSpPr>
          <p:cNvPr id="50" name="TextBox 49">
            <a:extLst>
              <a:ext uri="{FF2B5EF4-FFF2-40B4-BE49-F238E27FC236}">
                <a16:creationId xmlns:a16="http://schemas.microsoft.com/office/drawing/2014/main" id="{54493D46-0B8A-7911-DF79-FB1B2E1154BD}"/>
              </a:ext>
            </a:extLst>
          </p:cNvPr>
          <p:cNvSpPr txBox="1"/>
          <p:nvPr/>
        </p:nvSpPr>
        <p:spPr>
          <a:xfrm>
            <a:off x="9813637" y="1691313"/>
            <a:ext cx="1380836" cy="156005"/>
          </a:xfrm>
          <a:prstGeom prst="rect">
            <a:avLst/>
          </a:prstGeom>
          <a:noFill/>
        </p:spPr>
        <p:txBody>
          <a:bodyPr wrap="square" lIns="0" tIns="0" rIns="0" bIns="0" anchor="b">
            <a:spAutoFit/>
          </a:bodyPr>
          <a:lstStyle/>
          <a:p>
            <a:pPr algn="l">
              <a:lnSpc>
                <a:spcPct val="110000"/>
              </a:lnSpc>
            </a:pPr>
            <a:r>
              <a:rPr lang="en-US" sz="1000" b="1" dirty="0">
                <a:solidFill>
                  <a:srgbClr val="70757A"/>
                </a:solidFill>
                <a:latin typeface="Segoe UI"/>
              </a:rPr>
              <a:t>Queries Executed </a:t>
            </a:r>
            <a:endParaRPr sz="1000" b="1" dirty="0">
              <a:solidFill>
                <a:srgbClr val="70757A"/>
              </a:solidFill>
              <a:latin typeface="Segoe UI"/>
            </a:endParaRPr>
          </a:p>
        </p:txBody>
      </p:sp>
      <p:graphicFrame>
        <p:nvGraphicFramePr>
          <p:cNvPr id="55" name="Table 54">
            <a:extLst>
              <a:ext uri="{FF2B5EF4-FFF2-40B4-BE49-F238E27FC236}">
                <a16:creationId xmlns:a16="http://schemas.microsoft.com/office/drawing/2014/main" id="{8B0FF635-B6C2-BB8F-AEF5-E7EA3F8B800E}"/>
              </a:ext>
            </a:extLst>
          </p:cNvPr>
          <p:cNvGraphicFramePr>
            <a:graphicFrameLocks noGrp="1"/>
          </p:cNvGraphicFramePr>
          <p:nvPr>
            <p:extLst>
              <p:ext uri="{D42A27DB-BD31-4B8C-83A1-F6EECF244321}">
                <p14:modId xmlns:p14="http://schemas.microsoft.com/office/powerpoint/2010/main" val="1874551758"/>
              </p:ext>
            </p:extLst>
          </p:nvPr>
        </p:nvGraphicFramePr>
        <p:xfrm>
          <a:off x="631768" y="2012696"/>
          <a:ext cx="5494712" cy="3429001"/>
        </p:xfrm>
        <a:graphic>
          <a:graphicData uri="http://schemas.openxmlformats.org/drawingml/2006/table">
            <a:tbl>
              <a:tblPr firstRow="1" bandRow="1">
                <a:tableStyleId>{5C22544A-7EE6-4342-B048-85BDC9FD1C3A}</a:tableStyleId>
              </a:tblPr>
              <a:tblGrid>
                <a:gridCol w="1456531">
                  <a:extLst>
                    <a:ext uri="{9D8B030D-6E8A-4147-A177-3AD203B41FA5}">
                      <a16:colId xmlns:a16="http://schemas.microsoft.com/office/drawing/2014/main" val="3917815743"/>
                    </a:ext>
                  </a:extLst>
                </a:gridCol>
                <a:gridCol w="4038181">
                  <a:extLst>
                    <a:ext uri="{9D8B030D-6E8A-4147-A177-3AD203B41FA5}">
                      <a16:colId xmlns:a16="http://schemas.microsoft.com/office/drawing/2014/main" val="439704524"/>
                    </a:ext>
                  </a:extLst>
                </a:gridCol>
              </a:tblGrid>
              <a:tr h="571500">
                <a:tc>
                  <a:txBody>
                    <a:bodyPr/>
                    <a:lstStyle/>
                    <a:p>
                      <a:pPr algn="l"/>
                      <a:r>
                        <a:rPr sz="1200" b="1" i="0" u="none" dirty="0">
                          <a:solidFill>
                            <a:srgbClr val="0F172A"/>
                          </a:solidFill>
                          <a:latin typeface="Poppins"/>
                        </a:rPr>
                        <a:t>Factor</a:t>
                      </a:r>
                    </a:p>
                  </a:txBody>
                  <a:tcPr marL="63500" marR="63500" marT="25400" marB="25400" anchor="ctr">
                    <a:lnL>
                      <a:noFill/>
                    </a:lnL>
                    <a:lnR>
                      <a:noFill/>
                    </a:lnR>
                    <a:lnT>
                      <a:noFill/>
                    </a:lnT>
                    <a:lnB>
                      <a:noFill/>
                    </a:lnB>
                    <a:solidFill>
                      <a:srgbClr val="F1F5F9"/>
                    </a:solidFill>
                  </a:tcPr>
                </a:tc>
                <a:tc>
                  <a:txBody>
                    <a:bodyPr/>
                    <a:lstStyle/>
                    <a:p>
                      <a:pPr algn="l"/>
                      <a:r>
                        <a:rPr sz="1200" b="1" i="0" u="none">
                          <a:solidFill>
                            <a:srgbClr val="0F172A"/>
                          </a:solidFill>
                          <a:latin typeface="Poppins"/>
                        </a:rPr>
                        <a:t>Variations / Levels</a:t>
                      </a:r>
                    </a:p>
                  </a:txBody>
                  <a:tcPr marL="63500" marR="63500" marT="25400" marB="25400" anchor="ctr">
                    <a:lnL>
                      <a:noFill/>
                    </a:lnL>
                    <a:lnR>
                      <a:noFill/>
                    </a:lnR>
                    <a:lnT>
                      <a:noFill/>
                    </a:lnT>
                    <a:lnB>
                      <a:noFill/>
                    </a:lnB>
                    <a:solidFill>
                      <a:srgbClr val="F1F5F9"/>
                    </a:solidFill>
                  </a:tcPr>
                </a:tc>
                <a:extLst>
                  <a:ext uri="{0D108BD9-81ED-4DB2-BD59-A6C34878D82A}">
                    <a16:rowId xmlns:a16="http://schemas.microsoft.com/office/drawing/2014/main" val="524804129"/>
                  </a:ext>
                </a:extLst>
              </a:tr>
              <a:tr h="571500">
                <a:tc>
                  <a:txBody>
                    <a:bodyPr/>
                    <a:lstStyle/>
                    <a:p>
                      <a:pPr algn="l"/>
                      <a:r>
                        <a:rPr sz="1275" b="1" i="0" u="none">
                          <a:solidFill>
                            <a:srgbClr val="475569"/>
                          </a:solidFill>
                          <a:latin typeface="Lato"/>
                        </a:rPr>
                        <a:t>Data Distributions</a:t>
                      </a:r>
                    </a:p>
                  </a:txBody>
                  <a:tcPr marL="63500" marR="63500" marT="25400" marB="25400" anchor="ctr">
                    <a:lnL>
                      <a:noFill/>
                    </a:lnL>
                    <a:lnR>
                      <a:noFill/>
                    </a:lnR>
                    <a:lnT>
                      <a:noFill/>
                    </a:lnT>
                    <a:lnB>
                      <a:noFill/>
                    </a:lnB>
                    <a:noFill/>
                  </a:tcPr>
                </a:tc>
                <a:tc>
                  <a:txBody>
                    <a:bodyPr/>
                    <a:lstStyle/>
                    <a:p>
                      <a:pPr algn="l"/>
                      <a:r>
                        <a:rPr sz="1275" b="0" i="0" u="none" dirty="0">
                          <a:solidFill>
                            <a:srgbClr val="475569"/>
                          </a:solidFill>
                          <a:latin typeface="Lato"/>
                        </a:rPr>
                        <a:t>11 Datasets (Skew: Zipf 0.0–1.5, Dependency: 0–1.0, Clustering: 0–1.0)</a:t>
                      </a:r>
                    </a:p>
                  </a:txBody>
                  <a:tcPr marL="63500" marR="63500" marT="25400" marB="25400" anchor="ctr">
                    <a:lnL>
                      <a:noFill/>
                    </a:lnL>
                    <a:lnR>
                      <a:noFill/>
                    </a:lnR>
                    <a:lnT>
                      <a:noFill/>
                    </a:lnT>
                    <a:lnB>
                      <a:noFill/>
                    </a:lnB>
                    <a:noFill/>
                  </a:tcPr>
                </a:tc>
                <a:extLst>
                  <a:ext uri="{0D108BD9-81ED-4DB2-BD59-A6C34878D82A}">
                    <a16:rowId xmlns:a16="http://schemas.microsoft.com/office/drawing/2014/main" val="1123856416"/>
                  </a:ext>
                </a:extLst>
              </a:tr>
              <a:tr h="571500">
                <a:tc>
                  <a:txBody>
                    <a:bodyPr/>
                    <a:lstStyle/>
                    <a:p>
                      <a:pPr algn="l"/>
                      <a:r>
                        <a:rPr sz="1275" b="1" i="0" u="none">
                          <a:solidFill>
                            <a:srgbClr val="475569"/>
                          </a:solidFill>
                          <a:latin typeface="Lato"/>
                        </a:rPr>
                        <a:t>Index Schemes</a:t>
                      </a:r>
                    </a:p>
                  </a:txBody>
                  <a:tcPr marL="63500" marR="63500" marT="25400" marB="25400" anchor="ctr">
                    <a:lnL>
                      <a:noFill/>
                    </a:lnL>
                    <a:lnR>
                      <a:noFill/>
                    </a:lnR>
                    <a:lnT>
                      <a:noFill/>
                    </a:lnT>
                    <a:lnB>
                      <a:noFill/>
                    </a:lnB>
                    <a:solidFill>
                      <a:srgbClr val="F8FAFC"/>
                    </a:solidFill>
                  </a:tcPr>
                </a:tc>
                <a:tc>
                  <a:txBody>
                    <a:bodyPr/>
                    <a:lstStyle/>
                    <a:p>
                      <a:pPr algn="l"/>
                      <a:r>
                        <a:rPr sz="1275" b="0" i="0" u="none" dirty="0">
                          <a:solidFill>
                            <a:srgbClr val="475569"/>
                          </a:solidFill>
                          <a:latin typeface="Lato"/>
                        </a:rPr>
                        <a:t>10 Configurations (None, B-tree, Hash, BRIN, Composite, All-Indexes)</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3092832582"/>
                  </a:ext>
                </a:extLst>
              </a:tr>
              <a:tr h="571500">
                <a:tc>
                  <a:txBody>
                    <a:bodyPr/>
                    <a:lstStyle/>
                    <a:p>
                      <a:pPr algn="l"/>
                      <a:r>
                        <a:rPr sz="1275" b="1" i="0" u="none">
                          <a:solidFill>
                            <a:srgbClr val="475569"/>
                          </a:solidFill>
                          <a:latin typeface="Lato"/>
                        </a:rPr>
                        <a:t>Table Scales</a:t>
                      </a:r>
                    </a:p>
                  </a:txBody>
                  <a:tcPr marL="63500" marR="63500" marT="25400" marB="25400" anchor="ctr">
                    <a:lnL>
                      <a:noFill/>
                    </a:lnL>
                    <a:lnR>
                      <a:noFill/>
                    </a:lnR>
                    <a:lnT>
                      <a:noFill/>
                    </a:lnT>
                    <a:lnB>
                      <a:noFill/>
                    </a:lnB>
                    <a:noFill/>
                  </a:tcPr>
                </a:tc>
                <a:tc>
                  <a:txBody>
                    <a:bodyPr/>
                    <a:lstStyle/>
                    <a:p>
                      <a:pPr algn="l"/>
                      <a:r>
                        <a:rPr sz="1275" b="0" i="0" u="none" dirty="0">
                          <a:solidFill>
                            <a:srgbClr val="475569"/>
                          </a:solidFill>
                          <a:latin typeface="Lato"/>
                        </a:rPr>
                        <a:t>7 Scales </a:t>
                      </a:r>
                      <a:r>
                        <a:rPr lang="en-US" sz="1275" b="0" i="0" u="none" dirty="0">
                          <a:solidFill>
                            <a:srgbClr val="475569"/>
                          </a:solidFill>
                          <a:latin typeface="Lato"/>
                        </a:rPr>
                        <a:t>(1M to 10M </a:t>
                      </a:r>
                      <a:r>
                        <a:rPr sz="1275" b="0" i="0" u="none" dirty="0">
                          <a:solidFill>
                            <a:srgbClr val="475569"/>
                          </a:solidFill>
                          <a:latin typeface="Lato"/>
                        </a:rPr>
                        <a:t>rows</a:t>
                      </a:r>
                      <a:r>
                        <a:rPr lang="en-US" sz="1275" b="0" i="0" u="none" dirty="0">
                          <a:solidFill>
                            <a:srgbClr val="475569"/>
                          </a:solidFill>
                          <a:latin typeface="Lato"/>
                        </a:rPr>
                        <a:t>)</a:t>
                      </a:r>
                      <a:endParaRPr sz="1275" b="0" i="0" u="none" dirty="0">
                        <a:solidFill>
                          <a:srgbClr val="475569"/>
                        </a:solidFill>
                        <a:latin typeface="Lato"/>
                      </a:endParaRPr>
                    </a:p>
                  </a:txBody>
                  <a:tcPr marL="63500" marR="63500" marT="25400" marB="25400" anchor="ctr">
                    <a:lnL>
                      <a:noFill/>
                    </a:lnL>
                    <a:lnR>
                      <a:noFill/>
                    </a:lnR>
                    <a:lnT>
                      <a:noFill/>
                    </a:lnT>
                    <a:lnB>
                      <a:noFill/>
                    </a:lnB>
                    <a:noFill/>
                  </a:tcPr>
                </a:tc>
                <a:extLst>
                  <a:ext uri="{0D108BD9-81ED-4DB2-BD59-A6C34878D82A}">
                    <a16:rowId xmlns:a16="http://schemas.microsoft.com/office/drawing/2014/main" val="1083935889"/>
                  </a:ext>
                </a:extLst>
              </a:tr>
              <a:tr h="571500">
                <a:tc>
                  <a:txBody>
                    <a:bodyPr/>
                    <a:lstStyle/>
                    <a:p>
                      <a:pPr algn="l"/>
                      <a:r>
                        <a:rPr sz="1275" b="1" i="0" u="none">
                          <a:solidFill>
                            <a:srgbClr val="475569"/>
                          </a:solidFill>
                          <a:latin typeface="Lato"/>
                        </a:rPr>
                        <a:t>Tuning Parameters</a:t>
                      </a:r>
                    </a:p>
                  </a:txBody>
                  <a:tcPr marL="63500" marR="63500" marT="25400" marB="25400" anchor="ctr">
                    <a:lnL>
                      <a:noFill/>
                    </a:lnL>
                    <a:lnR>
                      <a:noFill/>
                    </a:lnR>
                    <a:lnT>
                      <a:noFill/>
                    </a:lnT>
                    <a:lnB>
                      <a:noFill/>
                    </a:lnB>
                    <a:solidFill>
                      <a:srgbClr val="F8FAFC"/>
                    </a:solidFill>
                  </a:tcPr>
                </a:tc>
                <a:tc>
                  <a:txBody>
                    <a:bodyPr/>
                    <a:lstStyle/>
                    <a:p>
                      <a:pPr algn="l"/>
                      <a:r>
                        <a:rPr sz="1275" b="0" i="0" u="none" dirty="0">
                          <a:solidFill>
                            <a:srgbClr val="475569"/>
                          </a:solidFill>
                          <a:latin typeface="Lato"/>
                        </a:rPr>
                        <a:t>16 Settings (</a:t>
                      </a:r>
                      <a:r>
                        <a:rPr sz="1275" b="0" i="0" u="none" dirty="0" err="1">
                          <a:solidFill>
                            <a:srgbClr val="475569"/>
                          </a:solidFill>
                          <a:latin typeface="Lato"/>
                        </a:rPr>
                        <a:t>random_page_cost</a:t>
                      </a:r>
                      <a:r>
                        <a:rPr sz="1275" b="0" i="0" u="none" dirty="0">
                          <a:solidFill>
                            <a:srgbClr val="475569"/>
                          </a:solidFill>
                          <a:latin typeface="Lato"/>
                        </a:rPr>
                        <a:t> 1.0–4.0, Extended Stats ON/OFF)</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3405956987"/>
                  </a:ext>
                </a:extLst>
              </a:tr>
              <a:tr h="571501">
                <a:tc>
                  <a:txBody>
                    <a:bodyPr/>
                    <a:lstStyle/>
                    <a:p>
                      <a:pPr algn="l"/>
                      <a:r>
                        <a:rPr sz="1275" b="1" i="0" u="none">
                          <a:solidFill>
                            <a:srgbClr val="475569"/>
                          </a:solidFill>
                          <a:latin typeface="Lato"/>
                        </a:rPr>
                        <a:t>Execution Matrix</a:t>
                      </a:r>
                    </a:p>
                  </a:txBody>
                  <a:tcPr marL="63500" marR="63500" marT="25400" marB="25400" anchor="ctr">
                    <a:lnL>
                      <a:noFill/>
                    </a:lnL>
                    <a:lnR>
                      <a:noFill/>
                    </a:lnR>
                    <a:lnT>
                      <a:noFill/>
                    </a:lnT>
                    <a:lnB>
                      <a:noFill/>
                    </a:lnB>
                    <a:noFill/>
                  </a:tcPr>
                </a:tc>
                <a:tc>
                  <a:txBody>
                    <a:bodyPr/>
                    <a:lstStyle/>
                    <a:p>
                      <a:pPr algn="l"/>
                      <a:r>
                        <a:rPr sz="1275" b="0" i="0" u="none" dirty="0">
                          <a:solidFill>
                            <a:srgbClr val="475569"/>
                          </a:solidFill>
                          <a:latin typeface="Lato"/>
                        </a:rPr>
                        <a:t>23,480 total query runs in PostgreSQL 17.1 &amp; MariaDB 10.4</a:t>
                      </a:r>
                    </a:p>
                  </a:txBody>
                  <a:tcPr marL="63500" marR="63500" marT="25400" marB="25400" anchor="ctr">
                    <a:lnL>
                      <a:noFill/>
                    </a:lnL>
                    <a:lnR>
                      <a:noFill/>
                    </a:lnR>
                    <a:lnT>
                      <a:noFill/>
                    </a:lnT>
                    <a:lnB>
                      <a:noFill/>
                    </a:lnB>
                    <a:noFill/>
                  </a:tcPr>
                </a:tc>
                <a:extLst>
                  <a:ext uri="{0D108BD9-81ED-4DB2-BD59-A6C34878D82A}">
                    <a16:rowId xmlns:a16="http://schemas.microsoft.com/office/drawing/2014/main" val="1850285390"/>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22960" y="566928"/>
            <a:ext cx="10545775" cy="274320"/>
          </a:xfrm>
          <a:prstGeom prst="rect">
            <a:avLst/>
          </a:prstGeom>
          <a:noFill/>
        </p:spPr>
        <p:txBody>
          <a:bodyPr wrap="square" lIns="0" tIns="0" rIns="0" bIns="0" anchor="t">
            <a:spAutoFit/>
          </a:bodyPr>
          <a:lstStyle/>
          <a:p>
            <a:pPr algn="l">
              <a:lnSpc>
                <a:spcPct val="100000"/>
              </a:lnSpc>
            </a:pPr>
            <a:r>
              <a:rPr sz="1050" b="1">
                <a:solidFill>
                  <a:srgbClr val="A8322A"/>
                </a:solidFill>
                <a:latin typeface="Segoe UI"/>
              </a:rPr>
              <a:t>RESULT 1</a:t>
            </a:r>
          </a:p>
        </p:txBody>
      </p:sp>
      <p:sp>
        <p:nvSpPr>
          <p:cNvPr id="3" name="TextBox 2"/>
          <p:cNvSpPr txBox="1"/>
          <p:nvPr/>
        </p:nvSpPr>
        <p:spPr>
          <a:xfrm>
            <a:off x="822960" y="914400"/>
            <a:ext cx="10545775" cy="1005840"/>
          </a:xfrm>
          <a:prstGeom prst="rect">
            <a:avLst/>
          </a:prstGeom>
          <a:noFill/>
        </p:spPr>
        <p:txBody>
          <a:bodyPr wrap="square" lIns="0" tIns="0" rIns="0" bIns="0" anchor="t">
            <a:spAutoFit/>
          </a:bodyPr>
          <a:lstStyle/>
          <a:p>
            <a:pPr algn="l">
              <a:lnSpc>
                <a:spcPct val="112000"/>
              </a:lnSpc>
            </a:pPr>
            <a:r>
              <a:rPr sz="2900" b="0">
                <a:solidFill>
                  <a:srgbClr val="1A1D21"/>
                </a:solidFill>
                <a:latin typeface="Georgia"/>
              </a:rPr>
              <a:t>Selection quality differs by an order of magnitude</a:t>
            </a:r>
          </a:p>
        </p:txBody>
      </p:sp>
      <p:sp>
        <p:nvSpPr>
          <p:cNvPr id="4" name="TextBox 3"/>
          <p:cNvSpPr txBox="1"/>
          <p:nvPr/>
        </p:nvSpPr>
        <p:spPr>
          <a:xfrm>
            <a:off x="914400" y="1965960"/>
            <a:ext cx="2468880" cy="301752"/>
          </a:xfrm>
          <a:prstGeom prst="rect">
            <a:avLst/>
          </a:prstGeom>
          <a:noFill/>
        </p:spPr>
        <p:txBody>
          <a:bodyPr wrap="square" lIns="0" tIns="0" rIns="0" bIns="0" anchor="b">
            <a:spAutoFit/>
          </a:bodyPr>
          <a:lstStyle/>
          <a:p>
            <a:pPr algn="l">
              <a:lnSpc>
                <a:spcPct val="110000"/>
              </a:lnSpc>
            </a:pPr>
            <a:r>
              <a:rPr sz="1100" b="1">
                <a:solidFill>
                  <a:srgbClr val="70757A"/>
                </a:solidFill>
                <a:latin typeface="Segoe UI"/>
              </a:rPr>
              <a:t>Engine</a:t>
            </a:r>
          </a:p>
        </p:txBody>
      </p:sp>
      <p:sp>
        <p:nvSpPr>
          <p:cNvPr id="5" name="TextBox 4"/>
          <p:cNvSpPr txBox="1"/>
          <p:nvPr/>
        </p:nvSpPr>
        <p:spPr>
          <a:xfrm>
            <a:off x="3566160" y="1965960"/>
            <a:ext cx="1051560" cy="301752"/>
          </a:xfrm>
          <a:prstGeom prst="rect">
            <a:avLst/>
          </a:prstGeom>
          <a:noFill/>
        </p:spPr>
        <p:txBody>
          <a:bodyPr wrap="square" lIns="0" tIns="0" rIns="0" bIns="0" anchor="b">
            <a:spAutoFit/>
          </a:bodyPr>
          <a:lstStyle/>
          <a:p>
            <a:pPr algn="r">
              <a:lnSpc>
                <a:spcPct val="110000"/>
              </a:lnSpc>
            </a:pPr>
            <a:r>
              <a:rPr sz="1100" b="1">
                <a:solidFill>
                  <a:srgbClr val="70757A"/>
                </a:solidFill>
                <a:latin typeface="Segoe UI"/>
              </a:rPr>
              <a:t>Queries</a:t>
            </a:r>
          </a:p>
        </p:txBody>
      </p:sp>
      <p:sp>
        <p:nvSpPr>
          <p:cNvPr id="6" name="TextBox 5"/>
          <p:cNvSpPr txBox="1"/>
          <p:nvPr/>
        </p:nvSpPr>
        <p:spPr>
          <a:xfrm>
            <a:off x="4800600" y="1965960"/>
            <a:ext cx="1280160" cy="301752"/>
          </a:xfrm>
          <a:prstGeom prst="rect">
            <a:avLst/>
          </a:prstGeom>
          <a:noFill/>
        </p:spPr>
        <p:txBody>
          <a:bodyPr wrap="square" lIns="0" tIns="0" rIns="0" bIns="0" anchor="b">
            <a:spAutoFit/>
          </a:bodyPr>
          <a:lstStyle/>
          <a:p>
            <a:pPr algn="r">
              <a:lnSpc>
                <a:spcPct val="110000"/>
              </a:lnSpc>
            </a:pPr>
            <a:r>
              <a:rPr sz="1100" b="1">
                <a:solidFill>
                  <a:srgbClr val="70757A"/>
                </a:solidFill>
                <a:latin typeface="Segoe UI"/>
              </a:rPr>
              <a:t>Chose badly</a:t>
            </a:r>
          </a:p>
        </p:txBody>
      </p:sp>
      <p:sp>
        <p:nvSpPr>
          <p:cNvPr id="7" name="TextBox 6"/>
          <p:cNvSpPr txBox="1"/>
          <p:nvPr/>
        </p:nvSpPr>
        <p:spPr>
          <a:xfrm>
            <a:off x="6263640" y="1965960"/>
            <a:ext cx="1371600" cy="301752"/>
          </a:xfrm>
          <a:prstGeom prst="rect">
            <a:avLst/>
          </a:prstGeom>
          <a:noFill/>
        </p:spPr>
        <p:txBody>
          <a:bodyPr wrap="square" lIns="0" tIns="0" rIns="0" bIns="0" anchor="b">
            <a:spAutoFit/>
          </a:bodyPr>
          <a:lstStyle/>
          <a:p>
            <a:pPr algn="r">
              <a:lnSpc>
                <a:spcPct val="110000"/>
              </a:lnSpc>
            </a:pPr>
            <a:r>
              <a:rPr sz="1100" b="1">
                <a:solidFill>
                  <a:srgbClr val="70757A"/>
                </a:solidFill>
                <a:latin typeface="Segoe UI"/>
              </a:rPr>
              <a:t>Median regret</a:t>
            </a:r>
          </a:p>
        </p:txBody>
      </p:sp>
      <p:sp>
        <p:nvSpPr>
          <p:cNvPr id="8" name="TextBox 7"/>
          <p:cNvSpPr txBox="1"/>
          <p:nvPr/>
        </p:nvSpPr>
        <p:spPr>
          <a:xfrm>
            <a:off x="7818120" y="1965960"/>
            <a:ext cx="1188720" cy="301752"/>
          </a:xfrm>
          <a:prstGeom prst="rect">
            <a:avLst/>
          </a:prstGeom>
          <a:noFill/>
        </p:spPr>
        <p:txBody>
          <a:bodyPr wrap="square" lIns="0" tIns="0" rIns="0" bIns="0" anchor="b">
            <a:spAutoFit/>
          </a:bodyPr>
          <a:lstStyle/>
          <a:p>
            <a:pPr algn="r">
              <a:lnSpc>
                <a:spcPct val="110000"/>
              </a:lnSpc>
            </a:pPr>
            <a:r>
              <a:rPr sz="1100" b="1">
                <a:solidFill>
                  <a:srgbClr val="70757A"/>
                </a:solidFill>
                <a:latin typeface="Segoe UI"/>
              </a:rPr>
              <a:t>Worst case</a:t>
            </a:r>
          </a:p>
        </p:txBody>
      </p:sp>
      <p:sp>
        <p:nvSpPr>
          <p:cNvPr id="9" name="Rectangle 8"/>
          <p:cNvSpPr/>
          <p:nvPr/>
        </p:nvSpPr>
        <p:spPr>
          <a:xfrm>
            <a:off x="822960" y="2267712"/>
            <a:ext cx="827532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2414016"/>
            <a:ext cx="2468880" cy="223138"/>
          </a:xfrm>
          <a:prstGeom prst="rect">
            <a:avLst/>
          </a:prstGeom>
          <a:noFill/>
        </p:spPr>
        <p:txBody>
          <a:bodyPr wrap="square" lIns="0" tIns="0" rIns="0" bIns="0" anchor="t">
            <a:spAutoFit/>
          </a:bodyPr>
          <a:lstStyle/>
          <a:p>
            <a:pPr algn="l">
              <a:lnSpc>
                <a:spcPct val="100000"/>
              </a:lnSpc>
            </a:pPr>
            <a:r>
              <a:rPr sz="1450" b="0" dirty="0">
                <a:solidFill>
                  <a:srgbClr val="1A1D21"/>
                </a:solidFill>
                <a:latin typeface="Segoe UI"/>
              </a:rPr>
              <a:t>PostgreSQL</a:t>
            </a:r>
          </a:p>
        </p:txBody>
      </p:sp>
      <p:sp>
        <p:nvSpPr>
          <p:cNvPr id="11" name="TextBox 10"/>
          <p:cNvSpPr txBox="1"/>
          <p:nvPr/>
        </p:nvSpPr>
        <p:spPr>
          <a:xfrm>
            <a:off x="3566160" y="2414016"/>
            <a:ext cx="1051560" cy="310896"/>
          </a:xfrm>
          <a:prstGeom prst="rect">
            <a:avLst/>
          </a:prstGeom>
          <a:noFill/>
        </p:spPr>
        <p:txBody>
          <a:bodyPr wrap="square" lIns="0" tIns="0" rIns="0" bIns="0" anchor="t">
            <a:spAutoFit/>
          </a:bodyPr>
          <a:lstStyle/>
          <a:p>
            <a:pPr algn="r">
              <a:lnSpc>
                <a:spcPct val="100000"/>
              </a:lnSpc>
            </a:pPr>
            <a:r>
              <a:rPr sz="1450" b="0">
                <a:solidFill>
                  <a:srgbClr val="1A1D21"/>
                </a:solidFill>
                <a:latin typeface="Segoe UI"/>
              </a:rPr>
              <a:t>130</a:t>
            </a:r>
          </a:p>
        </p:txBody>
      </p:sp>
      <p:sp>
        <p:nvSpPr>
          <p:cNvPr id="12" name="TextBox 11"/>
          <p:cNvSpPr txBox="1"/>
          <p:nvPr/>
        </p:nvSpPr>
        <p:spPr>
          <a:xfrm>
            <a:off x="4800600" y="2414016"/>
            <a:ext cx="1280160" cy="310896"/>
          </a:xfrm>
          <a:prstGeom prst="rect">
            <a:avLst/>
          </a:prstGeom>
          <a:noFill/>
        </p:spPr>
        <p:txBody>
          <a:bodyPr wrap="square" lIns="0" tIns="0" rIns="0" bIns="0" anchor="t">
            <a:spAutoFit/>
          </a:bodyPr>
          <a:lstStyle/>
          <a:p>
            <a:pPr algn="r">
              <a:lnSpc>
                <a:spcPct val="100000"/>
              </a:lnSpc>
            </a:pPr>
            <a:r>
              <a:rPr sz="1450" b="0" dirty="0">
                <a:solidFill>
                  <a:srgbClr val="1A1D21"/>
                </a:solidFill>
                <a:latin typeface="Segoe UI"/>
              </a:rPr>
              <a:t>2.3%</a:t>
            </a:r>
          </a:p>
        </p:txBody>
      </p:sp>
      <p:sp>
        <p:nvSpPr>
          <p:cNvPr id="13" name="TextBox 12"/>
          <p:cNvSpPr txBox="1"/>
          <p:nvPr/>
        </p:nvSpPr>
        <p:spPr>
          <a:xfrm>
            <a:off x="6263640" y="2414016"/>
            <a:ext cx="1371600" cy="310896"/>
          </a:xfrm>
          <a:prstGeom prst="rect">
            <a:avLst/>
          </a:prstGeom>
          <a:noFill/>
        </p:spPr>
        <p:txBody>
          <a:bodyPr wrap="square" lIns="0" tIns="0" rIns="0" bIns="0" anchor="t">
            <a:spAutoFit/>
          </a:bodyPr>
          <a:lstStyle/>
          <a:p>
            <a:pPr algn="r">
              <a:lnSpc>
                <a:spcPct val="100000"/>
              </a:lnSpc>
            </a:pPr>
            <a:r>
              <a:rPr sz="1450" b="0" dirty="0">
                <a:solidFill>
                  <a:srgbClr val="1A1D21"/>
                </a:solidFill>
                <a:latin typeface="Segoe UI"/>
              </a:rPr>
              <a:t>1.01</a:t>
            </a:r>
          </a:p>
        </p:txBody>
      </p:sp>
      <p:sp>
        <p:nvSpPr>
          <p:cNvPr id="14" name="TextBox 13"/>
          <p:cNvSpPr txBox="1"/>
          <p:nvPr/>
        </p:nvSpPr>
        <p:spPr>
          <a:xfrm>
            <a:off x="7818120" y="2414016"/>
            <a:ext cx="1188720" cy="223138"/>
          </a:xfrm>
          <a:prstGeom prst="rect">
            <a:avLst/>
          </a:prstGeom>
          <a:noFill/>
        </p:spPr>
        <p:txBody>
          <a:bodyPr wrap="square" lIns="0" tIns="0" rIns="0" bIns="0" anchor="t">
            <a:spAutoFit/>
          </a:bodyPr>
          <a:lstStyle/>
          <a:p>
            <a:pPr algn="r">
              <a:lnSpc>
                <a:spcPct val="100000"/>
              </a:lnSpc>
            </a:pPr>
            <a:r>
              <a:rPr sz="1450" b="0" dirty="0">
                <a:solidFill>
                  <a:srgbClr val="1A1D21"/>
                </a:solidFill>
                <a:latin typeface="Segoe UI"/>
              </a:rPr>
              <a:t>1.39</a:t>
            </a:r>
            <a:r>
              <a:rPr lang="en-US" sz="1450" b="0" dirty="0">
                <a:solidFill>
                  <a:srgbClr val="1A1D21"/>
                </a:solidFill>
                <a:latin typeface="Segoe UI"/>
              </a:rPr>
              <a:t>x</a:t>
            </a:r>
            <a:endParaRPr sz="1450" b="0" dirty="0">
              <a:solidFill>
                <a:srgbClr val="1A1D21"/>
              </a:solidFill>
              <a:latin typeface="Segoe UI"/>
            </a:endParaRPr>
          </a:p>
        </p:txBody>
      </p:sp>
      <p:sp>
        <p:nvSpPr>
          <p:cNvPr id="15" name="Rectangle 14"/>
          <p:cNvSpPr/>
          <p:nvPr/>
        </p:nvSpPr>
        <p:spPr>
          <a:xfrm>
            <a:off x="822960" y="2761488"/>
            <a:ext cx="827532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 y="2852928"/>
            <a:ext cx="2468880" cy="223138"/>
          </a:xfrm>
          <a:prstGeom prst="rect">
            <a:avLst/>
          </a:prstGeom>
          <a:noFill/>
        </p:spPr>
        <p:txBody>
          <a:bodyPr wrap="square" lIns="0" tIns="0" rIns="0" bIns="0" anchor="t">
            <a:spAutoFit/>
          </a:bodyPr>
          <a:lstStyle/>
          <a:p>
            <a:pPr algn="l">
              <a:lnSpc>
                <a:spcPct val="100000"/>
              </a:lnSpc>
            </a:pPr>
            <a:r>
              <a:rPr sz="1450" b="0" dirty="0">
                <a:solidFill>
                  <a:srgbClr val="1A1D21"/>
                </a:solidFill>
                <a:latin typeface="Segoe UI"/>
              </a:rPr>
              <a:t>MariaDB</a:t>
            </a:r>
          </a:p>
        </p:txBody>
      </p:sp>
      <p:sp>
        <p:nvSpPr>
          <p:cNvPr id="17" name="TextBox 16"/>
          <p:cNvSpPr txBox="1"/>
          <p:nvPr/>
        </p:nvSpPr>
        <p:spPr>
          <a:xfrm>
            <a:off x="3566160" y="2852928"/>
            <a:ext cx="1051560" cy="310896"/>
          </a:xfrm>
          <a:prstGeom prst="rect">
            <a:avLst/>
          </a:prstGeom>
          <a:noFill/>
        </p:spPr>
        <p:txBody>
          <a:bodyPr wrap="square" lIns="0" tIns="0" rIns="0" bIns="0" anchor="t">
            <a:spAutoFit/>
          </a:bodyPr>
          <a:lstStyle/>
          <a:p>
            <a:pPr algn="r">
              <a:lnSpc>
                <a:spcPct val="100000"/>
              </a:lnSpc>
            </a:pPr>
            <a:r>
              <a:rPr sz="1450" b="0">
                <a:solidFill>
                  <a:srgbClr val="1A1D21"/>
                </a:solidFill>
                <a:latin typeface="Segoe UI"/>
              </a:rPr>
              <a:t>153</a:t>
            </a:r>
          </a:p>
        </p:txBody>
      </p:sp>
      <p:sp>
        <p:nvSpPr>
          <p:cNvPr id="18" name="TextBox 17"/>
          <p:cNvSpPr txBox="1"/>
          <p:nvPr/>
        </p:nvSpPr>
        <p:spPr>
          <a:xfrm>
            <a:off x="4800600" y="2852928"/>
            <a:ext cx="1280160" cy="310896"/>
          </a:xfrm>
          <a:prstGeom prst="rect">
            <a:avLst/>
          </a:prstGeom>
          <a:noFill/>
        </p:spPr>
        <p:txBody>
          <a:bodyPr wrap="square" lIns="0" tIns="0" rIns="0" bIns="0" anchor="t">
            <a:spAutoFit/>
          </a:bodyPr>
          <a:lstStyle/>
          <a:p>
            <a:pPr algn="r">
              <a:lnSpc>
                <a:spcPct val="100000"/>
              </a:lnSpc>
            </a:pPr>
            <a:r>
              <a:rPr sz="1450" b="0" dirty="0">
                <a:solidFill>
                  <a:srgbClr val="1A1D21"/>
                </a:solidFill>
                <a:latin typeface="Segoe UI"/>
              </a:rPr>
              <a:t>66.0%</a:t>
            </a:r>
          </a:p>
        </p:txBody>
      </p:sp>
      <p:sp>
        <p:nvSpPr>
          <p:cNvPr id="19" name="TextBox 18"/>
          <p:cNvSpPr txBox="1"/>
          <p:nvPr/>
        </p:nvSpPr>
        <p:spPr>
          <a:xfrm>
            <a:off x="6263640" y="2852928"/>
            <a:ext cx="1371600" cy="310896"/>
          </a:xfrm>
          <a:prstGeom prst="rect">
            <a:avLst/>
          </a:prstGeom>
          <a:noFill/>
        </p:spPr>
        <p:txBody>
          <a:bodyPr wrap="square" lIns="0" tIns="0" rIns="0" bIns="0" anchor="t">
            <a:spAutoFit/>
          </a:bodyPr>
          <a:lstStyle/>
          <a:p>
            <a:pPr algn="r">
              <a:lnSpc>
                <a:spcPct val="100000"/>
              </a:lnSpc>
            </a:pPr>
            <a:r>
              <a:rPr sz="1450" b="0">
                <a:solidFill>
                  <a:srgbClr val="1A1D21"/>
                </a:solidFill>
                <a:latin typeface="Segoe UI"/>
              </a:rPr>
              <a:t>1.34</a:t>
            </a:r>
          </a:p>
        </p:txBody>
      </p:sp>
      <p:sp>
        <p:nvSpPr>
          <p:cNvPr id="20" name="TextBox 19"/>
          <p:cNvSpPr txBox="1"/>
          <p:nvPr/>
        </p:nvSpPr>
        <p:spPr>
          <a:xfrm>
            <a:off x="7818120" y="2852928"/>
            <a:ext cx="1188720" cy="223138"/>
          </a:xfrm>
          <a:prstGeom prst="rect">
            <a:avLst/>
          </a:prstGeom>
          <a:noFill/>
        </p:spPr>
        <p:txBody>
          <a:bodyPr wrap="square" lIns="0" tIns="0" rIns="0" bIns="0" anchor="t">
            <a:spAutoFit/>
          </a:bodyPr>
          <a:lstStyle/>
          <a:p>
            <a:pPr algn="r">
              <a:lnSpc>
                <a:spcPct val="100000"/>
              </a:lnSpc>
            </a:pPr>
            <a:r>
              <a:rPr sz="1450" b="0" dirty="0">
                <a:solidFill>
                  <a:srgbClr val="1A1D21"/>
                </a:solidFill>
                <a:latin typeface="Segoe UI"/>
              </a:rPr>
              <a:t>7.91</a:t>
            </a:r>
            <a:r>
              <a:rPr lang="en-US" sz="1450" b="0" dirty="0">
                <a:solidFill>
                  <a:srgbClr val="1A1D21"/>
                </a:solidFill>
                <a:latin typeface="Segoe UI"/>
              </a:rPr>
              <a:t>x</a:t>
            </a:r>
            <a:endParaRPr sz="1450" b="0" dirty="0">
              <a:solidFill>
                <a:srgbClr val="1A1D21"/>
              </a:solidFill>
              <a:latin typeface="Segoe UI"/>
            </a:endParaRPr>
          </a:p>
        </p:txBody>
      </p:sp>
      <p:sp>
        <p:nvSpPr>
          <p:cNvPr id="21" name="Rectangle 20"/>
          <p:cNvSpPr/>
          <p:nvPr/>
        </p:nvSpPr>
        <p:spPr>
          <a:xfrm>
            <a:off x="822960" y="3218688"/>
            <a:ext cx="827532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22960" y="3520440"/>
            <a:ext cx="8275320" cy="9525"/>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2960" y="3794760"/>
            <a:ext cx="5577840" cy="1887312"/>
          </a:xfrm>
          <a:prstGeom prst="rect">
            <a:avLst/>
          </a:prstGeom>
          <a:noFill/>
        </p:spPr>
        <p:txBody>
          <a:bodyPr wrap="square" lIns="0" tIns="0" rIns="0" bIns="0" anchor="t">
            <a:spAutoFit/>
          </a:bodyPr>
          <a:lstStyle/>
          <a:p>
            <a:pPr algn="l">
              <a:lnSpc>
                <a:spcPct val="138000"/>
              </a:lnSpc>
            </a:pPr>
            <a:r>
              <a:rPr sz="1400" b="1" dirty="0">
                <a:solidFill>
                  <a:srgbClr val="A8322A"/>
                </a:solidFill>
                <a:latin typeface="Segoe UI"/>
              </a:rPr>
              <a:t>Read the last two columns together</a:t>
            </a:r>
          </a:p>
          <a:p>
            <a:pPr algn="l">
              <a:lnSpc>
                <a:spcPct val="138000"/>
              </a:lnSpc>
            </a:pPr>
            <a:endParaRPr sz="1400" b="1" dirty="0">
              <a:solidFill>
                <a:srgbClr val="A8322A"/>
              </a:solidFill>
              <a:latin typeface="Segoe UI"/>
            </a:endParaRPr>
          </a:p>
          <a:p>
            <a:r>
              <a:rPr lang="en-US" sz="1400" dirty="0">
                <a:solidFill>
                  <a:srgbClr val="70757A"/>
                </a:solidFill>
                <a:latin typeface="Segoe UI"/>
              </a:rPr>
              <a:t>At 1 million rows, PostgreSQL chose a materially worse access path in only 2.3% of queries, with a median regret of just 1%. </a:t>
            </a:r>
          </a:p>
          <a:p>
            <a:endParaRPr lang="en-US" sz="1400" dirty="0">
              <a:solidFill>
                <a:srgbClr val="70757A"/>
              </a:solidFill>
              <a:latin typeface="Segoe UI"/>
            </a:endParaRPr>
          </a:p>
          <a:p>
            <a:r>
              <a:rPr lang="en-US" sz="1400" dirty="0">
                <a:solidFill>
                  <a:srgbClr val="70757A"/>
                </a:solidFill>
                <a:latin typeface="Segoe UI"/>
              </a:rPr>
              <a:t>MariaDB, however, made such choices in 66% of queries, and a worst case of 7.91 times slower. So the important finding is that the two optimizers have very different failure profiles." </a:t>
            </a:r>
          </a:p>
        </p:txBody>
      </p:sp>
      <p:pic>
        <p:nvPicPr>
          <p:cNvPr id="24" name="Picture 23" descr="fig2_regret_by_selectivity.png"/>
          <p:cNvPicPr>
            <a:picLocks noChangeAspect="1"/>
          </p:cNvPicPr>
          <p:nvPr/>
        </p:nvPicPr>
        <p:blipFill>
          <a:blip r:embed="rId3"/>
          <a:stretch>
            <a:fillRect/>
          </a:stretch>
        </p:blipFill>
        <p:spPr>
          <a:xfrm>
            <a:off x="7182884" y="3657600"/>
            <a:ext cx="3647912" cy="2377440"/>
          </a:xfrm>
          <a:prstGeom prst="rect">
            <a:avLst/>
          </a:prstGeom>
        </p:spPr>
      </p:pic>
      <p:sp>
        <p:nvSpPr>
          <p:cNvPr id="26" name="TextBox 25"/>
          <p:cNvSpPr txBox="1"/>
          <p:nvPr/>
        </p:nvSpPr>
        <p:spPr>
          <a:xfrm>
            <a:off x="10728655" y="6327648"/>
            <a:ext cx="640080" cy="274320"/>
          </a:xfrm>
          <a:prstGeom prst="rect">
            <a:avLst/>
          </a:prstGeom>
          <a:noFill/>
        </p:spPr>
        <p:txBody>
          <a:bodyPr wrap="square" lIns="0" tIns="0" rIns="0" bIns="0" anchor="t">
            <a:spAutoFit/>
          </a:bodyPr>
          <a:lstStyle/>
          <a:p>
            <a:pPr algn="r">
              <a:lnSpc>
                <a:spcPct val="100000"/>
              </a:lnSpc>
            </a:pPr>
            <a:r>
              <a:rPr sz="1000" b="0">
                <a:solidFill>
                  <a:srgbClr val="A8ACB0"/>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66928"/>
            <a:ext cx="10546080" cy="274320"/>
          </a:xfrm>
          <a:prstGeom prst="rect">
            <a:avLst/>
          </a:prstGeom>
          <a:noFill/>
        </p:spPr>
        <p:txBody>
          <a:bodyPr wrap="square" anchor="t" lIns="0" rIns="0" tIns="0" bIns="0">
            <a:spAutoFit/>
          </a:bodyPr>
          <a:lstStyle/>
          <a:p>
            <a:pPr algn="l">
              <a:lnSpc>
                <a:spcPct val="100000"/>
              </a:lnSpc>
            </a:pPr>
            <a:r>
              <a:rPr sz="1050" b="1">
                <a:solidFill>
                  <a:srgbClr val="A8322A"/>
                </a:solidFill>
                <a:latin typeface="Segoe UI"/>
              </a:rPr>
              <a:t>WHY THE TWO ENGINES DIFFER</a:t>
            </a:r>
          </a:p>
        </p:txBody>
      </p:sp>
      <p:sp>
        <p:nvSpPr>
          <p:cNvPr id="3" name="TextBox 2"/>
          <p:cNvSpPr txBox="1"/>
          <p:nvPr/>
        </p:nvSpPr>
        <p:spPr>
          <a:xfrm>
            <a:off x="822960" y="914400"/>
            <a:ext cx="10546080" cy="1005840"/>
          </a:xfrm>
          <a:prstGeom prst="rect">
            <a:avLst/>
          </a:prstGeom>
          <a:noFill/>
        </p:spPr>
        <p:txBody>
          <a:bodyPr wrap="square" anchor="t" lIns="0" rIns="0" tIns="0" bIns="0">
            <a:spAutoFit/>
          </a:bodyPr>
          <a:lstStyle/>
          <a:p>
            <a:pPr algn="l">
              <a:lnSpc>
                <a:spcPct val="112000"/>
              </a:lnSpc>
            </a:pPr>
            <a:r>
              <a:rPr sz="3000" b="0">
                <a:solidFill>
                  <a:srgbClr val="1A1D21"/>
                </a:solidFill>
                <a:latin typeface="Georgia"/>
              </a:rPr>
              <a:t>The gap is the plans available, not the care taken</a:t>
            </a:r>
          </a:p>
        </p:txBody>
      </p:sp>
      <p:sp>
        <p:nvSpPr>
          <p:cNvPr id="4" name="TextBox 3"/>
          <p:cNvSpPr txBox="1"/>
          <p:nvPr/>
        </p:nvSpPr>
        <p:spPr>
          <a:xfrm>
            <a:off x="914400" y="2057400"/>
            <a:ext cx="4937760" cy="301752"/>
          </a:xfrm>
          <a:prstGeom prst="rect">
            <a:avLst/>
          </a:prstGeom>
          <a:noFill/>
        </p:spPr>
        <p:txBody>
          <a:bodyPr wrap="square" anchor="b" lIns="0" rIns="0" tIns="0" bIns="0">
            <a:spAutoFit/>
          </a:bodyPr>
          <a:lstStyle/>
          <a:p>
            <a:pPr algn="l">
              <a:lnSpc>
                <a:spcPct val="110000"/>
              </a:lnSpc>
            </a:pPr>
            <a:r>
              <a:rPr sz="1100" b="1">
                <a:solidFill>
                  <a:srgbClr val="70757A"/>
                </a:solidFill>
                <a:latin typeface="Segoe UI"/>
              </a:rPr>
              <a:t>What the engine chose</a:t>
            </a:r>
          </a:p>
        </p:txBody>
      </p:sp>
      <p:sp>
        <p:nvSpPr>
          <p:cNvPr id="5" name="TextBox 4"/>
          <p:cNvSpPr txBox="1"/>
          <p:nvPr/>
        </p:nvSpPr>
        <p:spPr>
          <a:xfrm>
            <a:off x="6035040" y="2057400"/>
            <a:ext cx="1645920" cy="301752"/>
          </a:xfrm>
          <a:prstGeom prst="rect">
            <a:avLst/>
          </a:prstGeom>
          <a:noFill/>
        </p:spPr>
        <p:txBody>
          <a:bodyPr wrap="square" anchor="b" lIns="0" rIns="0" tIns="0" bIns="0">
            <a:spAutoFit/>
          </a:bodyPr>
          <a:lstStyle/>
          <a:p>
            <a:pPr algn="r">
              <a:lnSpc>
                <a:spcPct val="110000"/>
              </a:lnSpc>
            </a:pPr>
            <a:r>
              <a:rPr sz="1100" b="1">
                <a:solidFill>
                  <a:srgbClr val="70757A"/>
                </a:solidFill>
                <a:latin typeface="Segoe UI"/>
              </a:rPr>
              <a:t>PostgreSQL</a:t>
            </a:r>
          </a:p>
        </p:txBody>
      </p:sp>
      <p:sp>
        <p:nvSpPr>
          <p:cNvPr id="6" name="TextBox 5"/>
          <p:cNvSpPr txBox="1"/>
          <p:nvPr/>
        </p:nvSpPr>
        <p:spPr>
          <a:xfrm>
            <a:off x="7863840" y="2057400"/>
            <a:ext cx="1463040" cy="301752"/>
          </a:xfrm>
          <a:prstGeom prst="rect">
            <a:avLst/>
          </a:prstGeom>
          <a:noFill/>
        </p:spPr>
        <p:txBody>
          <a:bodyPr wrap="square" anchor="b" lIns="0" rIns="0" tIns="0" bIns="0">
            <a:spAutoFit/>
          </a:bodyPr>
          <a:lstStyle/>
          <a:p>
            <a:pPr algn="r">
              <a:lnSpc>
                <a:spcPct val="110000"/>
              </a:lnSpc>
            </a:pPr>
            <a:r>
              <a:rPr sz="1100" b="1">
                <a:solidFill>
                  <a:srgbClr val="70757A"/>
                </a:solidFill>
                <a:latin typeface="Segoe UI"/>
              </a:rPr>
              <a:t>MariaDB</a:t>
            </a:r>
          </a:p>
        </p:txBody>
      </p:sp>
      <p:sp>
        <p:nvSpPr>
          <p:cNvPr id="7" name="Rectangle 6"/>
          <p:cNvSpPr/>
          <p:nvPr/>
        </p:nvSpPr>
        <p:spPr>
          <a:xfrm>
            <a:off x="822960" y="2359152"/>
            <a:ext cx="859536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505456"/>
            <a:ext cx="4937760" cy="310896"/>
          </a:xfrm>
          <a:prstGeom prst="rect">
            <a:avLst/>
          </a:prstGeom>
          <a:noFill/>
        </p:spPr>
        <p:txBody>
          <a:bodyPr wrap="square" anchor="t" lIns="0" rIns="0" tIns="0" bIns="0">
            <a:spAutoFit/>
          </a:bodyPr>
          <a:lstStyle/>
          <a:p>
            <a:pPr algn="l">
              <a:lnSpc>
                <a:spcPct val="100000"/>
              </a:lnSpc>
            </a:pPr>
            <a:r>
              <a:rPr sz="1500" b="0">
                <a:solidFill>
                  <a:srgbClr val="1A1D21"/>
                </a:solidFill>
                <a:latin typeface="Segoe UI"/>
              </a:rPr>
              <a:t>Bitmap scan  (sorts rows into disk order)</a:t>
            </a:r>
          </a:p>
        </p:txBody>
      </p:sp>
      <p:sp>
        <p:nvSpPr>
          <p:cNvPr id="9" name="TextBox 8"/>
          <p:cNvSpPr txBox="1"/>
          <p:nvPr/>
        </p:nvSpPr>
        <p:spPr>
          <a:xfrm>
            <a:off x="6035040" y="2505456"/>
            <a:ext cx="1645920" cy="310896"/>
          </a:xfrm>
          <a:prstGeom prst="rect">
            <a:avLst/>
          </a:prstGeom>
          <a:noFill/>
        </p:spPr>
        <p:txBody>
          <a:bodyPr wrap="square" anchor="t" lIns="0" rIns="0" tIns="0" bIns="0">
            <a:spAutoFit/>
          </a:bodyPr>
          <a:lstStyle/>
          <a:p>
            <a:pPr algn="r">
              <a:lnSpc>
                <a:spcPct val="100000"/>
              </a:lnSpc>
            </a:pPr>
            <a:r>
              <a:rPr sz="1500" b="0">
                <a:solidFill>
                  <a:srgbClr val="1A1D21"/>
                </a:solidFill>
                <a:latin typeface="Segoe UI"/>
              </a:rPr>
              <a:t>346</a:t>
            </a:r>
          </a:p>
        </p:txBody>
      </p:sp>
      <p:sp>
        <p:nvSpPr>
          <p:cNvPr id="10" name="TextBox 9"/>
          <p:cNvSpPr txBox="1"/>
          <p:nvPr/>
        </p:nvSpPr>
        <p:spPr>
          <a:xfrm>
            <a:off x="7863840" y="2505456"/>
            <a:ext cx="1463040" cy="310896"/>
          </a:xfrm>
          <a:prstGeom prst="rect">
            <a:avLst/>
          </a:prstGeom>
          <a:noFill/>
        </p:spPr>
        <p:txBody>
          <a:bodyPr wrap="square" anchor="t" lIns="0" rIns="0" tIns="0" bIns="0">
            <a:spAutoFit/>
          </a:bodyPr>
          <a:lstStyle/>
          <a:p>
            <a:pPr algn="r">
              <a:lnSpc>
                <a:spcPct val="100000"/>
              </a:lnSpc>
            </a:pPr>
            <a:r>
              <a:rPr sz="1500" b="0">
                <a:solidFill>
                  <a:srgbClr val="1A1D21"/>
                </a:solidFill>
                <a:latin typeface="Segoe UI"/>
              </a:rPr>
              <a:t>7</a:t>
            </a:r>
          </a:p>
        </p:txBody>
      </p:sp>
      <p:sp>
        <p:nvSpPr>
          <p:cNvPr id="11" name="Rectangle 10"/>
          <p:cNvSpPr/>
          <p:nvPr/>
        </p:nvSpPr>
        <p:spPr>
          <a:xfrm>
            <a:off x="822960" y="2916936"/>
            <a:ext cx="859536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008376"/>
            <a:ext cx="4937760" cy="310896"/>
          </a:xfrm>
          <a:prstGeom prst="rect">
            <a:avLst/>
          </a:prstGeom>
          <a:noFill/>
        </p:spPr>
        <p:txBody>
          <a:bodyPr wrap="square" anchor="t" lIns="0" rIns="0" tIns="0" bIns="0">
            <a:spAutoFit/>
          </a:bodyPr>
          <a:lstStyle/>
          <a:p>
            <a:pPr algn="l">
              <a:lnSpc>
                <a:spcPct val="100000"/>
              </a:lnSpc>
            </a:pPr>
            <a:r>
              <a:rPr sz="1500" b="0">
                <a:solidFill>
                  <a:srgbClr val="1A1D21"/>
                </a:solidFill>
                <a:latin typeface="Segoe UI"/>
              </a:rPr>
              <a:t>Direct index lookup</a:t>
            </a:r>
          </a:p>
        </p:txBody>
      </p:sp>
      <p:sp>
        <p:nvSpPr>
          <p:cNvPr id="13" name="TextBox 12"/>
          <p:cNvSpPr txBox="1"/>
          <p:nvPr/>
        </p:nvSpPr>
        <p:spPr>
          <a:xfrm>
            <a:off x="6035040" y="3008376"/>
            <a:ext cx="1645920" cy="310896"/>
          </a:xfrm>
          <a:prstGeom prst="rect">
            <a:avLst/>
          </a:prstGeom>
          <a:noFill/>
        </p:spPr>
        <p:txBody>
          <a:bodyPr wrap="square" anchor="t" lIns="0" rIns="0" tIns="0" bIns="0">
            <a:spAutoFit/>
          </a:bodyPr>
          <a:lstStyle/>
          <a:p>
            <a:pPr algn="r">
              <a:lnSpc>
                <a:spcPct val="100000"/>
              </a:lnSpc>
            </a:pPr>
            <a:r>
              <a:rPr sz="1500" b="0">
                <a:solidFill>
                  <a:srgbClr val="1A1D21"/>
                </a:solidFill>
                <a:latin typeface="Segoe UI"/>
              </a:rPr>
              <a:t>19</a:t>
            </a:r>
          </a:p>
        </p:txBody>
      </p:sp>
      <p:sp>
        <p:nvSpPr>
          <p:cNvPr id="14" name="TextBox 13"/>
          <p:cNvSpPr txBox="1"/>
          <p:nvPr/>
        </p:nvSpPr>
        <p:spPr>
          <a:xfrm>
            <a:off x="7863840" y="3008376"/>
            <a:ext cx="1463040" cy="310896"/>
          </a:xfrm>
          <a:prstGeom prst="rect">
            <a:avLst/>
          </a:prstGeom>
          <a:noFill/>
        </p:spPr>
        <p:txBody>
          <a:bodyPr wrap="square" anchor="t" lIns="0" rIns="0" tIns="0" bIns="0">
            <a:spAutoFit/>
          </a:bodyPr>
          <a:lstStyle/>
          <a:p>
            <a:pPr algn="r">
              <a:lnSpc>
                <a:spcPct val="100000"/>
              </a:lnSpc>
            </a:pPr>
            <a:r>
              <a:rPr sz="1500" b="0">
                <a:solidFill>
                  <a:srgbClr val="1A1D21"/>
                </a:solidFill>
                <a:latin typeface="Segoe UI"/>
              </a:rPr>
              <a:t>301</a:t>
            </a:r>
          </a:p>
        </p:txBody>
      </p:sp>
      <p:sp>
        <p:nvSpPr>
          <p:cNvPr id="15" name="Rectangle 14"/>
          <p:cNvSpPr/>
          <p:nvPr/>
        </p:nvSpPr>
        <p:spPr>
          <a:xfrm>
            <a:off x="822960" y="3419856"/>
            <a:ext cx="859536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3511296"/>
            <a:ext cx="4937760" cy="310896"/>
          </a:xfrm>
          <a:prstGeom prst="rect">
            <a:avLst/>
          </a:prstGeom>
          <a:noFill/>
        </p:spPr>
        <p:txBody>
          <a:bodyPr wrap="square" anchor="t" lIns="0" rIns="0" tIns="0" bIns="0">
            <a:spAutoFit/>
          </a:bodyPr>
          <a:lstStyle/>
          <a:p>
            <a:pPr algn="l">
              <a:lnSpc>
                <a:spcPct val="100000"/>
              </a:lnSpc>
            </a:pPr>
            <a:r>
              <a:rPr sz="1500" b="0">
                <a:solidFill>
                  <a:srgbClr val="1A1D21"/>
                </a:solidFill>
                <a:latin typeface="Segoe UI"/>
              </a:rPr>
              <a:t>Gave up, scanned the whole table</a:t>
            </a:r>
          </a:p>
        </p:txBody>
      </p:sp>
      <p:sp>
        <p:nvSpPr>
          <p:cNvPr id="17" name="TextBox 16"/>
          <p:cNvSpPr txBox="1"/>
          <p:nvPr/>
        </p:nvSpPr>
        <p:spPr>
          <a:xfrm>
            <a:off x="6035040" y="3511296"/>
            <a:ext cx="1645920" cy="310896"/>
          </a:xfrm>
          <a:prstGeom prst="rect">
            <a:avLst/>
          </a:prstGeom>
          <a:noFill/>
        </p:spPr>
        <p:txBody>
          <a:bodyPr wrap="square" anchor="t" lIns="0" rIns="0" tIns="0" bIns="0">
            <a:spAutoFit/>
          </a:bodyPr>
          <a:lstStyle/>
          <a:p>
            <a:pPr algn="r">
              <a:lnSpc>
                <a:spcPct val="100000"/>
              </a:lnSpc>
            </a:pPr>
            <a:r>
              <a:rPr sz="1500" b="0">
                <a:solidFill>
                  <a:srgbClr val="1A1D21"/>
                </a:solidFill>
                <a:latin typeface="Segoe UI"/>
              </a:rPr>
              <a:t>9</a:t>
            </a:r>
          </a:p>
        </p:txBody>
      </p:sp>
      <p:sp>
        <p:nvSpPr>
          <p:cNvPr id="18" name="TextBox 17"/>
          <p:cNvSpPr txBox="1"/>
          <p:nvPr/>
        </p:nvSpPr>
        <p:spPr>
          <a:xfrm>
            <a:off x="7863840" y="3511296"/>
            <a:ext cx="1463040" cy="310896"/>
          </a:xfrm>
          <a:prstGeom prst="rect">
            <a:avLst/>
          </a:prstGeom>
          <a:noFill/>
        </p:spPr>
        <p:txBody>
          <a:bodyPr wrap="square" anchor="t" lIns="0" rIns="0" tIns="0" bIns="0">
            <a:spAutoFit/>
          </a:bodyPr>
          <a:lstStyle/>
          <a:p>
            <a:pPr algn="r">
              <a:lnSpc>
                <a:spcPct val="100000"/>
              </a:lnSpc>
            </a:pPr>
            <a:r>
              <a:rPr sz="1500" b="0">
                <a:solidFill>
                  <a:srgbClr val="1A1D21"/>
                </a:solidFill>
                <a:latin typeface="Segoe UI"/>
              </a:rPr>
              <a:t>66</a:t>
            </a:r>
          </a:p>
        </p:txBody>
      </p:sp>
      <p:sp>
        <p:nvSpPr>
          <p:cNvPr id="19" name="Rectangle 18"/>
          <p:cNvSpPr/>
          <p:nvPr/>
        </p:nvSpPr>
        <p:spPr>
          <a:xfrm>
            <a:off x="822960" y="3941064"/>
            <a:ext cx="859536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2960" y="3977639"/>
            <a:ext cx="8595360" cy="9525"/>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60" y="4343400"/>
            <a:ext cx="5669280" cy="1828800"/>
          </a:xfrm>
          <a:prstGeom prst="rect">
            <a:avLst/>
          </a:prstGeom>
          <a:noFill/>
        </p:spPr>
        <p:txBody>
          <a:bodyPr wrap="square" anchor="t" lIns="0" rIns="0" tIns="0" bIns="0">
            <a:spAutoFit/>
          </a:bodyPr>
          <a:lstStyle/>
          <a:p>
            <a:pPr algn="l">
              <a:lnSpc>
                <a:spcPct val="135000"/>
              </a:lnSpc>
            </a:pPr>
            <a:r>
              <a:rPr sz="1650" b="0">
                <a:solidFill>
                  <a:srgbClr val="1A1D21"/>
                </a:solidFill>
                <a:latin typeface="Segoe UI"/>
              </a:rPr>
              <a:t>A bitmap scan puts a ceiling on how bad a mistake can be, because even a wrong choice still reads the disk in order.</a:t>
            </a:r>
          </a:p>
          <a:p>
            <a:pPr algn="l">
              <a:lnSpc>
                <a:spcPct val="135000"/>
              </a:lnSpc>
            </a:pPr>
            <a:r>
              <a:rPr sz="800" b="0">
                <a:solidFill>
                  <a:srgbClr val="1A1D21"/>
                </a:solidFill>
                <a:latin typeface="Segoe UI"/>
              </a:rPr>
              <a:t/>
            </a:r>
          </a:p>
          <a:p>
            <a:pPr algn="l">
              <a:lnSpc>
                <a:spcPct val="135000"/>
              </a:lnSpc>
            </a:pPr>
            <a:r>
              <a:rPr sz="1650" b="1">
                <a:solidFill>
                  <a:srgbClr val="A8322A"/>
                </a:solidFill>
                <a:latin typeface="Segoe UI"/>
              </a:rPr>
              <a:t>MariaDB has no ceiling. A mistaken index scan becomes random single-row fetches.</a:t>
            </a:r>
          </a:p>
        </p:txBody>
      </p:sp>
      <p:sp>
        <p:nvSpPr>
          <p:cNvPr id="22" name="TextBox 21"/>
          <p:cNvSpPr txBox="1"/>
          <p:nvPr/>
        </p:nvSpPr>
        <p:spPr>
          <a:xfrm>
            <a:off x="6949440" y="4343400"/>
            <a:ext cx="4389120" cy="1828800"/>
          </a:xfrm>
          <a:prstGeom prst="rect">
            <a:avLst/>
          </a:prstGeom>
          <a:noFill/>
        </p:spPr>
        <p:txBody>
          <a:bodyPr wrap="square" anchor="t" lIns="0" rIns="0" tIns="0" bIns="0">
            <a:spAutoFit/>
          </a:bodyPr>
          <a:lstStyle/>
          <a:p>
            <a:pPr algn="l">
              <a:lnSpc>
                <a:spcPct val="130000"/>
              </a:lnSpc>
            </a:pPr>
            <a:r>
              <a:rPr sz="1500" b="0">
                <a:solidFill>
                  <a:srgbClr val="70757A"/>
                </a:solidFill>
                <a:latin typeface="Segoe UI"/>
              </a:rPr>
              <a:t>This is one design decision,</a:t>
            </a:r>
          </a:p>
          <a:p>
            <a:pPr algn="l">
              <a:lnSpc>
                <a:spcPct val="130000"/>
              </a:lnSpc>
            </a:pPr>
            <a:r>
              <a:rPr sz="1500" b="0">
                <a:solidFill>
                  <a:srgbClr val="70757A"/>
                </a:solidFill>
                <a:latin typeface="Segoe UI"/>
              </a:rPr>
              <a:t>not a tuning gap. It is why</a:t>
            </a:r>
          </a:p>
          <a:p>
            <a:pPr algn="l">
              <a:lnSpc>
                <a:spcPct val="130000"/>
              </a:lnSpc>
            </a:pPr>
            <a:r>
              <a:rPr sz="1500" b="0">
                <a:solidFill>
                  <a:srgbClr val="70757A"/>
                </a:solidFill>
                <a:latin typeface="Segoe UI"/>
              </a:rPr>
              <a:t>PostgreSQL errs rarely and</a:t>
            </a:r>
          </a:p>
          <a:p>
            <a:pPr algn="l">
              <a:lnSpc>
                <a:spcPct val="130000"/>
              </a:lnSpc>
            </a:pPr>
            <a:r>
              <a:rPr sz="1500" b="0">
                <a:solidFill>
                  <a:srgbClr val="70757A"/>
                </a:solidFill>
                <a:latin typeface="Segoe UI"/>
              </a:rPr>
              <a:t>mildly, and MariaDB errs</a:t>
            </a:r>
          </a:p>
          <a:p>
            <a:pPr algn="l">
              <a:lnSpc>
                <a:spcPct val="130000"/>
              </a:lnSpc>
            </a:pPr>
            <a:r>
              <a:rPr sz="1500" b="0">
                <a:solidFill>
                  <a:srgbClr val="70757A"/>
                </a:solidFill>
                <a:latin typeface="Segoe UI"/>
              </a:rPr>
              <a:t>often and sometimes badly.</a:t>
            </a:r>
          </a:p>
        </p:txBody>
      </p:sp>
      <p:sp>
        <p:nvSpPr>
          <p:cNvPr id="23" name="TextBox 22"/>
          <p:cNvSpPr txBox="1"/>
          <p:nvPr/>
        </p:nvSpPr>
        <p:spPr>
          <a:xfrm>
            <a:off x="822960" y="6108192"/>
            <a:ext cx="10546080" cy="365760"/>
          </a:xfrm>
          <a:prstGeom prst="rect">
            <a:avLst/>
          </a:prstGeom>
          <a:noFill/>
        </p:spPr>
        <p:txBody>
          <a:bodyPr wrap="square" anchor="t" lIns="0" rIns="0" tIns="0" bIns="0">
            <a:spAutoFit/>
          </a:bodyPr>
          <a:lstStyle/>
          <a:p>
            <a:pPr algn="l">
              <a:lnSpc>
                <a:spcPct val="120000"/>
              </a:lnSpc>
            </a:pPr>
            <a:r>
              <a:rPr sz="1050" b="0">
                <a:solidFill>
                  <a:srgbClr val="70757A"/>
                </a:solidFill>
                <a:latin typeface="Segoe UI"/>
              </a:rPr>
              <a:t>Counted over the free-choice configuration, all four query families, 1,000,000 rows.</a:t>
            </a:r>
          </a:p>
        </p:txBody>
      </p:sp>
      <p:sp>
        <p:nvSpPr>
          <p:cNvPr id="24" name="TextBox 23"/>
          <p:cNvSpPr txBox="1"/>
          <p:nvPr/>
        </p:nvSpPr>
        <p:spPr>
          <a:xfrm>
            <a:off x="10728960" y="6327648"/>
            <a:ext cx="640080" cy="274320"/>
          </a:xfrm>
          <a:prstGeom prst="rect">
            <a:avLst/>
          </a:prstGeom>
          <a:noFill/>
        </p:spPr>
        <p:txBody>
          <a:bodyPr wrap="square" anchor="t" lIns="0" rIns="0" tIns="0" bIns="0">
            <a:spAutoFit/>
          </a:bodyPr>
          <a:lstStyle/>
          <a:p>
            <a:pPr algn="r">
              <a:lnSpc>
                <a:spcPct val="100000"/>
              </a:lnSpc>
            </a:pPr>
            <a:r>
              <a:rPr sz="1000" b="0">
                <a:solidFill>
                  <a:srgbClr val="A8ACB0"/>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66928"/>
            <a:ext cx="10546080" cy="274320"/>
          </a:xfrm>
          <a:prstGeom prst="rect">
            <a:avLst/>
          </a:prstGeom>
          <a:noFill/>
        </p:spPr>
        <p:txBody>
          <a:bodyPr wrap="square" anchor="t" lIns="0" rIns="0" tIns="0" bIns="0">
            <a:spAutoFit/>
          </a:bodyPr>
          <a:lstStyle/>
          <a:p>
            <a:pPr algn="l">
              <a:lnSpc>
                <a:spcPct val="100000"/>
              </a:lnSpc>
            </a:pPr>
            <a:r>
              <a:rPr sz="1050" b="1">
                <a:solidFill>
                  <a:srgbClr val="A8322A"/>
                </a:solidFill>
                <a:latin typeface="Segoe UI"/>
              </a:rPr>
              <a:t>POSTGRESQL ONLY, FROM HERE TO SLIDE 10</a:t>
            </a:r>
          </a:p>
        </p:txBody>
      </p:sp>
      <p:sp>
        <p:nvSpPr>
          <p:cNvPr id="3" name="TextBox 2"/>
          <p:cNvSpPr txBox="1"/>
          <p:nvPr/>
        </p:nvSpPr>
        <p:spPr>
          <a:xfrm>
            <a:off x="822960" y="914400"/>
            <a:ext cx="10546080" cy="1005840"/>
          </a:xfrm>
          <a:prstGeom prst="rect">
            <a:avLst/>
          </a:prstGeom>
          <a:noFill/>
        </p:spPr>
        <p:txBody>
          <a:bodyPr wrap="square" anchor="t" lIns="0" rIns="0" tIns="0" bIns="0">
            <a:spAutoFit/>
          </a:bodyPr>
          <a:lstStyle/>
          <a:p>
            <a:pPr algn="l">
              <a:lnSpc>
                <a:spcPct val="112000"/>
              </a:lnSpc>
            </a:pPr>
            <a:r>
              <a:rPr sz="3000" b="0">
                <a:solidFill>
                  <a:srgbClr val="1A1D21"/>
                </a:solidFill>
                <a:latin typeface="Georgia"/>
              </a:rPr>
              <a:t>Adding one more index broke it</a:t>
            </a:r>
          </a:p>
        </p:txBody>
      </p:sp>
      <p:sp>
        <p:nvSpPr>
          <p:cNvPr id="4" name="TextBox 3"/>
          <p:cNvSpPr txBox="1"/>
          <p:nvPr/>
        </p:nvSpPr>
        <p:spPr>
          <a:xfrm>
            <a:off x="822960" y="1874519"/>
            <a:ext cx="10424160" cy="457200"/>
          </a:xfrm>
          <a:prstGeom prst="rect">
            <a:avLst/>
          </a:prstGeom>
          <a:noFill/>
        </p:spPr>
        <p:txBody>
          <a:bodyPr wrap="square" anchor="t" lIns="0" rIns="0" tIns="0" bIns="0">
            <a:spAutoFit/>
          </a:bodyPr>
          <a:lstStyle/>
          <a:p>
            <a:pPr algn="l">
              <a:lnSpc>
                <a:spcPct val="125000"/>
              </a:lnSpc>
            </a:pPr>
            <a:r>
              <a:rPr sz="1700" b="0">
                <a:solidFill>
                  <a:srgbClr val="1A1D21"/>
                </a:solidFill>
                <a:latin typeface="Segoe UI"/>
              </a:rPr>
              <a:t>Same engine, same data, same queries. The only difference is whether a BRIN index exists.</a:t>
            </a:r>
          </a:p>
        </p:txBody>
      </p:sp>
      <p:sp>
        <p:nvSpPr>
          <p:cNvPr id="5" name="TextBox 4"/>
          <p:cNvSpPr txBox="1"/>
          <p:nvPr/>
        </p:nvSpPr>
        <p:spPr>
          <a:xfrm>
            <a:off x="914400" y="2606040"/>
            <a:ext cx="5486400" cy="301752"/>
          </a:xfrm>
          <a:prstGeom prst="rect">
            <a:avLst/>
          </a:prstGeom>
          <a:noFill/>
        </p:spPr>
        <p:txBody>
          <a:bodyPr wrap="square" anchor="b" lIns="0" rIns="0" tIns="0" bIns="0">
            <a:spAutoFit/>
          </a:bodyPr>
          <a:lstStyle/>
          <a:p>
            <a:pPr algn="l">
              <a:lnSpc>
                <a:spcPct val="110000"/>
              </a:lnSpc>
            </a:pPr>
            <a:r>
              <a:rPr sz="1100" b="1">
                <a:solidFill>
                  <a:srgbClr val="70757A"/>
                </a:solidFill>
                <a:latin typeface="Segoe UI"/>
              </a:rPr>
              <a:t>Indexes available to the planner</a:t>
            </a:r>
          </a:p>
        </p:txBody>
      </p:sp>
      <p:sp>
        <p:nvSpPr>
          <p:cNvPr id="6" name="TextBox 5"/>
          <p:cNvSpPr txBox="1"/>
          <p:nvPr/>
        </p:nvSpPr>
        <p:spPr>
          <a:xfrm>
            <a:off x="6583680" y="2606040"/>
            <a:ext cx="1554480" cy="301752"/>
          </a:xfrm>
          <a:prstGeom prst="rect">
            <a:avLst/>
          </a:prstGeom>
          <a:noFill/>
        </p:spPr>
        <p:txBody>
          <a:bodyPr wrap="square" anchor="b" lIns="0" rIns="0" tIns="0" bIns="0">
            <a:spAutoFit/>
          </a:bodyPr>
          <a:lstStyle/>
          <a:p>
            <a:pPr algn="r">
              <a:lnSpc>
                <a:spcPct val="110000"/>
              </a:lnSpc>
            </a:pPr>
            <a:r>
              <a:rPr sz="1100" b="1">
                <a:solidFill>
                  <a:srgbClr val="70757A"/>
                </a:solidFill>
                <a:latin typeface="Segoe UI"/>
              </a:rPr>
              <a:t>Chose badly</a:t>
            </a:r>
          </a:p>
        </p:txBody>
      </p:sp>
      <p:sp>
        <p:nvSpPr>
          <p:cNvPr id="7" name="TextBox 6"/>
          <p:cNvSpPr txBox="1"/>
          <p:nvPr/>
        </p:nvSpPr>
        <p:spPr>
          <a:xfrm>
            <a:off x="8321040" y="2606040"/>
            <a:ext cx="1371600" cy="301752"/>
          </a:xfrm>
          <a:prstGeom prst="rect">
            <a:avLst/>
          </a:prstGeom>
          <a:noFill/>
        </p:spPr>
        <p:txBody>
          <a:bodyPr wrap="square" anchor="b" lIns="0" rIns="0" tIns="0" bIns="0">
            <a:spAutoFit/>
          </a:bodyPr>
          <a:lstStyle/>
          <a:p>
            <a:pPr algn="r">
              <a:lnSpc>
                <a:spcPct val="110000"/>
              </a:lnSpc>
            </a:pPr>
            <a:r>
              <a:rPr sz="1100" b="1">
                <a:solidFill>
                  <a:srgbClr val="70757A"/>
                </a:solidFill>
                <a:latin typeface="Segoe UI"/>
              </a:rPr>
              <a:t>Worst case</a:t>
            </a:r>
          </a:p>
        </p:txBody>
      </p:sp>
      <p:sp>
        <p:nvSpPr>
          <p:cNvPr id="8" name="Rectangle 7"/>
          <p:cNvSpPr/>
          <p:nvPr/>
        </p:nvSpPr>
        <p:spPr>
          <a:xfrm>
            <a:off x="822960" y="2907792"/>
            <a:ext cx="896112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054096"/>
            <a:ext cx="5486400" cy="310896"/>
          </a:xfrm>
          <a:prstGeom prst="rect">
            <a:avLst/>
          </a:prstGeom>
          <a:noFill/>
        </p:spPr>
        <p:txBody>
          <a:bodyPr wrap="square" anchor="t" lIns="0" rIns="0" tIns="0" bIns="0">
            <a:spAutoFit/>
          </a:bodyPr>
          <a:lstStyle/>
          <a:p>
            <a:pPr algn="l">
              <a:lnSpc>
                <a:spcPct val="100000"/>
              </a:lnSpc>
            </a:pPr>
            <a:r>
              <a:rPr sz="1550" b="0">
                <a:solidFill>
                  <a:srgbClr val="1A1D21"/>
                </a:solidFill>
                <a:latin typeface="Segoe UI"/>
              </a:rPr>
              <a:t>B-tree only  (this is the 2.3% from slide 6)</a:t>
            </a:r>
          </a:p>
        </p:txBody>
      </p:sp>
      <p:sp>
        <p:nvSpPr>
          <p:cNvPr id="10" name="TextBox 9"/>
          <p:cNvSpPr txBox="1"/>
          <p:nvPr/>
        </p:nvSpPr>
        <p:spPr>
          <a:xfrm>
            <a:off x="6583680" y="3054096"/>
            <a:ext cx="1554480" cy="310896"/>
          </a:xfrm>
          <a:prstGeom prst="rect">
            <a:avLst/>
          </a:prstGeom>
          <a:noFill/>
        </p:spPr>
        <p:txBody>
          <a:bodyPr wrap="square" anchor="t" lIns="0" rIns="0" tIns="0" bIns="0">
            <a:spAutoFit/>
          </a:bodyPr>
          <a:lstStyle/>
          <a:p>
            <a:pPr algn="r">
              <a:lnSpc>
                <a:spcPct val="100000"/>
              </a:lnSpc>
            </a:pPr>
            <a:r>
              <a:rPr sz="1550" b="0">
                <a:solidFill>
                  <a:srgbClr val="1A1D21"/>
                </a:solidFill>
                <a:latin typeface="Segoe UI"/>
              </a:rPr>
              <a:t>2.3%</a:t>
            </a:r>
          </a:p>
        </p:txBody>
      </p:sp>
      <p:sp>
        <p:nvSpPr>
          <p:cNvPr id="11" name="TextBox 10"/>
          <p:cNvSpPr txBox="1"/>
          <p:nvPr/>
        </p:nvSpPr>
        <p:spPr>
          <a:xfrm>
            <a:off x="8321040" y="3054096"/>
            <a:ext cx="1371600" cy="310896"/>
          </a:xfrm>
          <a:prstGeom prst="rect">
            <a:avLst/>
          </a:prstGeom>
          <a:noFill/>
        </p:spPr>
        <p:txBody>
          <a:bodyPr wrap="square" anchor="t" lIns="0" rIns="0" tIns="0" bIns="0">
            <a:spAutoFit/>
          </a:bodyPr>
          <a:lstStyle/>
          <a:p>
            <a:pPr algn="r">
              <a:lnSpc>
                <a:spcPct val="100000"/>
              </a:lnSpc>
            </a:pPr>
            <a:r>
              <a:rPr sz="1550" b="0">
                <a:solidFill>
                  <a:srgbClr val="1A1D21"/>
                </a:solidFill>
                <a:latin typeface="Segoe UI"/>
              </a:rPr>
              <a:t>1.4x</a:t>
            </a:r>
          </a:p>
        </p:txBody>
      </p:sp>
      <p:sp>
        <p:nvSpPr>
          <p:cNvPr id="12" name="Rectangle 11"/>
          <p:cNvSpPr/>
          <p:nvPr/>
        </p:nvSpPr>
        <p:spPr>
          <a:xfrm>
            <a:off x="822960" y="3529584"/>
            <a:ext cx="8961120" cy="7620"/>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621024"/>
            <a:ext cx="5486400" cy="310896"/>
          </a:xfrm>
          <a:prstGeom prst="rect">
            <a:avLst/>
          </a:prstGeom>
          <a:noFill/>
        </p:spPr>
        <p:txBody>
          <a:bodyPr wrap="square" anchor="t" lIns="0" rIns="0" tIns="0" bIns="0">
            <a:spAutoFit/>
          </a:bodyPr>
          <a:lstStyle/>
          <a:p>
            <a:pPr algn="l">
              <a:lnSpc>
                <a:spcPct val="100000"/>
              </a:lnSpc>
            </a:pPr>
            <a:r>
              <a:rPr sz="1550" b="1">
                <a:solidFill>
                  <a:srgbClr val="A8322A"/>
                </a:solidFill>
                <a:latin typeface="Segoe UI"/>
              </a:rPr>
              <a:t>B-tree + a BRIN index on the same column</a:t>
            </a:r>
          </a:p>
        </p:txBody>
      </p:sp>
      <p:sp>
        <p:nvSpPr>
          <p:cNvPr id="14" name="TextBox 13"/>
          <p:cNvSpPr txBox="1"/>
          <p:nvPr/>
        </p:nvSpPr>
        <p:spPr>
          <a:xfrm>
            <a:off x="6583680" y="3621024"/>
            <a:ext cx="1554480" cy="310896"/>
          </a:xfrm>
          <a:prstGeom prst="rect">
            <a:avLst/>
          </a:prstGeom>
          <a:noFill/>
        </p:spPr>
        <p:txBody>
          <a:bodyPr wrap="square" anchor="t" lIns="0" rIns="0" tIns="0" bIns="0">
            <a:spAutoFit/>
          </a:bodyPr>
          <a:lstStyle/>
          <a:p>
            <a:pPr algn="r">
              <a:lnSpc>
                <a:spcPct val="100000"/>
              </a:lnSpc>
            </a:pPr>
            <a:r>
              <a:rPr sz="1550" b="1">
                <a:solidFill>
                  <a:srgbClr val="A8322A"/>
                </a:solidFill>
                <a:latin typeface="Segoe UI"/>
              </a:rPr>
              <a:t>73.3%</a:t>
            </a:r>
          </a:p>
        </p:txBody>
      </p:sp>
      <p:sp>
        <p:nvSpPr>
          <p:cNvPr id="15" name="TextBox 14"/>
          <p:cNvSpPr txBox="1"/>
          <p:nvPr/>
        </p:nvSpPr>
        <p:spPr>
          <a:xfrm>
            <a:off x="8321040" y="3621024"/>
            <a:ext cx="1371600" cy="310896"/>
          </a:xfrm>
          <a:prstGeom prst="rect">
            <a:avLst/>
          </a:prstGeom>
          <a:noFill/>
        </p:spPr>
        <p:txBody>
          <a:bodyPr wrap="square" anchor="t" lIns="0" rIns="0" tIns="0" bIns="0">
            <a:spAutoFit/>
          </a:bodyPr>
          <a:lstStyle/>
          <a:p>
            <a:pPr algn="r">
              <a:lnSpc>
                <a:spcPct val="100000"/>
              </a:lnSpc>
            </a:pPr>
            <a:r>
              <a:rPr sz="1550" b="1">
                <a:solidFill>
                  <a:srgbClr val="A8322A"/>
                </a:solidFill>
                <a:latin typeface="Segoe UI"/>
              </a:rPr>
              <a:t>18.8x</a:t>
            </a:r>
          </a:p>
        </p:txBody>
      </p:sp>
      <p:sp>
        <p:nvSpPr>
          <p:cNvPr id="16" name="Rectangle 15"/>
          <p:cNvSpPr/>
          <p:nvPr/>
        </p:nvSpPr>
        <p:spPr>
          <a:xfrm>
            <a:off x="822960" y="4114800"/>
            <a:ext cx="8961120" cy="12700"/>
          </a:xfrm>
          <a:prstGeom prst="rect">
            <a:avLst/>
          </a:prstGeom>
          <a:solidFill>
            <a:srgbClr val="1A1D2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434840"/>
            <a:ext cx="8961120" cy="9525"/>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4754880"/>
            <a:ext cx="5486400" cy="1371600"/>
          </a:xfrm>
          <a:prstGeom prst="rect">
            <a:avLst/>
          </a:prstGeom>
          <a:noFill/>
        </p:spPr>
        <p:txBody>
          <a:bodyPr wrap="square" anchor="t" lIns="0" rIns="0" tIns="0" bIns="0">
            <a:spAutoFit/>
          </a:bodyPr>
          <a:lstStyle/>
          <a:p>
            <a:pPr algn="l">
              <a:lnSpc>
                <a:spcPct val="132000"/>
              </a:lnSpc>
            </a:pPr>
            <a:r>
              <a:rPr sz="1600" b="0">
                <a:solidFill>
                  <a:srgbClr val="1A1D21"/>
                </a:solidFill>
                <a:latin typeface="Segoe UI"/>
              </a:rPr>
              <a:t>People add BRIN indexes because they are tiny and look free.</a:t>
            </a:r>
          </a:p>
          <a:p>
            <a:pPr algn="l">
              <a:lnSpc>
                <a:spcPct val="132000"/>
              </a:lnSpc>
            </a:pPr>
            <a:r>
              <a:rPr sz="800" b="0">
                <a:solidFill>
                  <a:srgbClr val="1A1D21"/>
                </a:solidFill>
                <a:latin typeface="Segoe UI"/>
              </a:rPr>
              <a:t/>
            </a:r>
          </a:p>
          <a:p>
            <a:pPr algn="l">
              <a:lnSpc>
                <a:spcPct val="132000"/>
              </a:lnSpc>
            </a:pPr>
            <a:r>
              <a:rPr sz="1600" b="1">
                <a:solidFill>
                  <a:srgbClr val="A8322A"/>
                </a:solidFill>
                <a:latin typeface="Segoe UI"/>
              </a:rPr>
              <a:t>It is free in disk space. It is not free in plan quality.</a:t>
            </a:r>
          </a:p>
        </p:txBody>
      </p:sp>
      <p:sp>
        <p:nvSpPr>
          <p:cNvPr id="19" name="TextBox 18"/>
          <p:cNvSpPr txBox="1"/>
          <p:nvPr/>
        </p:nvSpPr>
        <p:spPr>
          <a:xfrm>
            <a:off x="6766560" y="4754880"/>
            <a:ext cx="4572000" cy="1371600"/>
          </a:xfrm>
          <a:prstGeom prst="rect">
            <a:avLst/>
          </a:prstGeom>
          <a:noFill/>
        </p:spPr>
        <p:txBody>
          <a:bodyPr wrap="square" anchor="t" lIns="0" rIns="0" tIns="0" bIns="0">
            <a:spAutoFit/>
          </a:bodyPr>
          <a:lstStyle/>
          <a:p>
            <a:pPr algn="l">
              <a:lnSpc>
                <a:spcPct val="128000"/>
              </a:lnSpc>
            </a:pPr>
            <a:r>
              <a:rPr sz="1500" b="0">
                <a:solidFill>
                  <a:srgbClr val="70757A"/>
                </a:solidFill>
                <a:latin typeface="Segoe UI"/>
              </a:rPr>
              <a:t>MariaDB has no BRIN index,</a:t>
            </a:r>
          </a:p>
          <a:p>
            <a:pPr algn="l">
              <a:lnSpc>
                <a:spcPct val="128000"/>
              </a:lnSpc>
            </a:pPr>
            <a:r>
              <a:rPr sz="1500" b="0">
                <a:solidFill>
                  <a:srgbClr val="70757A"/>
                </a:solidFill>
                <a:latin typeface="Segoe UI"/>
              </a:rPr>
              <a:t>so it cannot make this mistake</a:t>
            </a:r>
          </a:p>
          <a:p>
            <a:pPr algn="l">
              <a:lnSpc>
                <a:spcPct val="128000"/>
              </a:lnSpc>
            </a:pPr>
            <a:r>
              <a:rPr sz="1500" b="0">
                <a:solidFill>
                  <a:srgbClr val="70757A"/>
                </a:solidFill>
                <a:latin typeface="Segoe UI"/>
              </a:rPr>
              <a:t>at all. That is how we know it</a:t>
            </a:r>
          </a:p>
          <a:p>
            <a:pPr algn="l">
              <a:lnSpc>
                <a:spcPct val="128000"/>
              </a:lnSpc>
            </a:pPr>
            <a:r>
              <a:rPr sz="1500" b="0">
                <a:solidFill>
                  <a:srgbClr val="70757A"/>
                </a:solidFill>
                <a:latin typeface="Segoe UI"/>
              </a:rPr>
              <a:t>is a PostgreSQL costing defect,</a:t>
            </a:r>
          </a:p>
          <a:p>
            <a:pPr algn="l">
              <a:lnSpc>
                <a:spcPct val="128000"/>
              </a:lnSpc>
            </a:pPr>
            <a:r>
              <a:rPr sz="1500" b="0">
                <a:solidFill>
                  <a:srgbClr val="70757A"/>
                </a:solidFill>
                <a:latin typeface="Segoe UI"/>
              </a:rPr>
              <a:t>not something unavoidable.</a:t>
            </a:r>
          </a:p>
        </p:txBody>
      </p:sp>
      <p:sp>
        <p:nvSpPr>
          <p:cNvPr id="20" name="TextBox 19"/>
          <p:cNvSpPr txBox="1"/>
          <p:nvPr/>
        </p:nvSpPr>
        <p:spPr>
          <a:xfrm>
            <a:off x="822960" y="6108192"/>
            <a:ext cx="10546080" cy="365760"/>
          </a:xfrm>
          <a:prstGeom prst="rect">
            <a:avLst/>
          </a:prstGeom>
          <a:noFill/>
        </p:spPr>
        <p:txBody>
          <a:bodyPr wrap="square" anchor="t" lIns="0" rIns="0" tIns="0" bIns="0">
            <a:spAutoFit/>
          </a:bodyPr>
          <a:lstStyle/>
          <a:p>
            <a:pPr algn="l">
              <a:lnSpc>
                <a:spcPct val="120000"/>
              </a:lnSpc>
            </a:pPr>
            <a:r>
              <a:rPr sz="1050" b="0">
                <a:solidFill>
                  <a:srgbClr val="70757A"/>
                </a:solidFill>
                <a:latin typeface="Segoe UI"/>
              </a:rPr>
              <a:t>1,000,000 rows. The effect appears only while the table still fits in the 128 MB buffer pool.</a:t>
            </a:r>
          </a:p>
        </p:txBody>
      </p:sp>
      <p:sp>
        <p:nvSpPr>
          <p:cNvPr id="21" name="TextBox 20"/>
          <p:cNvSpPr txBox="1"/>
          <p:nvPr/>
        </p:nvSpPr>
        <p:spPr>
          <a:xfrm>
            <a:off x="10728960" y="6327648"/>
            <a:ext cx="640080" cy="274320"/>
          </a:xfrm>
          <a:prstGeom prst="rect">
            <a:avLst/>
          </a:prstGeom>
          <a:noFill/>
        </p:spPr>
        <p:txBody>
          <a:bodyPr wrap="square" anchor="t" lIns="0" rIns="0" tIns="0" bIns="0">
            <a:spAutoFit/>
          </a:bodyPr>
          <a:lstStyle/>
          <a:p>
            <a:pPr algn="r">
              <a:lnSpc>
                <a:spcPct val="100000"/>
              </a:lnSpc>
            </a:pPr>
            <a:r>
              <a:rPr sz="1000" b="0">
                <a:solidFill>
                  <a:srgbClr val="A8ACB0"/>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66928"/>
            <a:ext cx="10546080" cy="274320"/>
          </a:xfrm>
          <a:prstGeom prst="rect">
            <a:avLst/>
          </a:prstGeom>
          <a:noFill/>
        </p:spPr>
        <p:txBody>
          <a:bodyPr wrap="square" anchor="t" lIns="0" rIns="0" tIns="0" bIns="0">
            <a:spAutoFit/>
          </a:bodyPr>
          <a:lstStyle/>
          <a:p>
            <a:pPr algn="l">
              <a:lnSpc>
                <a:spcPct val="100000"/>
              </a:lnSpc>
            </a:pPr>
            <a:r>
              <a:rPr sz="1050" b="1">
                <a:solidFill>
                  <a:srgbClr val="A8322A"/>
                </a:solidFill>
                <a:latin typeface="Segoe UI"/>
              </a:rPr>
              <a:t>RULING OUT THE OBVIOUS CAUSE</a:t>
            </a:r>
          </a:p>
        </p:txBody>
      </p:sp>
      <p:sp>
        <p:nvSpPr>
          <p:cNvPr id="3" name="TextBox 2"/>
          <p:cNvSpPr txBox="1"/>
          <p:nvPr/>
        </p:nvSpPr>
        <p:spPr>
          <a:xfrm>
            <a:off x="822960" y="914400"/>
            <a:ext cx="10546080" cy="1005840"/>
          </a:xfrm>
          <a:prstGeom prst="rect">
            <a:avLst/>
          </a:prstGeom>
          <a:noFill/>
        </p:spPr>
        <p:txBody>
          <a:bodyPr wrap="square" anchor="t" lIns="0" rIns="0" tIns="0" bIns="0">
            <a:spAutoFit/>
          </a:bodyPr>
          <a:lstStyle/>
          <a:p>
            <a:pPr algn="l">
              <a:lnSpc>
                <a:spcPct val="112000"/>
              </a:lnSpc>
            </a:pPr>
            <a:r>
              <a:rPr sz="3000" b="0">
                <a:solidFill>
                  <a:srgbClr val="1A1D21"/>
                </a:solidFill>
                <a:latin typeface="Georgia"/>
              </a:rPr>
              <a:t>It was not a case of bad estimates</a:t>
            </a:r>
          </a:p>
        </p:txBody>
      </p:sp>
      <p:sp>
        <p:nvSpPr>
          <p:cNvPr id="4" name="TextBox 3"/>
          <p:cNvSpPr txBox="1"/>
          <p:nvPr/>
        </p:nvSpPr>
        <p:spPr>
          <a:xfrm>
            <a:off x="822960" y="2103120"/>
            <a:ext cx="5760720" cy="1280160"/>
          </a:xfrm>
          <a:prstGeom prst="rect">
            <a:avLst/>
          </a:prstGeom>
          <a:noFill/>
        </p:spPr>
        <p:txBody>
          <a:bodyPr wrap="square" anchor="t" lIns="0" rIns="0" tIns="0" bIns="0">
            <a:spAutoFit/>
          </a:bodyPr>
          <a:lstStyle/>
          <a:p>
            <a:pPr algn="l">
              <a:lnSpc>
                <a:spcPct val="95000"/>
              </a:lnSpc>
            </a:pPr>
            <a:r>
              <a:rPr sz="8400" b="0">
                <a:solidFill>
                  <a:srgbClr val="A8322A"/>
                </a:solidFill>
                <a:latin typeface="Georgia"/>
              </a:rPr>
              <a:t>98.2%</a:t>
            </a:r>
          </a:p>
        </p:txBody>
      </p:sp>
      <p:sp>
        <p:nvSpPr>
          <p:cNvPr id="5" name="TextBox 4"/>
          <p:cNvSpPr txBox="1"/>
          <p:nvPr/>
        </p:nvSpPr>
        <p:spPr>
          <a:xfrm>
            <a:off x="822960" y="3310128"/>
            <a:ext cx="5760720" cy="822960"/>
          </a:xfrm>
          <a:prstGeom prst="rect">
            <a:avLst/>
          </a:prstGeom>
          <a:noFill/>
        </p:spPr>
        <p:txBody>
          <a:bodyPr wrap="square" anchor="t" lIns="0" rIns="0" tIns="0" bIns="0">
            <a:spAutoFit/>
          </a:bodyPr>
          <a:lstStyle/>
          <a:p>
            <a:pPr algn="l">
              <a:lnSpc>
                <a:spcPct val="125000"/>
              </a:lnSpc>
            </a:pPr>
            <a:r>
              <a:rPr sz="1300" b="0">
                <a:solidFill>
                  <a:srgbClr val="70757A"/>
                </a:solidFill>
                <a:latin typeface="Segoe UI"/>
              </a:rPr>
              <a:t>of those 113 bad choices had the row count
essentially correct  (median error 1.017)</a:t>
            </a:r>
          </a:p>
        </p:txBody>
      </p:sp>
      <p:sp>
        <p:nvSpPr>
          <p:cNvPr id="6" name="Rectangle 5"/>
          <p:cNvSpPr/>
          <p:nvPr/>
        </p:nvSpPr>
        <p:spPr>
          <a:xfrm>
            <a:off x="822960" y="4572000"/>
            <a:ext cx="5760720" cy="9525"/>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4892040"/>
            <a:ext cx="5760720" cy="1188720"/>
          </a:xfrm>
          <a:prstGeom prst="rect">
            <a:avLst/>
          </a:prstGeom>
          <a:noFill/>
        </p:spPr>
        <p:txBody>
          <a:bodyPr wrap="square" anchor="t" lIns="0" rIns="0" tIns="0" bIns="0">
            <a:spAutoFit/>
          </a:bodyPr>
          <a:lstStyle/>
          <a:p>
            <a:pPr algn="l">
              <a:lnSpc>
                <a:spcPct val="130000"/>
              </a:lnSpc>
            </a:pPr>
            <a:r>
              <a:rPr sz="1450" b="0">
                <a:solidFill>
                  <a:srgbClr val="70757A"/>
                </a:solidFill>
                <a:latin typeface="Segoe UI"/>
              </a:rPr>
              <a:t>The 113 bad choices from the previous slide, PostgreSQL at 1,000,000 rows. A perfect estimate is 1.000.</a:t>
            </a:r>
          </a:p>
        </p:txBody>
      </p:sp>
      <p:sp>
        <p:nvSpPr>
          <p:cNvPr id="8" name="TextBox 7"/>
          <p:cNvSpPr txBox="1"/>
          <p:nvPr/>
        </p:nvSpPr>
        <p:spPr>
          <a:xfrm>
            <a:off x="7040880" y="2194560"/>
            <a:ext cx="4297680" cy="3566160"/>
          </a:xfrm>
          <a:prstGeom prst="rect">
            <a:avLst/>
          </a:prstGeom>
          <a:noFill/>
        </p:spPr>
        <p:txBody>
          <a:bodyPr wrap="square" anchor="t" lIns="0" rIns="0" tIns="0" bIns="0">
            <a:spAutoFit/>
          </a:bodyPr>
          <a:lstStyle/>
          <a:p>
            <a:pPr algn="l">
              <a:lnSpc>
                <a:spcPct val="130000"/>
              </a:lnSpc>
            </a:pPr>
            <a:r>
              <a:rPr sz="1700" b="1">
                <a:solidFill>
                  <a:srgbClr val="1A1D21"/>
                </a:solidFill>
                <a:latin typeface="Segoe UI"/>
              </a:rPr>
              <a:t>It knew how many rows were coming back.</a:t>
            </a:r>
          </a:p>
          <a:p>
            <a:pPr algn="l">
              <a:lnSpc>
                <a:spcPct val="130000"/>
              </a:lnSpc>
            </a:pPr>
            <a:r>
              <a:rPr sz="1700" b="1">
                <a:solidFill>
                  <a:srgbClr val="1A1D21"/>
                </a:solidFill>
                <a:latin typeface="Segoe UI"/>
              </a:rPr>
              <a:t>It knew both indexes existed.</a:t>
            </a:r>
          </a:p>
          <a:p>
            <a:pPr algn="l">
              <a:lnSpc>
                <a:spcPct val="130000"/>
              </a:lnSpc>
            </a:pPr>
            <a:r>
              <a:rPr sz="1700" b="1">
                <a:solidFill>
                  <a:srgbClr val="A8322A"/>
                </a:solidFill>
                <a:latin typeface="Segoe UI"/>
              </a:rPr>
              <a:t>It still picked the slower one.</a:t>
            </a:r>
          </a:p>
          <a:p>
            <a:pPr algn="l">
              <a:lnSpc>
                <a:spcPct val="130000"/>
              </a:lnSpc>
            </a:pPr>
            <a:r>
              <a:rPr sz="1400" b="0">
                <a:solidFill>
                  <a:srgbClr val="1A1D21"/>
                </a:solidFill>
                <a:latin typeface="Segoe UI"/>
              </a:rPr>
              <a:t/>
            </a:r>
          </a:p>
          <a:p>
            <a:pPr algn="l">
              <a:lnSpc>
                <a:spcPct val="130000"/>
              </a:lnSpc>
            </a:pPr>
            <a:r>
              <a:rPr sz="1500" b="0">
                <a:solidFill>
                  <a:srgbClr val="70757A"/>
                </a:solidFill>
                <a:latin typeface="Segoe UI"/>
              </a:rPr>
              <a:t>So running ANALYZE or adding statistics cannot fix this. You cannot improve a number that was already right.</a:t>
            </a:r>
          </a:p>
          <a:p>
            <a:pPr algn="l">
              <a:lnSpc>
                <a:spcPct val="130000"/>
              </a:lnSpc>
            </a:pPr>
            <a:r>
              <a:rPr sz="1000" b="0">
                <a:solidFill>
                  <a:srgbClr val="1A1D21"/>
                </a:solidFill>
                <a:latin typeface="Segoe UI"/>
              </a:rPr>
              <a:t/>
            </a:r>
          </a:p>
          <a:p>
            <a:pPr algn="l">
              <a:lnSpc>
                <a:spcPct val="130000"/>
              </a:lnSpc>
            </a:pPr>
            <a:r>
              <a:rPr sz="1550" b="1">
                <a:solidFill>
                  <a:srgbClr val="1A1D21"/>
                </a:solidFill>
                <a:latin typeface="Segoe UI"/>
              </a:rPr>
              <a:t>Which leaves the question the next slide answers: if the estimates were right, what did it get wrong?</a:t>
            </a:r>
          </a:p>
        </p:txBody>
      </p:sp>
      <p:sp>
        <p:nvSpPr>
          <p:cNvPr id="9" name="TextBox 8"/>
          <p:cNvSpPr txBox="1"/>
          <p:nvPr/>
        </p:nvSpPr>
        <p:spPr>
          <a:xfrm>
            <a:off x="10728960" y="6327648"/>
            <a:ext cx="640080" cy="274320"/>
          </a:xfrm>
          <a:prstGeom prst="rect">
            <a:avLst/>
          </a:prstGeom>
          <a:noFill/>
        </p:spPr>
        <p:txBody>
          <a:bodyPr wrap="square" anchor="t" lIns="0" rIns="0" tIns="0" bIns="0">
            <a:spAutoFit/>
          </a:bodyPr>
          <a:lstStyle/>
          <a:p>
            <a:pPr algn="r">
              <a:lnSpc>
                <a:spcPct val="100000"/>
              </a:lnSpc>
            </a:pPr>
            <a:r>
              <a:rPr sz="1000" b="0">
                <a:solidFill>
                  <a:srgbClr val="A8ACB0"/>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4171A"/>
        </a:solidFill>
        <a:effectLst/>
      </p:bgPr>
    </p:bg>
    <p:spTree>
      <p:nvGrpSpPr>
        <p:cNvPr id="1" name=""/>
        <p:cNvGrpSpPr/>
        <p:nvPr/>
      </p:nvGrpSpPr>
      <p:grpSpPr/>
      <p:sp>
        <p:nvSpPr>
          <p:cNvPr id="2" name="TextBox 1"/>
          <p:cNvSpPr txBox="1"/>
          <p:nvPr/>
        </p:nvSpPr>
        <p:spPr>
          <a:xfrm>
            <a:off x="822960" y="566928"/>
            <a:ext cx="10546080" cy="274320"/>
          </a:xfrm>
          <a:prstGeom prst="rect">
            <a:avLst/>
          </a:prstGeom>
          <a:noFill/>
        </p:spPr>
        <p:txBody>
          <a:bodyPr wrap="square" anchor="t" lIns="0" rIns="0" tIns="0" bIns="0">
            <a:spAutoFit/>
          </a:bodyPr>
          <a:lstStyle/>
          <a:p>
            <a:pPr algn="l">
              <a:lnSpc>
                <a:spcPct val="100000"/>
              </a:lnSpc>
            </a:pPr>
            <a:r>
              <a:rPr sz="1050" b="1">
                <a:solidFill>
                  <a:srgbClr val="92989E"/>
                </a:solidFill>
                <a:latin typeface="Segoe UI"/>
              </a:rPr>
              <a:t>THE ACTUAL CAUSE</a:t>
            </a:r>
          </a:p>
        </p:txBody>
      </p:sp>
      <p:sp>
        <p:nvSpPr>
          <p:cNvPr id="3" name="TextBox 2"/>
          <p:cNvSpPr txBox="1"/>
          <p:nvPr/>
        </p:nvSpPr>
        <p:spPr>
          <a:xfrm>
            <a:off x="822960" y="914400"/>
            <a:ext cx="10546080" cy="1005840"/>
          </a:xfrm>
          <a:prstGeom prst="rect">
            <a:avLst/>
          </a:prstGeom>
          <a:noFill/>
        </p:spPr>
        <p:txBody>
          <a:bodyPr wrap="square" anchor="t" lIns="0" rIns="0" tIns="0" bIns="0">
            <a:spAutoFit/>
          </a:bodyPr>
          <a:lstStyle/>
          <a:p>
            <a:pPr algn="l">
              <a:lnSpc>
                <a:spcPct val="112000"/>
              </a:lnSpc>
            </a:pPr>
            <a:r>
              <a:rPr sz="3000" b="0">
                <a:solidFill>
                  <a:srgbClr val="F2EFEA"/>
                </a:solidFill>
                <a:latin typeface="Georgia"/>
              </a:rPr>
              <a:t>It compares the wrong thing</a:t>
            </a:r>
          </a:p>
        </p:txBody>
      </p:sp>
      <p:sp>
        <p:nvSpPr>
          <p:cNvPr id="4" name="TextBox 3"/>
          <p:cNvSpPr txBox="1"/>
          <p:nvPr/>
        </p:nvSpPr>
        <p:spPr>
          <a:xfrm>
            <a:off x="822960" y="1828800"/>
            <a:ext cx="10424160" cy="822960"/>
          </a:xfrm>
          <a:prstGeom prst="rect">
            <a:avLst/>
          </a:prstGeom>
          <a:noFill/>
        </p:spPr>
        <p:txBody>
          <a:bodyPr wrap="square" anchor="t" lIns="0" rIns="0" tIns="0" bIns="0">
            <a:spAutoFit/>
          </a:bodyPr>
          <a:lstStyle/>
          <a:p>
            <a:pPr algn="l">
              <a:lnSpc>
                <a:spcPct val="130000"/>
              </a:lnSpc>
            </a:pPr>
            <a:r>
              <a:rPr sz="1700" b="0">
                <a:solidFill>
                  <a:srgbClr val="F2EFEA"/>
                </a:solidFill>
                <a:latin typeface="Segoe UI"/>
              </a:rPr>
              <a:t>When two indexes can answer the same query, PostgreSQL keeps whichever is </a:t>
            </a:r>
            <a:r>
              <a:rPr sz="1700" b="1">
                <a:solidFill>
                  <a:srgbClr val="E27660"/>
                </a:solidFill>
                <a:latin typeface="Segoe UI"/>
              </a:rPr>
              <a:t>cheaper to read</a:t>
            </a:r>
            <a:r>
              <a:rPr sz="1700" b="0">
                <a:solidFill>
                  <a:srgbClr val="F2EFEA"/>
                </a:solidFill>
                <a:latin typeface="Segoe UI"/>
              </a:rPr>
              <a:t>, and ignores the cost of fetching the rows afterwards.</a:t>
            </a:r>
          </a:p>
        </p:txBody>
      </p:sp>
      <p:sp>
        <p:nvSpPr>
          <p:cNvPr id="5" name="TextBox 4"/>
          <p:cNvSpPr txBox="1"/>
          <p:nvPr/>
        </p:nvSpPr>
        <p:spPr>
          <a:xfrm>
            <a:off x="914400" y="2926080"/>
            <a:ext cx="2468880" cy="301752"/>
          </a:xfrm>
          <a:prstGeom prst="rect">
            <a:avLst/>
          </a:prstGeom>
          <a:noFill/>
        </p:spPr>
        <p:txBody>
          <a:bodyPr wrap="square" anchor="b" lIns="0" rIns="0" tIns="0" bIns="0">
            <a:spAutoFit/>
          </a:bodyPr>
          <a:lstStyle/>
          <a:p>
            <a:pPr algn="l">
              <a:lnSpc>
                <a:spcPct val="110000"/>
              </a:lnSpc>
            </a:pPr>
            <a:r>
              <a:rPr sz="1100" b="1">
                <a:solidFill>
                  <a:srgbClr val="92989E"/>
                </a:solidFill>
                <a:latin typeface="Segoe UI"/>
              </a:rPr>
              <a:t>Index</a:t>
            </a:r>
          </a:p>
        </p:txBody>
      </p:sp>
      <p:sp>
        <p:nvSpPr>
          <p:cNvPr id="6" name="TextBox 5"/>
          <p:cNvSpPr txBox="1"/>
          <p:nvPr/>
        </p:nvSpPr>
        <p:spPr>
          <a:xfrm>
            <a:off x="3566160" y="2926080"/>
            <a:ext cx="2560320" cy="301752"/>
          </a:xfrm>
          <a:prstGeom prst="rect">
            <a:avLst/>
          </a:prstGeom>
          <a:noFill/>
        </p:spPr>
        <p:txBody>
          <a:bodyPr wrap="square" anchor="b" lIns="0" rIns="0" tIns="0" bIns="0">
            <a:spAutoFit/>
          </a:bodyPr>
          <a:lstStyle/>
          <a:p>
            <a:pPr algn="r">
              <a:lnSpc>
                <a:spcPct val="110000"/>
              </a:lnSpc>
            </a:pPr>
            <a:r>
              <a:rPr sz="1100" b="1">
                <a:solidFill>
                  <a:srgbClr val="92989E"/>
                </a:solidFill>
                <a:latin typeface="Segoe UI"/>
              </a:rPr>
              <a:t>Cost it used to decide</a:t>
            </a:r>
          </a:p>
        </p:txBody>
      </p:sp>
      <p:sp>
        <p:nvSpPr>
          <p:cNvPr id="7" name="TextBox 6"/>
          <p:cNvSpPr txBox="1"/>
          <p:nvPr/>
        </p:nvSpPr>
        <p:spPr>
          <a:xfrm>
            <a:off x="6309360" y="2926080"/>
            <a:ext cx="3474720" cy="301752"/>
          </a:xfrm>
          <a:prstGeom prst="rect">
            <a:avLst/>
          </a:prstGeom>
          <a:noFill/>
        </p:spPr>
        <p:txBody>
          <a:bodyPr wrap="square" anchor="b" lIns="0" rIns="0" tIns="0" bIns="0">
            <a:spAutoFit/>
          </a:bodyPr>
          <a:lstStyle/>
          <a:p>
            <a:pPr algn="r">
              <a:lnSpc>
                <a:spcPct val="110000"/>
              </a:lnSpc>
            </a:pPr>
            <a:r>
              <a:rPr sz="1100" b="1">
                <a:solidFill>
                  <a:srgbClr val="92989E"/>
                </a:solidFill>
                <a:latin typeface="Segoe UI"/>
              </a:rPr>
              <a:t>How long the query actually took</a:t>
            </a:r>
          </a:p>
        </p:txBody>
      </p:sp>
      <p:sp>
        <p:nvSpPr>
          <p:cNvPr id="8" name="Rectangle 7"/>
          <p:cNvSpPr/>
          <p:nvPr/>
        </p:nvSpPr>
        <p:spPr>
          <a:xfrm>
            <a:off x="822960" y="3227832"/>
            <a:ext cx="9052560" cy="12700"/>
          </a:xfrm>
          <a:prstGeom prst="rect">
            <a:avLst/>
          </a:prstGeom>
          <a:solidFill>
            <a:srgbClr val="4A5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374136"/>
            <a:ext cx="2468880" cy="310896"/>
          </a:xfrm>
          <a:prstGeom prst="rect">
            <a:avLst/>
          </a:prstGeom>
          <a:noFill/>
        </p:spPr>
        <p:txBody>
          <a:bodyPr wrap="square" anchor="t" lIns="0" rIns="0" tIns="0" bIns="0">
            <a:spAutoFit/>
          </a:bodyPr>
          <a:lstStyle/>
          <a:p>
            <a:pPr algn="l">
              <a:lnSpc>
                <a:spcPct val="100000"/>
              </a:lnSpc>
            </a:pPr>
            <a:r>
              <a:rPr sz="1600" b="0">
                <a:solidFill>
                  <a:srgbClr val="F2EFEA"/>
                </a:solidFill>
                <a:latin typeface="Segoe UI"/>
              </a:rPr>
              <a:t>BRIN  (kept)</a:t>
            </a:r>
          </a:p>
        </p:txBody>
      </p:sp>
      <p:sp>
        <p:nvSpPr>
          <p:cNvPr id="10" name="TextBox 9"/>
          <p:cNvSpPr txBox="1"/>
          <p:nvPr/>
        </p:nvSpPr>
        <p:spPr>
          <a:xfrm>
            <a:off x="3566160" y="3374136"/>
            <a:ext cx="2560320" cy="310896"/>
          </a:xfrm>
          <a:prstGeom prst="rect">
            <a:avLst/>
          </a:prstGeom>
          <a:noFill/>
        </p:spPr>
        <p:txBody>
          <a:bodyPr wrap="square" anchor="t" lIns="0" rIns="0" tIns="0" bIns="0">
            <a:spAutoFit/>
          </a:bodyPr>
          <a:lstStyle/>
          <a:p>
            <a:pPr algn="r">
              <a:lnSpc>
                <a:spcPct val="100000"/>
              </a:lnSpc>
            </a:pPr>
            <a:r>
              <a:rPr sz="1600" b="0">
                <a:solidFill>
                  <a:srgbClr val="F2EFEA"/>
                </a:solidFill>
                <a:latin typeface="Segoe UI"/>
              </a:rPr>
              <a:t>12.13</a:t>
            </a:r>
          </a:p>
        </p:txBody>
      </p:sp>
      <p:sp>
        <p:nvSpPr>
          <p:cNvPr id="11" name="TextBox 10"/>
          <p:cNvSpPr txBox="1"/>
          <p:nvPr/>
        </p:nvSpPr>
        <p:spPr>
          <a:xfrm>
            <a:off x="6309360" y="3374136"/>
            <a:ext cx="3474720" cy="310896"/>
          </a:xfrm>
          <a:prstGeom prst="rect">
            <a:avLst/>
          </a:prstGeom>
          <a:noFill/>
        </p:spPr>
        <p:txBody>
          <a:bodyPr wrap="square" anchor="t" lIns="0" rIns="0" tIns="0" bIns="0">
            <a:spAutoFit/>
          </a:bodyPr>
          <a:lstStyle/>
          <a:p>
            <a:pPr algn="r">
              <a:lnSpc>
                <a:spcPct val="100000"/>
              </a:lnSpc>
            </a:pPr>
            <a:r>
              <a:rPr sz="1600" b="0">
                <a:solidFill>
                  <a:srgbClr val="F2EFEA"/>
                </a:solidFill>
                <a:latin typeface="Segoe UI"/>
              </a:rPr>
              <a:t>65.95 ms</a:t>
            </a:r>
          </a:p>
        </p:txBody>
      </p:sp>
      <p:sp>
        <p:nvSpPr>
          <p:cNvPr id="12" name="Rectangle 11"/>
          <p:cNvSpPr/>
          <p:nvPr/>
        </p:nvSpPr>
        <p:spPr>
          <a:xfrm>
            <a:off x="822960" y="3849624"/>
            <a:ext cx="9052560" cy="7620"/>
          </a:xfrm>
          <a:prstGeom prst="rect">
            <a:avLst/>
          </a:prstGeom>
          <a:solidFill>
            <a:srgbClr val="2B30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3941064"/>
            <a:ext cx="2468880" cy="310896"/>
          </a:xfrm>
          <a:prstGeom prst="rect">
            <a:avLst/>
          </a:prstGeom>
          <a:noFill/>
        </p:spPr>
        <p:txBody>
          <a:bodyPr wrap="square" anchor="t" lIns="0" rIns="0" tIns="0" bIns="0">
            <a:spAutoFit/>
          </a:bodyPr>
          <a:lstStyle/>
          <a:p>
            <a:pPr algn="l">
              <a:lnSpc>
                <a:spcPct val="100000"/>
              </a:lnSpc>
            </a:pPr>
            <a:r>
              <a:rPr sz="1600" b="0">
                <a:solidFill>
                  <a:srgbClr val="F2EFEA"/>
                </a:solidFill>
                <a:latin typeface="Segoe UI"/>
              </a:rPr>
              <a:t>B-tree  (discarded)</a:t>
            </a:r>
          </a:p>
        </p:txBody>
      </p:sp>
      <p:sp>
        <p:nvSpPr>
          <p:cNvPr id="14" name="TextBox 13"/>
          <p:cNvSpPr txBox="1"/>
          <p:nvPr/>
        </p:nvSpPr>
        <p:spPr>
          <a:xfrm>
            <a:off x="3566160" y="3941064"/>
            <a:ext cx="2560320" cy="310896"/>
          </a:xfrm>
          <a:prstGeom prst="rect">
            <a:avLst/>
          </a:prstGeom>
          <a:noFill/>
        </p:spPr>
        <p:txBody>
          <a:bodyPr wrap="square" anchor="t" lIns="0" rIns="0" tIns="0" bIns="0">
            <a:spAutoFit/>
          </a:bodyPr>
          <a:lstStyle/>
          <a:p>
            <a:pPr algn="r">
              <a:lnSpc>
                <a:spcPct val="100000"/>
              </a:lnSpc>
            </a:pPr>
            <a:r>
              <a:rPr sz="1600" b="0">
                <a:solidFill>
                  <a:srgbClr val="F2EFEA"/>
                </a:solidFill>
                <a:latin typeface="Segoe UI"/>
              </a:rPr>
              <a:t>213.35</a:t>
            </a:r>
          </a:p>
        </p:txBody>
      </p:sp>
      <p:sp>
        <p:nvSpPr>
          <p:cNvPr id="15" name="TextBox 14"/>
          <p:cNvSpPr txBox="1"/>
          <p:nvPr/>
        </p:nvSpPr>
        <p:spPr>
          <a:xfrm>
            <a:off x="6309360" y="3941064"/>
            <a:ext cx="3474720" cy="310896"/>
          </a:xfrm>
          <a:prstGeom prst="rect">
            <a:avLst/>
          </a:prstGeom>
          <a:noFill/>
        </p:spPr>
        <p:txBody>
          <a:bodyPr wrap="square" anchor="t" lIns="0" rIns="0" tIns="0" bIns="0">
            <a:spAutoFit/>
          </a:bodyPr>
          <a:lstStyle/>
          <a:p>
            <a:pPr algn="r">
              <a:lnSpc>
                <a:spcPct val="100000"/>
              </a:lnSpc>
            </a:pPr>
            <a:r>
              <a:rPr sz="1600" b="0">
                <a:solidFill>
                  <a:srgbClr val="F2EFEA"/>
                </a:solidFill>
                <a:latin typeface="Segoe UI"/>
              </a:rPr>
              <a:t>0.34 ms</a:t>
            </a:r>
          </a:p>
        </p:txBody>
      </p:sp>
      <p:sp>
        <p:nvSpPr>
          <p:cNvPr id="16" name="Rectangle 15"/>
          <p:cNvSpPr/>
          <p:nvPr/>
        </p:nvSpPr>
        <p:spPr>
          <a:xfrm>
            <a:off x="822960" y="4434840"/>
            <a:ext cx="9052560" cy="12700"/>
          </a:xfrm>
          <a:prstGeom prst="rect">
            <a:avLst/>
          </a:prstGeom>
          <a:solidFill>
            <a:srgbClr val="4A50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 y="4800600"/>
            <a:ext cx="9052560" cy="9525"/>
          </a:xfrm>
          <a:prstGeom prst="rect">
            <a:avLst/>
          </a:prstGeom>
          <a:solidFill>
            <a:srgbClr val="3338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5120640"/>
            <a:ext cx="5852160" cy="1097280"/>
          </a:xfrm>
          <a:prstGeom prst="rect">
            <a:avLst/>
          </a:prstGeom>
          <a:noFill/>
        </p:spPr>
        <p:txBody>
          <a:bodyPr wrap="square" anchor="t" lIns="0" rIns="0" tIns="0" bIns="0">
            <a:spAutoFit/>
          </a:bodyPr>
          <a:lstStyle/>
          <a:p>
            <a:pPr algn="l">
              <a:lnSpc>
                <a:spcPct val="125000"/>
              </a:lnSpc>
            </a:pPr>
            <a:r>
              <a:rPr sz="1800" b="0">
                <a:solidFill>
                  <a:srgbClr val="E27660"/>
                </a:solidFill>
                <a:latin typeface="Georgia"/>
              </a:rPr>
              <a:t>The index that costs 17x less to read is the one that runs 194x slower.</a:t>
            </a:r>
          </a:p>
        </p:txBody>
      </p:sp>
      <p:sp>
        <p:nvSpPr>
          <p:cNvPr id="19" name="TextBox 18"/>
          <p:cNvSpPr txBox="1"/>
          <p:nvPr/>
        </p:nvSpPr>
        <p:spPr>
          <a:xfrm>
            <a:off x="7223760" y="5074920"/>
            <a:ext cx="4114800" cy="1188720"/>
          </a:xfrm>
          <a:prstGeom prst="rect">
            <a:avLst/>
          </a:prstGeom>
          <a:noFill/>
        </p:spPr>
        <p:txBody>
          <a:bodyPr wrap="square" anchor="t" lIns="0" rIns="0" tIns="0" bIns="0">
            <a:spAutoFit/>
          </a:bodyPr>
          <a:lstStyle/>
          <a:p>
            <a:pPr algn="l">
              <a:lnSpc>
                <a:spcPct val="128000"/>
              </a:lnSpc>
            </a:pPr>
            <a:r>
              <a:rPr sz="1400" b="0">
                <a:solidFill>
                  <a:srgbClr val="92989E"/>
                </a:solidFill>
                <a:latin typeface="Segoe UI"/>
              </a:rPr>
              <a:t>A BRIN index is tiny, so it always wins that comparison. But it only narrows the search to a range of blocks, so the query then has far more rows to check.</a:t>
            </a:r>
          </a:p>
        </p:txBody>
      </p:sp>
      <p:sp>
        <p:nvSpPr>
          <p:cNvPr id="20" name="TextBox 19"/>
          <p:cNvSpPr txBox="1"/>
          <p:nvPr/>
        </p:nvSpPr>
        <p:spPr>
          <a:xfrm>
            <a:off x="822960" y="6108192"/>
            <a:ext cx="10546080" cy="365760"/>
          </a:xfrm>
          <a:prstGeom prst="rect">
            <a:avLst/>
          </a:prstGeom>
          <a:noFill/>
        </p:spPr>
        <p:txBody>
          <a:bodyPr wrap="square" anchor="t" lIns="0" rIns="0" tIns="0" bIns="0">
            <a:spAutoFit/>
          </a:bodyPr>
          <a:lstStyle/>
          <a:p>
            <a:pPr algn="l">
              <a:lnSpc>
                <a:spcPct val="120000"/>
              </a:lnSpc>
            </a:pPr>
            <a:r>
              <a:rPr sz="1050" b="0">
                <a:solidFill>
                  <a:srgbClr val="92989E"/>
                </a:solidFill>
                <a:latin typeface="Segoe UI"/>
              </a:rPr>
              <a:t>choose_bitmap_and() in optimizer/path/indxpath.c. A design consequence, which is why no setting turns it off.</a:t>
            </a:r>
          </a:p>
        </p:txBody>
      </p:sp>
      <p:sp>
        <p:nvSpPr>
          <p:cNvPr id="21" name="TextBox 20"/>
          <p:cNvSpPr txBox="1"/>
          <p:nvPr/>
        </p:nvSpPr>
        <p:spPr>
          <a:xfrm>
            <a:off x="10728960" y="6327648"/>
            <a:ext cx="640080" cy="274320"/>
          </a:xfrm>
          <a:prstGeom prst="rect">
            <a:avLst/>
          </a:prstGeom>
          <a:noFill/>
        </p:spPr>
        <p:txBody>
          <a:bodyPr wrap="square" anchor="t" lIns="0" rIns="0" tIns="0" bIns="0">
            <a:spAutoFit/>
          </a:bodyPr>
          <a:lstStyle/>
          <a:p>
            <a:pPr algn="r">
              <a:lnSpc>
                <a:spcPct val="100000"/>
              </a:lnSpc>
            </a:pPr>
            <a:r>
              <a:rPr sz="1000" b="0">
                <a:solidFill>
                  <a:srgbClr val="4A5056"/>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66928"/>
            <a:ext cx="10546080" cy="274320"/>
          </a:xfrm>
          <a:prstGeom prst="rect">
            <a:avLst/>
          </a:prstGeom>
          <a:noFill/>
        </p:spPr>
        <p:txBody>
          <a:bodyPr wrap="square" anchor="t" lIns="0" rIns="0" tIns="0" bIns="0">
            <a:spAutoFit/>
          </a:bodyPr>
          <a:lstStyle/>
          <a:p>
            <a:pPr algn="l">
              <a:lnSpc>
                <a:spcPct val="100000"/>
              </a:lnSpc>
            </a:pPr>
            <a:r>
              <a:rPr sz="1050" b="1">
                <a:solidFill>
                  <a:srgbClr val="A8322A"/>
                </a:solidFill>
                <a:latin typeface="Segoe UI"/>
              </a:rPr>
              <a:t>HOW THEY FAIL AS DATA GROWS</a:t>
            </a:r>
          </a:p>
        </p:txBody>
      </p:sp>
      <p:sp>
        <p:nvSpPr>
          <p:cNvPr id="3" name="TextBox 2"/>
          <p:cNvSpPr txBox="1"/>
          <p:nvPr/>
        </p:nvSpPr>
        <p:spPr>
          <a:xfrm>
            <a:off x="822960" y="914400"/>
            <a:ext cx="10546080" cy="1005840"/>
          </a:xfrm>
          <a:prstGeom prst="rect">
            <a:avLst/>
          </a:prstGeom>
          <a:noFill/>
        </p:spPr>
        <p:txBody>
          <a:bodyPr wrap="square" anchor="t" lIns="0" rIns="0" tIns="0" bIns="0">
            <a:spAutoFit/>
          </a:bodyPr>
          <a:lstStyle/>
          <a:p>
            <a:pPr algn="l">
              <a:lnSpc>
                <a:spcPct val="112000"/>
              </a:lnSpc>
            </a:pPr>
            <a:r>
              <a:rPr sz="3000" b="0">
                <a:solidFill>
                  <a:srgbClr val="1A1D21"/>
                </a:solidFill>
                <a:latin typeface="Georgia"/>
              </a:rPr>
              <a:t>The two engines fail in opposite directions</a:t>
            </a:r>
          </a:p>
        </p:txBody>
      </p:sp>
      <p:pic>
        <p:nvPicPr>
          <p:cNvPr id="4" name="Picture 3" descr="fig8_degradation_shape.png"/>
          <p:cNvPicPr>
            <a:picLocks noChangeAspect="1"/>
          </p:cNvPicPr>
          <p:nvPr/>
        </p:nvPicPr>
        <p:blipFill>
          <a:blip r:embed="rId3"/>
          <a:stretch>
            <a:fillRect/>
          </a:stretch>
        </p:blipFill>
        <p:spPr>
          <a:xfrm>
            <a:off x="822960" y="1828800"/>
            <a:ext cx="6035040" cy="2954006"/>
          </a:xfrm>
          <a:prstGeom prst="rect">
            <a:avLst/>
          </a:prstGeom>
        </p:spPr>
      </p:pic>
      <p:sp>
        <p:nvSpPr>
          <p:cNvPr id="5" name="TextBox 4"/>
          <p:cNvSpPr txBox="1"/>
          <p:nvPr/>
        </p:nvSpPr>
        <p:spPr>
          <a:xfrm>
            <a:off x="822960" y="5029200"/>
            <a:ext cx="6035040" cy="1097280"/>
          </a:xfrm>
          <a:prstGeom prst="rect">
            <a:avLst/>
          </a:prstGeom>
          <a:noFill/>
        </p:spPr>
        <p:txBody>
          <a:bodyPr wrap="square" anchor="t" lIns="0" rIns="0" tIns="0" bIns="0">
            <a:spAutoFit/>
          </a:bodyPr>
          <a:lstStyle/>
          <a:p>
            <a:pPr algn="l">
              <a:lnSpc>
                <a:spcPct val="125000"/>
              </a:lnSpc>
            </a:pPr>
            <a:r>
              <a:rPr sz="1300" b="0">
                <a:solidFill>
                  <a:srgbClr val="70757A"/>
                </a:solidFill>
                <a:latin typeface="Segoe UI"/>
              </a:rPr>
              <a:t>Left: how often it errs.   Right: how badly, at worst.</a:t>
            </a:r>
          </a:p>
        </p:txBody>
      </p:sp>
      <p:sp>
        <p:nvSpPr>
          <p:cNvPr id="6" name="TextBox 5"/>
          <p:cNvSpPr txBox="1"/>
          <p:nvPr/>
        </p:nvSpPr>
        <p:spPr>
          <a:xfrm>
            <a:off x="7315200" y="1920240"/>
            <a:ext cx="4023360" cy="4023360"/>
          </a:xfrm>
          <a:prstGeom prst="rect">
            <a:avLst/>
          </a:prstGeom>
          <a:noFill/>
        </p:spPr>
        <p:txBody>
          <a:bodyPr wrap="square" anchor="t" lIns="0" rIns="0" tIns="0" bIns="0">
            <a:spAutoFit/>
          </a:bodyPr>
          <a:lstStyle/>
          <a:p>
            <a:pPr algn="l">
              <a:lnSpc>
                <a:spcPct val="132000"/>
              </a:lnSpc>
            </a:pPr>
            <a:r>
              <a:rPr sz="1600" b="1">
                <a:solidFill>
                  <a:srgbClr val="1F4E5F"/>
                </a:solidFill>
                <a:latin typeface="Segoe UI"/>
              </a:rPr>
              <a:t>PostgreSQL</a:t>
            </a:r>
          </a:p>
          <a:p>
            <a:pPr algn="l">
              <a:lnSpc>
                <a:spcPct val="132000"/>
              </a:lnSpc>
            </a:pPr>
            <a:r>
              <a:rPr sz="1500" b="0">
                <a:solidFill>
                  <a:srgbClr val="1A1D21"/>
                </a:solidFill>
                <a:latin typeface="Segoe UI"/>
              </a:rPr>
              <a:t>gets wrong more often as tables grow, 0% to 36%, but never by more than 3.7x.</a:t>
            </a:r>
          </a:p>
          <a:p>
            <a:pPr algn="l">
              <a:lnSpc>
                <a:spcPct val="132000"/>
              </a:lnSpc>
            </a:pPr>
            <a:r>
              <a:rPr sz="1000" b="0">
                <a:solidFill>
                  <a:srgbClr val="1A1D21"/>
                </a:solidFill>
                <a:latin typeface="Segoe UI"/>
              </a:rPr>
              <a:t/>
            </a:r>
          </a:p>
          <a:p>
            <a:pPr algn="l">
              <a:lnSpc>
                <a:spcPct val="132000"/>
              </a:lnSpc>
            </a:pPr>
            <a:r>
              <a:rPr sz="1600" b="1">
                <a:solidFill>
                  <a:srgbClr val="A8322A"/>
                </a:solidFill>
                <a:latin typeface="Segoe UI"/>
              </a:rPr>
              <a:t>MariaDB</a:t>
            </a:r>
          </a:p>
          <a:p>
            <a:pPr algn="l">
              <a:lnSpc>
                <a:spcPct val="132000"/>
              </a:lnSpc>
            </a:pPr>
            <a:r>
              <a:rPr sz="1500" b="0">
                <a:solidFill>
                  <a:srgbClr val="1A1D21"/>
                </a:solidFill>
                <a:latin typeface="Segoe UI"/>
              </a:rPr>
              <a:t>gets wrong less often, 53% down to 12%, but its worst case climbs to 30.9x.</a:t>
            </a:r>
          </a:p>
          <a:p>
            <a:pPr algn="l">
              <a:lnSpc>
                <a:spcPct val="132000"/>
              </a:lnSpc>
            </a:pPr>
            <a:r>
              <a:rPr sz="1200" b="0">
                <a:solidFill>
                  <a:srgbClr val="1A1D21"/>
                </a:solidFill>
                <a:latin typeface="Segoe UI"/>
              </a:rPr>
              <a:t/>
            </a:r>
          </a:p>
          <a:p>
            <a:pPr algn="l">
              <a:lnSpc>
                <a:spcPct val="132000"/>
              </a:lnSpc>
            </a:pPr>
            <a:r>
              <a:rPr sz="1550" b="1">
                <a:solidFill>
                  <a:srgbClr val="1A1D21"/>
                </a:solidFill>
                <a:latin typeface="Segoe UI"/>
              </a:rPr>
              <a:t>Wrong often but never badly is easier to run than wrong rarely but catastrophically.</a:t>
            </a:r>
          </a:p>
        </p:txBody>
      </p:sp>
      <p:sp>
        <p:nvSpPr>
          <p:cNvPr id="7" name="TextBox 6"/>
          <p:cNvSpPr txBox="1"/>
          <p:nvPr/>
        </p:nvSpPr>
        <p:spPr>
          <a:xfrm>
            <a:off x="822960" y="6108192"/>
            <a:ext cx="10546080" cy="365760"/>
          </a:xfrm>
          <a:prstGeom prst="rect">
            <a:avLst/>
          </a:prstGeom>
          <a:noFill/>
        </p:spPr>
        <p:txBody>
          <a:bodyPr wrap="square" anchor="t" lIns="0" rIns="0" tIns="0" bIns="0">
            <a:spAutoFit/>
          </a:bodyPr>
          <a:lstStyle/>
          <a:p>
            <a:pPr algn="l">
              <a:lnSpc>
                <a:spcPct val="120000"/>
              </a:lnSpc>
            </a:pPr>
            <a:r>
              <a:rPr sz="1050" b="0">
                <a:solidFill>
                  <a:srgbClr val="70757A"/>
                </a:solidFill>
                <a:latin typeface="Segoe UI"/>
              </a:rPr>
              <a:t>Seven table scales, 1 to 10 million rows. Each engine judged only against plans the other could also have formed.</a:t>
            </a:r>
          </a:p>
        </p:txBody>
      </p:sp>
      <p:sp>
        <p:nvSpPr>
          <p:cNvPr id="8" name="TextBox 7"/>
          <p:cNvSpPr txBox="1"/>
          <p:nvPr/>
        </p:nvSpPr>
        <p:spPr>
          <a:xfrm>
            <a:off x="10728960" y="6327648"/>
            <a:ext cx="640080" cy="274320"/>
          </a:xfrm>
          <a:prstGeom prst="rect">
            <a:avLst/>
          </a:prstGeom>
          <a:noFill/>
        </p:spPr>
        <p:txBody>
          <a:bodyPr wrap="square" anchor="t" lIns="0" rIns="0" tIns="0" bIns="0">
            <a:spAutoFit/>
          </a:bodyPr>
          <a:lstStyle/>
          <a:p>
            <a:pPr algn="r">
              <a:lnSpc>
                <a:spcPct val="100000"/>
              </a:lnSpc>
            </a:pPr>
            <a:r>
              <a:rPr sz="1000" b="0">
                <a:solidFill>
                  <a:srgbClr val="A8ACB0"/>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66928"/>
            <a:ext cx="10546080" cy="274320"/>
          </a:xfrm>
          <a:prstGeom prst="rect">
            <a:avLst/>
          </a:prstGeom>
          <a:noFill/>
        </p:spPr>
        <p:txBody>
          <a:bodyPr wrap="square" anchor="t" lIns="0" rIns="0" tIns="0" bIns="0">
            <a:spAutoFit/>
          </a:bodyPr>
          <a:lstStyle/>
          <a:p>
            <a:pPr algn="l">
              <a:lnSpc>
                <a:spcPct val="100000"/>
              </a:lnSpc>
            </a:pPr>
            <a:r>
              <a:rPr sz="1050" b="1">
                <a:solidFill>
                  <a:srgbClr val="A8322A"/>
                </a:solidFill>
                <a:latin typeface="Segoe UI"/>
              </a:rPr>
              <a:t>THE PATTERN</a:t>
            </a:r>
          </a:p>
        </p:txBody>
      </p:sp>
      <p:sp>
        <p:nvSpPr>
          <p:cNvPr id="3" name="TextBox 2"/>
          <p:cNvSpPr txBox="1"/>
          <p:nvPr/>
        </p:nvSpPr>
        <p:spPr>
          <a:xfrm>
            <a:off x="822960" y="914400"/>
            <a:ext cx="10546080" cy="1005840"/>
          </a:xfrm>
          <a:prstGeom prst="rect">
            <a:avLst/>
          </a:prstGeom>
          <a:noFill/>
        </p:spPr>
        <p:txBody>
          <a:bodyPr wrap="square" anchor="t" lIns="0" rIns="0" tIns="0" bIns="0">
            <a:spAutoFit/>
          </a:bodyPr>
          <a:lstStyle/>
          <a:p>
            <a:pPr algn="l">
              <a:lnSpc>
                <a:spcPct val="112000"/>
              </a:lnSpc>
            </a:pPr>
            <a:r>
              <a:rPr sz="3000" b="0">
                <a:solidFill>
                  <a:srgbClr val="1A1D21"/>
                </a:solidFill>
                <a:latin typeface="Georgia"/>
              </a:rPr>
              <a:t>Four recommended practices, all four backfire</a:t>
            </a:r>
          </a:p>
        </p:txBody>
      </p:sp>
      <p:sp>
        <p:nvSpPr>
          <p:cNvPr id="4" name="Rectangle 3"/>
          <p:cNvSpPr/>
          <p:nvPr/>
        </p:nvSpPr>
        <p:spPr>
          <a:xfrm>
            <a:off x="822960" y="1874519"/>
            <a:ext cx="10546080" cy="9525"/>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297680" y="1965960"/>
            <a:ext cx="3291840" cy="274320"/>
          </a:xfrm>
          <a:prstGeom prst="rect">
            <a:avLst/>
          </a:prstGeom>
          <a:noFill/>
        </p:spPr>
        <p:txBody>
          <a:bodyPr wrap="square" anchor="t" lIns="0" rIns="0" tIns="0" bIns="0">
            <a:spAutoFit/>
          </a:bodyPr>
          <a:lstStyle/>
          <a:p>
            <a:pPr algn="l">
              <a:lnSpc>
                <a:spcPct val="100000"/>
              </a:lnSpc>
            </a:pPr>
            <a:r>
              <a:rPr sz="1000" b="1">
                <a:solidFill>
                  <a:srgbClr val="70757A"/>
                </a:solidFill>
                <a:latin typeface="Segoe UI"/>
              </a:rPr>
              <a:t>WHAT IT PROMISES</a:t>
            </a:r>
          </a:p>
        </p:txBody>
      </p:sp>
      <p:sp>
        <p:nvSpPr>
          <p:cNvPr id="6" name="TextBox 5"/>
          <p:cNvSpPr txBox="1"/>
          <p:nvPr/>
        </p:nvSpPr>
        <p:spPr>
          <a:xfrm>
            <a:off x="7863840" y="1965960"/>
            <a:ext cx="3474720" cy="274320"/>
          </a:xfrm>
          <a:prstGeom prst="rect">
            <a:avLst/>
          </a:prstGeom>
          <a:noFill/>
        </p:spPr>
        <p:txBody>
          <a:bodyPr wrap="square" anchor="t" lIns="0" rIns="0" tIns="0" bIns="0">
            <a:spAutoFit/>
          </a:bodyPr>
          <a:lstStyle/>
          <a:p>
            <a:pPr algn="l">
              <a:lnSpc>
                <a:spcPct val="100000"/>
              </a:lnSpc>
            </a:pPr>
            <a:r>
              <a:rPr sz="1000" b="1">
                <a:solidFill>
                  <a:srgbClr val="A8322A"/>
                </a:solidFill>
                <a:latin typeface="Segoe UI"/>
              </a:rPr>
              <a:t>WHAT WE MEASURED</a:t>
            </a:r>
          </a:p>
        </p:txBody>
      </p:sp>
      <p:sp>
        <p:nvSpPr>
          <p:cNvPr id="7" name="TextBox 6"/>
          <p:cNvSpPr txBox="1"/>
          <p:nvPr/>
        </p:nvSpPr>
        <p:spPr>
          <a:xfrm>
            <a:off x="822960" y="2377440"/>
            <a:ext cx="3291840" cy="731520"/>
          </a:xfrm>
          <a:prstGeom prst="rect">
            <a:avLst/>
          </a:prstGeom>
          <a:noFill/>
        </p:spPr>
        <p:txBody>
          <a:bodyPr wrap="square" anchor="t" lIns="0" rIns="0" tIns="0" bIns="0">
            <a:spAutoFit/>
          </a:bodyPr>
          <a:lstStyle/>
          <a:p>
            <a:pPr algn="l">
              <a:lnSpc>
                <a:spcPct val="130000"/>
              </a:lnSpc>
            </a:pPr>
            <a:r>
              <a:rPr sz="1550" b="1">
                <a:solidFill>
                  <a:srgbClr val="1A1D21"/>
                </a:solidFill>
                <a:latin typeface="Segoe UI"/>
              </a:rPr>
              <a:t>Extended statistics</a:t>
            </a:r>
          </a:p>
          <a:p>
            <a:pPr algn="l">
              <a:lnSpc>
                <a:spcPct val="130000"/>
              </a:lnSpc>
            </a:pPr>
            <a:r>
              <a:rPr sz="1250" b="0">
                <a:solidFill>
                  <a:srgbClr val="70757A"/>
                </a:solidFill>
                <a:latin typeface="Segoe UI"/>
              </a:rPr>
              <a:t>for correlated columns</a:t>
            </a:r>
          </a:p>
        </p:txBody>
      </p:sp>
      <p:sp>
        <p:nvSpPr>
          <p:cNvPr id="8" name="TextBox 7"/>
          <p:cNvSpPr txBox="1"/>
          <p:nvPr/>
        </p:nvSpPr>
        <p:spPr>
          <a:xfrm>
            <a:off x="4297680" y="2432304"/>
            <a:ext cx="3291840" cy="548640"/>
          </a:xfrm>
          <a:prstGeom prst="rect">
            <a:avLst/>
          </a:prstGeom>
          <a:noFill/>
        </p:spPr>
        <p:txBody>
          <a:bodyPr wrap="square" anchor="t" lIns="0" rIns="0" tIns="0" bIns="0">
            <a:spAutoFit/>
          </a:bodyPr>
          <a:lstStyle/>
          <a:p>
            <a:pPr algn="l">
              <a:lnSpc>
                <a:spcPct val="125000"/>
              </a:lnSpc>
            </a:pPr>
            <a:r>
              <a:rPr sz="1400" b="0">
                <a:solidFill>
                  <a:srgbClr val="1F4E5F"/>
                </a:solidFill>
                <a:latin typeface="Segoe UI"/>
              </a:rPr>
              <a:t>Fixes the estimate 108x</a:t>
            </a:r>
          </a:p>
        </p:txBody>
      </p:sp>
      <p:sp>
        <p:nvSpPr>
          <p:cNvPr id="9" name="TextBox 8"/>
          <p:cNvSpPr txBox="1"/>
          <p:nvPr/>
        </p:nvSpPr>
        <p:spPr>
          <a:xfrm>
            <a:off x="7863840" y="2432304"/>
            <a:ext cx="3474720" cy="548640"/>
          </a:xfrm>
          <a:prstGeom prst="rect">
            <a:avLst/>
          </a:prstGeom>
          <a:noFill/>
        </p:spPr>
        <p:txBody>
          <a:bodyPr wrap="square" anchor="t" lIns="0" rIns="0" tIns="0" bIns="0">
            <a:spAutoFit/>
          </a:bodyPr>
          <a:lstStyle/>
          <a:p>
            <a:pPr algn="l">
              <a:lnSpc>
                <a:spcPct val="125000"/>
              </a:lnSpc>
            </a:pPr>
            <a:r>
              <a:rPr sz="1400" b="1">
                <a:solidFill>
                  <a:srgbClr val="A8322A"/>
                </a:solidFill>
                <a:latin typeface="Segoe UI"/>
              </a:rPr>
              <a:t>Query up to 2.7x slower</a:t>
            </a:r>
          </a:p>
        </p:txBody>
      </p:sp>
      <p:sp>
        <p:nvSpPr>
          <p:cNvPr id="10" name="Rectangle 9"/>
          <p:cNvSpPr/>
          <p:nvPr/>
        </p:nvSpPr>
        <p:spPr>
          <a:xfrm>
            <a:off x="822960" y="3154680"/>
            <a:ext cx="10546080" cy="9525"/>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291840"/>
            <a:ext cx="3291840" cy="731520"/>
          </a:xfrm>
          <a:prstGeom prst="rect">
            <a:avLst/>
          </a:prstGeom>
          <a:noFill/>
        </p:spPr>
        <p:txBody>
          <a:bodyPr wrap="square" anchor="t" lIns="0" rIns="0" tIns="0" bIns="0">
            <a:spAutoFit/>
          </a:bodyPr>
          <a:lstStyle/>
          <a:p>
            <a:pPr algn="l">
              <a:lnSpc>
                <a:spcPct val="130000"/>
              </a:lnSpc>
            </a:pPr>
            <a:r>
              <a:rPr sz="1550" b="1">
                <a:solidFill>
                  <a:srgbClr val="1A1D21"/>
                </a:solidFill>
                <a:latin typeface="Segoe UI"/>
              </a:rPr>
              <a:t>Lower random_page_cost</a:t>
            </a:r>
          </a:p>
          <a:p>
            <a:pPr algn="l">
              <a:lnSpc>
                <a:spcPct val="130000"/>
              </a:lnSpc>
            </a:pPr>
            <a:r>
              <a:rPr sz="1250" b="0">
                <a:solidFill>
                  <a:srgbClr val="70757A"/>
                </a:solidFill>
                <a:latin typeface="Segoe UI"/>
              </a:rPr>
              <a:t>because the disk is an SSD</a:t>
            </a:r>
          </a:p>
        </p:txBody>
      </p:sp>
      <p:sp>
        <p:nvSpPr>
          <p:cNvPr id="12" name="TextBox 11"/>
          <p:cNvSpPr txBox="1"/>
          <p:nvPr/>
        </p:nvSpPr>
        <p:spPr>
          <a:xfrm>
            <a:off x="4297680" y="3346704"/>
            <a:ext cx="3291840" cy="548640"/>
          </a:xfrm>
          <a:prstGeom prst="rect">
            <a:avLst/>
          </a:prstGeom>
          <a:noFill/>
        </p:spPr>
        <p:txBody>
          <a:bodyPr wrap="square" anchor="t" lIns="0" rIns="0" tIns="0" bIns="0">
            <a:spAutoFit/>
          </a:bodyPr>
          <a:lstStyle/>
          <a:p>
            <a:pPr algn="l">
              <a:lnSpc>
                <a:spcPct val="125000"/>
              </a:lnSpc>
            </a:pPr>
            <a:r>
              <a:rPr sz="1400" b="0">
                <a:solidFill>
                  <a:srgbClr val="1F4E5F"/>
                </a:solidFill>
                <a:latin typeface="Segoe UI"/>
              </a:rPr>
              <a:t>Default is already near optimal</a:t>
            </a:r>
          </a:p>
        </p:txBody>
      </p:sp>
      <p:sp>
        <p:nvSpPr>
          <p:cNvPr id="13" name="TextBox 12"/>
          <p:cNvSpPr txBox="1"/>
          <p:nvPr/>
        </p:nvSpPr>
        <p:spPr>
          <a:xfrm>
            <a:off x="7863840" y="3346704"/>
            <a:ext cx="3474720" cy="548640"/>
          </a:xfrm>
          <a:prstGeom prst="rect">
            <a:avLst/>
          </a:prstGeom>
          <a:noFill/>
        </p:spPr>
        <p:txBody>
          <a:bodyPr wrap="square" anchor="t" lIns="0" rIns="0" tIns="0" bIns="0">
            <a:spAutoFit/>
          </a:bodyPr>
          <a:lstStyle/>
          <a:p>
            <a:pPr algn="l">
              <a:lnSpc>
                <a:spcPct val="125000"/>
              </a:lnSpc>
            </a:pPr>
            <a:r>
              <a:rPr sz="1400" b="1">
                <a:solidFill>
                  <a:srgbClr val="A8322A"/>
                </a:solidFill>
                <a:latin typeface="Segoe UI"/>
              </a:rPr>
              <a:t>Lowering it 2.3x worse</a:t>
            </a:r>
          </a:p>
        </p:txBody>
      </p:sp>
      <p:sp>
        <p:nvSpPr>
          <p:cNvPr id="14" name="Rectangle 13"/>
          <p:cNvSpPr/>
          <p:nvPr/>
        </p:nvSpPr>
        <p:spPr>
          <a:xfrm>
            <a:off x="822960" y="4069080"/>
            <a:ext cx="10546080" cy="9525"/>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4206240"/>
            <a:ext cx="3291840" cy="731520"/>
          </a:xfrm>
          <a:prstGeom prst="rect">
            <a:avLst/>
          </a:prstGeom>
          <a:noFill/>
        </p:spPr>
        <p:txBody>
          <a:bodyPr wrap="square" anchor="t" lIns="0" rIns="0" tIns="0" bIns="0">
            <a:spAutoFit/>
          </a:bodyPr>
          <a:lstStyle/>
          <a:p>
            <a:pPr algn="l">
              <a:lnSpc>
                <a:spcPct val="130000"/>
              </a:lnSpc>
            </a:pPr>
            <a:r>
              <a:rPr sz="1550" b="1">
                <a:solidFill>
                  <a:srgbClr val="1A1D21"/>
                </a:solidFill>
                <a:latin typeface="Segoe UI"/>
              </a:rPr>
              <a:t>Add a BRIN index</a:t>
            </a:r>
          </a:p>
          <a:p>
            <a:pPr algn="l">
              <a:lnSpc>
                <a:spcPct val="130000"/>
              </a:lnSpc>
            </a:pPr>
            <a:r>
              <a:rPr sz="1250" b="0">
                <a:solidFill>
                  <a:srgbClr val="70757A"/>
                </a:solidFill>
                <a:latin typeface="Segoe UI"/>
              </a:rPr>
              <a:t>it is small and cheap</a:t>
            </a:r>
          </a:p>
        </p:txBody>
      </p:sp>
      <p:sp>
        <p:nvSpPr>
          <p:cNvPr id="16" name="TextBox 15"/>
          <p:cNvSpPr txBox="1"/>
          <p:nvPr/>
        </p:nvSpPr>
        <p:spPr>
          <a:xfrm>
            <a:off x="4297680" y="4261104"/>
            <a:ext cx="3291840" cy="548640"/>
          </a:xfrm>
          <a:prstGeom prst="rect">
            <a:avLst/>
          </a:prstGeom>
          <a:noFill/>
        </p:spPr>
        <p:txBody>
          <a:bodyPr wrap="square" anchor="t" lIns="0" rIns="0" tIns="0" bIns="0">
            <a:spAutoFit/>
          </a:bodyPr>
          <a:lstStyle/>
          <a:p>
            <a:pPr algn="l">
              <a:lnSpc>
                <a:spcPct val="125000"/>
              </a:lnSpc>
            </a:pPr>
            <a:r>
              <a:rPr sz="1400" b="0">
                <a:solidFill>
                  <a:srgbClr val="1F4E5F"/>
                </a:solidFill>
                <a:latin typeface="Segoe UI"/>
              </a:rPr>
              <a:t>Costs almost no space</a:t>
            </a:r>
          </a:p>
        </p:txBody>
      </p:sp>
      <p:sp>
        <p:nvSpPr>
          <p:cNvPr id="17" name="TextBox 16"/>
          <p:cNvSpPr txBox="1"/>
          <p:nvPr/>
        </p:nvSpPr>
        <p:spPr>
          <a:xfrm>
            <a:off x="7863840" y="4261104"/>
            <a:ext cx="3474720" cy="548640"/>
          </a:xfrm>
          <a:prstGeom prst="rect">
            <a:avLst/>
          </a:prstGeom>
          <a:noFill/>
        </p:spPr>
        <p:txBody>
          <a:bodyPr wrap="square" anchor="t" lIns="0" rIns="0" tIns="0" bIns="0">
            <a:spAutoFit/>
          </a:bodyPr>
          <a:lstStyle/>
          <a:p>
            <a:pPr algn="l">
              <a:lnSpc>
                <a:spcPct val="125000"/>
              </a:lnSpc>
            </a:pPr>
            <a:r>
              <a:rPr sz="1400" b="1">
                <a:solidFill>
                  <a:srgbClr val="A8322A"/>
                </a:solidFill>
                <a:latin typeface="Segoe UI"/>
              </a:rPr>
              <a:t>Bad choices 2.3% to 73.3%</a:t>
            </a:r>
          </a:p>
        </p:txBody>
      </p:sp>
      <p:sp>
        <p:nvSpPr>
          <p:cNvPr id="18" name="Rectangle 17"/>
          <p:cNvSpPr/>
          <p:nvPr/>
        </p:nvSpPr>
        <p:spPr>
          <a:xfrm>
            <a:off x="822960" y="4983480"/>
            <a:ext cx="10546080" cy="9525"/>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5120640"/>
            <a:ext cx="3291840" cy="731520"/>
          </a:xfrm>
          <a:prstGeom prst="rect">
            <a:avLst/>
          </a:prstGeom>
          <a:noFill/>
        </p:spPr>
        <p:txBody>
          <a:bodyPr wrap="square" anchor="t" lIns="0" rIns="0" tIns="0" bIns="0">
            <a:spAutoFit/>
          </a:bodyPr>
          <a:lstStyle/>
          <a:p>
            <a:pPr algn="l">
              <a:lnSpc>
                <a:spcPct val="130000"/>
              </a:lnSpc>
            </a:pPr>
            <a:r>
              <a:rPr sz="1550" b="1">
                <a:solidFill>
                  <a:srgbClr val="1A1D21"/>
                </a:solidFill>
                <a:latin typeface="Segoe UI"/>
              </a:rPr>
              <a:t>Enable Multi-Range Read</a:t>
            </a:r>
          </a:p>
          <a:p>
            <a:pPr algn="l">
              <a:lnSpc>
                <a:spcPct val="130000"/>
              </a:lnSpc>
            </a:pPr>
            <a:r>
              <a:rPr sz="1250" b="0">
                <a:solidFill>
                  <a:srgbClr val="70757A"/>
                </a:solidFill>
                <a:latin typeface="Segoe UI"/>
              </a:rPr>
              <a:t>MariaDB, ships switched off</a:t>
            </a:r>
          </a:p>
        </p:txBody>
      </p:sp>
      <p:sp>
        <p:nvSpPr>
          <p:cNvPr id="20" name="TextBox 19"/>
          <p:cNvSpPr txBox="1"/>
          <p:nvPr/>
        </p:nvSpPr>
        <p:spPr>
          <a:xfrm>
            <a:off x="4297680" y="5175504"/>
            <a:ext cx="3291840" cy="548640"/>
          </a:xfrm>
          <a:prstGeom prst="rect">
            <a:avLst/>
          </a:prstGeom>
          <a:noFill/>
        </p:spPr>
        <p:txBody>
          <a:bodyPr wrap="square" anchor="t" lIns="0" rIns="0" tIns="0" bIns="0">
            <a:spAutoFit/>
          </a:bodyPr>
          <a:lstStyle/>
          <a:p>
            <a:pPr algn="l">
              <a:lnSpc>
                <a:spcPct val="125000"/>
              </a:lnSpc>
            </a:pPr>
            <a:r>
              <a:rPr sz="1400" b="0">
                <a:solidFill>
                  <a:srgbClr val="1F4E5F"/>
                </a:solidFill>
                <a:latin typeface="Segoe UI"/>
              </a:rPr>
              <a:t>The mechanism does engage</a:t>
            </a:r>
          </a:p>
        </p:txBody>
      </p:sp>
      <p:sp>
        <p:nvSpPr>
          <p:cNvPr id="21" name="TextBox 20"/>
          <p:cNvSpPr txBox="1"/>
          <p:nvPr/>
        </p:nvSpPr>
        <p:spPr>
          <a:xfrm>
            <a:off x="7863840" y="5175504"/>
            <a:ext cx="3474720" cy="548640"/>
          </a:xfrm>
          <a:prstGeom prst="rect">
            <a:avLst/>
          </a:prstGeom>
          <a:noFill/>
        </p:spPr>
        <p:txBody>
          <a:bodyPr wrap="square" anchor="t" lIns="0" rIns="0" tIns="0" bIns="0">
            <a:spAutoFit/>
          </a:bodyPr>
          <a:lstStyle/>
          <a:p>
            <a:pPr algn="l">
              <a:lnSpc>
                <a:spcPct val="125000"/>
              </a:lnSpc>
            </a:pPr>
            <a:r>
              <a:rPr sz="1400" b="1">
                <a:solidFill>
                  <a:srgbClr val="A8322A"/>
                </a:solidFill>
                <a:latin typeface="Segoe UI"/>
              </a:rPr>
              <a:t>Workload 7% slower</a:t>
            </a:r>
          </a:p>
        </p:txBody>
      </p:sp>
      <p:sp>
        <p:nvSpPr>
          <p:cNvPr id="22" name="TextBox 21"/>
          <p:cNvSpPr txBox="1"/>
          <p:nvPr/>
        </p:nvSpPr>
        <p:spPr>
          <a:xfrm>
            <a:off x="822960" y="5943600"/>
            <a:ext cx="10546080" cy="457200"/>
          </a:xfrm>
          <a:prstGeom prst="rect">
            <a:avLst/>
          </a:prstGeom>
          <a:noFill/>
        </p:spPr>
        <p:txBody>
          <a:bodyPr wrap="square" anchor="t" lIns="0" rIns="0" tIns="0" bIns="0">
            <a:spAutoFit/>
          </a:bodyPr>
          <a:lstStyle/>
          <a:p>
            <a:pPr algn="l">
              <a:lnSpc>
                <a:spcPct val="125000"/>
              </a:lnSpc>
            </a:pPr>
            <a:r>
              <a:rPr sz="1500" b="1">
                <a:solidFill>
                  <a:srgbClr val="1A1D21"/>
                </a:solidFill>
                <a:latin typeface="Segoe UI"/>
              </a:rPr>
              <a:t>In three of four the advice delivers exactly what it promises, and the plan gets worse anyway.</a:t>
            </a:r>
          </a:p>
        </p:txBody>
      </p:sp>
      <p:sp>
        <p:nvSpPr>
          <p:cNvPr id="23" name="TextBox 22"/>
          <p:cNvSpPr txBox="1"/>
          <p:nvPr/>
        </p:nvSpPr>
        <p:spPr>
          <a:xfrm>
            <a:off x="10728960" y="6327648"/>
            <a:ext cx="640080" cy="274320"/>
          </a:xfrm>
          <a:prstGeom prst="rect">
            <a:avLst/>
          </a:prstGeom>
          <a:noFill/>
        </p:spPr>
        <p:txBody>
          <a:bodyPr wrap="square" anchor="t" lIns="0" rIns="0" tIns="0" bIns="0">
            <a:spAutoFit/>
          </a:bodyPr>
          <a:lstStyle/>
          <a:p>
            <a:pPr algn="r">
              <a:lnSpc>
                <a:spcPct val="100000"/>
              </a:lnSpc>
            </a:pPr>
            <a:r>
              <a:rPr sz="1000" b="0">
                <a:solidFill>
                  <a:srgbClr val="A8ACB0"/>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22960" y="566928"/>
            <a:ext cx="10546080" cy="274320"/>
          </a:xfrm>
          <a:prstGeom prst="rect">
            <a:avLst/>
          </a:prstGeom>
          <a:noFill/>
        </p:spPr>
        <p:txBody>
          <a:bodyPr wrap="square" anchor="t" lIns="0" rIns="0" tIns="0" bIns="0">
            <a:spAutoFit/>
          </a:bodyPr>
          <a:lstStyle/>
          <a:p>
            <a:pPr algn="l">
              <a:lnSpc>
                <a:spcPct val="100000"/>
              </a:lnSpc>
            </a:pPr>
            <a:r>
              <a:rPr sz="1050" b="1">
                <a:solidFill>
                  <a:srgbClr val="A8322A"/>
                </a:solidFill>
                <a:latin typeface="Segoe UI"/>
              </a:rPr>
              <a:t>WHAT WE RECOMMEND</a:t>
            </a:r>
          </a:p>
        </p:txBody>
      </p:sp>
      <p:sp>
        <p:nvSpPr>
          <p:cNvPr id="3" name="TextBox 2"/>
          <p:cNvSpPr txBox="1"/>
          <p:nvPr/>
        </p:nvSpPr>
        <p:spPr>
          <a:xfrm>
            <a:off x="822960" y="914400"/>
            <a:ext cx="10546080" cy="1005840"/>
          </a:xfrm>
          <a:prstGeom prst="rect">
            <a:avLst/>
          </a:prstGeom>
          <a:noFill/>
        </p:spPr>
        <p:txBody>
          <a:bodyPr wrap="square" anchor="t" lIns="0" rIns="0" tIns="0" bIns="0">
            <a:spAutoFit/>
          </a:bodyPr>
          <a:lstStyle/>
          <a:p>
            <a:pPr algn="l">
              <a:lnSpc>
                <a:spcPct val="112000"/>
              </a:lnSpc>
            </a:pPr>
            <a:r>
              <a:rPr sz="3000" b="0">
                <a:solidFill>
                  <a:srgbClr val="1A1D21"/>
                </a:solidFill>
                <a:latin typeface="Georgia"/>
              </a:rPr>
              <a:t>What to do, and what not to do</a:t>
            </a:r>
          </a:p>
        </p:txBody>
      </p:sp>
      <p:sp>
        <p:nvSpPr>
          <p:cNvPr id="4" name="Rectangle 3"/>
          <p:cNvSpPr/>
          <p:nvPr/>
        </p:nvSpPr>
        <p:spPr>
          <a:xfrm>
            <a:off x="822960" y="1828800"/>
            <a:ext cx="10546080" cy="9525"/>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148840"/>
            <a:ext cx="5303520" cy="320040"/>
          </a:xfrm>
          <a:prstGeom prst="rect">
            <a:avLst/>
          </a:prstGeom>
          <a:noFill/>
        </p:spPr>
        <p:txBody>
          <a:bodyPr wrap="square" anchor="t" lIns="0" rIns="0" tIns="0" bIns="0">
            <a:spAutoFit/>
          </a:bodyPr>
          <a:lstStyle/>
          <a:p>
            <a:pPr algn="l">
              <a:lnSpc>
                <a:spcPct val="100000"/>
              </a:lnSpc>
            </a:pPr>
            <a:r>
              <a:rPr sz="1300" b="1">
                <a:solidFill>
                  <a:srgbClr val="1E5B3A"/>
                </a:solidFill>
                <a:latin typeface="Segoe UI"/>
              </a:rPr>
              <a:t>DO</a:t>
            </a:r>
          </a:p>
        </p:txBody>
      </p:sp>
      <p:sp>
        <p:nvSpPr>
          <p:cNvPr id="6" name="TextBox 5"/>
          <p:cNvSpPr txBox="1"/>
          <p:nvPr/>
        </p:nvSpPr>
        <p:spPr>
          <a:xfrm>
            <a:off x="822960" y="2560320"/>
            <a:ext cx="274320" cy="365760"/>
          </a:xfrm>
          <a:prstGeom prst="rect">
            <a:avLst/>
          </a:prstGeom>
          <a:noFill/>
        </p:spPr>
        <p:txBody>
          <a:bodyPr wrap="square" anchor="t" lIns="0" rIns="0" tIns="0" bIns="0">
            <a:spAutoFit/>
          </a:bodyPr>
          <a:lstStyle/>
          <a:p>
            <a:pPr algn="l">
              <a:lnSpc>
                <a:spcPct val="100000"/>
              </a:lnSpc>
            </a:pPr>
            <a:r>
              <a:rPr sz="1500" b="1">
                <a:solidFill>
                  <a:srgbClr val="1E5B3A"/>
                </a:solidFill>
                <a:latin typeface="Segoe UI"/>
              </a:rPr>
              <a:t>+</a:t>
            </a:r>
          </a:p>
        </p:txBody>
      </p:sp>
      <p:sp>
        <p:nvSpPr>
          <p:cNvPr id="7" name="TextBox 6"/>
          <p:cNvSpPr txBox="1"/>
          <p:nvPr/>
        </p:nvSpPr>
        <p:spPr>
          <a:xfrm>
            <a:off x="1170432" y="2542032"/>
            <a:ext cx="4937760" cy="822960"/>
          </a:xfrm>
          <a:prstGeom prst="rect">
            <a:avLst/>
          </a:prstGeom>
          <a:noFill/>
        </p:spPr>
        <p:txBody>
          <a:bodyPr wrap="square" anchor="t" lIns="0" rIns="0" tIns="0" bIns="0">
            <a:spAutoFit/>
          </a:bodyPr>
          <a:lstStyle/>
          <a:p>
            <a:pPr algn="l">
              <a:lnSpc>
                <a:spcPct val="128000"/>
              </a:lnSpc>
            </a:pPr>
            <a:r>
              <a:rPr sz="1450" b="1">
                <a:solidFill>
                  <a:srgbClr val="1A1D21"/>
                </a:solidFill>
                <a:latin typeface="Segoe UI"/>
              </a:rPr>
              <a:t>Measure the whole workload, not one query</a:t>
            </a:r>
          </a:p>
          <a:p>
            <a:pPr algn="l">
              <a:lnSpc>
                <a:spcPct val="128000"/>
              </a:lnSpc>
            </a:pPr>
            <a:r>
              <a:rPr sz="1250" b="0">
                <a:solidFill>
                  <a:srgbClr val="70757A"/>
                </a:solidFill>
                <a:latin typeface="Segoe UI"/>
              </a:rPr>
              <a:t>A 24x tuning effect vanished across the workload.</a:t>
            </a:r>
          </a:p>
        </p:txBody>
      </p:sp>
      <p:sp>
        <p:nvSpPr>
          <p:cNvPr id="8" name="TextBox 7"/>
          <p:cNvSpPr txBox="1"/>
          <p:nvPr/>
        </p:nvSpPr>
        <p:spPr>
          <a:xfrm>
            <a:off x="822960" y="3401568"/>
            <a:ext cx="274320" cy="365760"/>
          </a:xfrm>
          <a:prstGeom prst="rect">
            <a:avLst/>
          </a:prstGeom>
          <a:noFill/>
        </p:spPr>
        <p:txBody>
          <a:bodyPr wrap="square" anchor="t" lIns="0" rIns="0" tIns="0" bIns="0">
            <a:spAutoFit/>
          </a:bodyPr>
          <a:lstStyle/>
          <a:p>
            <a:pPr algn="l">
              <a:lnSpc>
                <a:spcPct val="100000"/>
              </a:lnSpc>
            </a:pPr>
            <a:r>
              <a:rPr sz="1500" b="1">
                <a:solidFill>
                  <a:srgbClr val="1E5B3A"/>
                </a:solidFill>
                <a:latin typeface="Segoe UI"/>
              </a:rPr>
              <a:t>+</a:t>
            </a:r>
          </a:p>
        </p:txBody>
      </p:sp>
      <p:sp>
        <p:nvSpPr>
          <p:cNvPr id="9" name="TextBox 8"/>
          <p:cNvSpPr txBox="1"/>
          <p:nvPr/>
        </p:nvSpPr>
        <p:spPr>
          <a:xfrm>
            <a:off x="1170432" y="3383280"/>
            <a:ext cx="4937760" cy="822960"/>
          </a:xfrm>
          <a:prstGeom prst="rect">
            <a:avLst/>
          </a:prstGeom>
          <a:noFill/>
        </p:spPr>
        <p:txBody>
          <a:bodyPr wrap="square" anchor="t" lIns="0" rIns="0" tIns="0" bIns="0">
            <a:spAutoFit/>
          </a:bodyPr>
          <a:lstStyle/>
          <a:p>
            <a:pPr algn="l">
              <a:lnSpc>
                <a:spcPct val="128000"/>
              </a:lnSpc>
            </a:pPr>
            <a:r>
              <a:rPr sz="1450" b="1">
                <a:solidFill>
                  <a:srgbClr val="1A1D21"/>
                </a:solidFill>
                <a:latin typeface="Segoe UI"/>
              </a:rPr>
              <a:t>Test more than two table sizes</a:t>
            </a:r>
          </a:p>
          <a:p>
            <a:pPr algn="l">
              <a:lnSpc>
                <a:spcPct val="128000"/>
              </a:lnSpc>
            </a:pPr>
            <a:r>
              <a:rPr sz="1250" b="0">
                <a:solidFill>
                  <a:srgbClr val="70757A"/>
                </a:solidFill>
                <a:latin typeface="Segoe UI"/>
              </a:rPr>
              <a:t>Frequency and severity moved in opposite directions.</a:t>
            </a:r>
          </a:p>
        </p:txBody>
      </p:sp>
      <p:sp>
        <p:nvSpPr>
          <p:cNvPr id="10" name="TextBox 9"/>
          <p:cNvSpPr txBox="1"/>
          <p:nvPr/>
        </p:nvSpPr>
        <p:spPr>
          <a:xfrm>
            <a:off x="822960" y="4242816"/>
            <a:ext cx="274320" cy="365760"/>
          </a:xfrm>
          <a:prstGeom prst="rect">
            <a:avLst/>
          </a:prstGeom>
          <a:noFill/>
        </p:spPr>
        <p:txBody>
          <a:bodyPr wrap="square" anchor="t" lIns="0" rIns="0" tIns="0" bIns="0">
            <a:spAutoFit/>
          </a:bodyPr>
          <a:lstStyle/>
          <a:p>
            <a:pPr algn="l">
              <a:lnSpc>
                <a:spcPct val="100000"/>
              </a:lnSpc>
            </a:pPr>
            <a:r>
              <a:rPr sz="1500" b="1">
                <a:solidFill>
                  <a:srgbClr val="1E5B3A"/>
                </a:solidFill>
                <a:latin typeface="Segoe UI"/>
              </a:rPr>
              <a:t>+</a:t>
            </a:r>
          </a:p>
        </p:txBody>
      </p:sp>
      <p:sp>
        <p:nvSpPr>
          <p:cNvPr id="11" name="TextBox 10"/>
          <p:cNvSpPr txBox="1"/>
          <p:nvPr/>
        </p:nvSpPr>
        <p:spPr>
          <a:xfrm>
            <a:off x="1170432" y="4224528"/>
            <a:ext cx="4937760" cy="822960"/>
          </a:xfrm>
          <a:prstGeom prst="rect">
            <a:avLst/>
          </a:prstGeom>
          <a:noFill/>
        </p:spPr>
        <p:txBody>
          <a:bodyPr wrap="square" anchor="t" lIns="0" rIns="0" tIns="0" bIns="0">
            <a:spAutoFit/>
          </a:bodyPr>
          <a:lstStyle/>
          <a:p>
            <a:pPr algn="l">
              <a:lnSpc>
                <a:spcPct val="128000"/>
              </a:lnSpc>
            </a:pPr>
            <a:r>
              <a:rPr sz="1450" b="1">
                <a:solidFill>
                  <a:srgbClr val="1A1D21"/>
                </a:solidFill>
                <a:latin typeface="Segoe UI"/>
              </a:rPr>
              <a:t>Report how often and how badly, separately</a:t>
            </a:r>
          </a:p>
          <a:p>
            <a:pPr algn="l">
              <a:lnSpc>
                <a:spcPct val="128000"/>
              </a:lnSpc>
            </a:pPr>
            <a:r>
              <a:rPr sz="1250" b="0">
                <a:solidFill>
                  <a:srgbClr val="70757A"/>
                </a:solidFill>
                <a:latin typeface="Segoe UI"/>
              </a:rPr>
              <a:t>One number hides which engine is safer to run.</a:t>
            </a:r>
          </a:p>
        </p:txBody>
      </p:sp>
      <p:sp>
        <p:nvSpPr>
          <p:cNvPr id="12" name="TextBox 11"/>
          <p:cNvSpPr txBox="1"/>
          <p:nvPr/>
        </p:nvSpPr>
        <p:spPr>
          <a:xfrm>
            <a:off x="822960" y="5084064"/>
            <a:ext cx="274320" cy="365760"/>
          </a:xfrm>
          <a:prstGeom prst="rect">
            <a:avLst/>
          </a:prstGeom>
          <a:noFill/>
        </p:spPr>
        <p:txBody>
          <a:bodyPr wrap="square" anchor="t" lIns="0" rIns="0" tIns="0" bIns="0">
            <a:spAutoFit/>
          </a:bodyPr>
          <a:lstStyle/>
          <a:p>
            <a:pPr algn="l">
              <a:lnSpc>
                <a:spcPct val="100000"/>
              </a:lnSpc>
            </a:pPr>
            <a:r>
              <a:rPr sz="1500" b="1">
                <a:solidFill>
                  <a:srgbClr val="1E5B3A"/>
                </a:solidFill>
                <a:latin typeface="Segoe UI"/>
              </a:rPr>
              <a:t>+</a:t>
            </a:r>
          </a:p>
        </p:txBody>
      </p:sp>
      <p:sp>
        <p:nvSpPr>
          <p:cNvPr id="13" name="TextBox 12"/>
          <p:cNvSpPr txBox="1"/>
          <p:nvPr/>
        </p:nvSpPr>
        <p:spPr>
          <a:xfrm>
            <a:off x="1170432" y="5065776"/>
            <a:ext cx="4937760" cy="822960"/>
          </a:xfrm>
          <a:prstGeom prst="rect">
            <a:avLst/>
          </a:prstGeom>
          <a:noFill/>
        </p:spPr>
        <p:txBody>
          <a:bodyPr wrap="square" anchor="t" lIns="0" rIns="0" tIns="0" bIns="0">
            <a:spAutoFit/>
          </a:bodyPr>
          <a:lstStyle/>
          <a:p>
            <a:pPr algn="l">
              <a:lnSpc>
                <a:spcPct val="128000"/>
              </a:lnSpc>
            </a:pPr>
            <a:r>
              <a:rPr sz="1450" b="1">
                <a:solidFill>
                  <a:srgbClr val="1A1D21"/>
                </a:solidFill>
                <a:latin typeface="Segoe UI"/>
              </a:rPr>
              <a:t>Keep shipped defaults until measured otherwise</a:t>
            </a:r>
          </a:p>
          <a:p>
            <a:pPr algn="l">
              <a:lnSpc>
                <a:spcPct val="128000"/>
              </a:lnSpc>
            </a:pPr>
            <a:r>
              <a:rPr sz="1250" b="0">
                <a:solidFill>
                  <a:srgbClr val="70757A"/>
                </a:solidFill>
                <a:latin typeface="Segoe UI"/>
              </a:rPr>
              <a:t>The default random_page_cost was within 6% of optimal.</a:t>
            </a:r>
          </a:p>
        </p:txBody>
      </p:sp>
      <p:sp>
        <p:nvSpPr>
          <p:cNvPr id="14" name="TextBox 13"/>
          <p:cNvSpPr txBox="1"/>
          <p:nvPr/>
        </p:nvSpPr>
        <p:spPr>
          <a:xfrm>
            <a:off x="6583680" y="2148840"/>
            <a:ext cx="4754880" cy="320040"/>
          </a:xfrm>
          <a:prstGeom prst="rect">
            <a:avLst/>
          </a:prstGeom>
          <a:noFill/>
        </p:spPr>
        <p:txBody>
          <a:bodyPr wrap="square" anchor="t" lIns="0" rIns="0" tIns="0" bIns="0">
            <a:spAutoFit/>
          </a:bodyPr>
          <a:lstStyle/>
          <a:p>
            <a:pPr algn="l">
              <a:lnSpc>
                <a:spcPct val="100000"/>
              </a:lnSpc>
            </a:pPr>
            <a:r>
              <a:rPr sz="1300" b="1">
                <a:solidFill>
                  <a:srgbClr val="A8322A"/>
                </a:solidFill>
                <a:latin typeface="Segoe UI"/>
              </a:rPr>
              <a:t>DO NOT</a:t>
            </a:r>
          </a:p>
        </p:txBody>
      </p:sp>
      <p:sp>
        <p:nvSpPr>
          <p:cNvPr id="15" name="TextBox 14"/>
          <p:cNvSpPr txBox="1"/>
          <p:nvPr/>
        </p:nvSpPr>
        <p:spPr>
          <a:xfrm>
            <a:off x="6583680" y="2560320"/>
            <a:ext cx="274320" cy="365760"/>
          </a:xfrm>
          <a:prstGeom prst="rect">
            <a:avLst/>
          </a:prstGeom>
          <a:noFill/>
        </p:spPr>
        <p:txBody>
          <a:bodyPr wrap="square" anchor="t" lIns="0" rIns="0" tIns="0" bIns="0">
            <a:spAutoFit/>
          </a:bodyPr>
          <a:lstStyle/>
          <a:p>
            <a:pPr algn="l">
              <a:lnSpc>
                <a:spcPct val="100000"/>
              </a:lnSpc>
            </a:pPr>
            <a:r>
              <a:rPr sz="1500" b="1">
                <a:solidFill>
                  <a:srgbClr val="A8322A"/>
                </a:solidFill>
                <a:latin typeface="Segoe UI"/>
              </a:rPr>
              <a:t>–</a:t>
            </a:r>
          </a:p>
        </p:txBody>
      </p:sp>
      <p:sp>
        <p:nvSpPr>
          <p:cNvPr id="16" name="TextBox 15"/>
          <p:cNvSpPr txBox="1"/>
          <p:nvPr/>
        </p:nvSpPr>
        <p:spPr>
          <a:xfrm>
            <a:off x="6931152" y="2542032"/>
            <a:ext cx="4434840" cy="822960"/>
          </a:xfrm>
          <a:prstGeom prst="rect">
            <a:avLst/>
          </a:prstGeom>
          <a:noFill/>
        </p:spPr>
        <p:txBody>
          <a:bodyPr wrap="square" anchor="t" lIns="0" rIns="0" tIns="0" bIns="0">
            <a:spAutoFit/>
          </a:bodyPr>
          <a:lstStyle/>
          <a:p>
            <a:pPr algn="l">
              <a:lnSpc>
                <a:spcPct val="128000"/>
              </a:lnSpc>
            </a:pPr>
            <a:r>
              <a:rPr sz="1450" b="1">
                <a:solidFill>
                  <a:srgbClr val="1A1D21"/>
                </a:solidFill>
                <a:latin typeface="Segoe UI"/>
              </a:rPr>
              <a:t>Add a BRIN index next to a B-tree</a:t>
            </a:r>
          </a:p>
          <a:p>
            <a:pPr algn="l">
              <a:lnSpc>
                <a:spcPct val="128000"/>
              </a:lnSpc>
            </a:pPr>
            <a:r>
              <a:rPr sz="1250" b="0">
                <a:solidFill>
                  <a:srgbClr val="70757A"/>
                </a:solidFill>
                <a:latin typeface="Segoe UI"/>
              </a:rPr>
              <a:t>Same column, table in memory: bad choices 2.3% to 73.3%, worst 194x.</a:t>
            </a:r>
          </a:p>
        </p:txBody>
      </p:sp>
      <p:sp>
        <p:nvSpPr>
          <p:cNvPr id="17" name="TextBox 16"/>
          <p:cNvSpPr txBox="1"/>
          <p:nvPr/>
        </p:nvSpPr>
        <p:spPr>
          <a:xfrm>
            <a:off x="6583680" y="3401568"/>
            <a:ext cx="274320" cy="365760"/>
          </a:xfrm>
          <a:prstGeom prst="rect">
            <a:avLst/>
          </a:prstGeom>
          <a:noFill/>
        </p:spPr>
        <p:txBody>
          <a:bodyPr wrap="square" anchor="t" lIns="0" rIns="0" tIns="0" bIns="0">
            <a:spAutoFit/>
          </a:bodyPr>
          <a:lstStyle/>
          <a:p>
            <a:pPr algn="l">
              <a:lnSpc>
                <a:spcPct val="100000"/>
              </a:lnSpc>
            </a:pPr>
            <a:r>
              <a:rPr sz="1500" b="1">
                <a:solidFill>
                  <a:srgbClr val="A8322A"/>
                </a:solidFill>
                <a:latin typeface="Segoe UI"/>
              </a:rPr>
              <a:t>–</a:t>
            </a:r>
          </a:p>
        </p:txBody>
      </p:sp>
      <p:sp>
        <p:nvSpPr>
          <p:cNvPr id="18" name="TextBox 17"/>
          <p:cNvSpPr txBox="1"/>
          <p:nvPr/>
        </p:nvSpPr>
        <p:spPr>
          <a:xfrm>
            <a:off x="6931152" y="3383280"/>
            <a:ext cx="4434840" cy="822960"/>
          </a:xfrm>
          <a:prstGeom prst="rect">
            <a:avLst/>
          </a:prstGeom>
          <a:noFill/>
        </p:spPr>
        <p:txBody>
          <a:bodyPr wrap="square" anchor="t" lIns="0" rIns="0" tIns="0" bIns="0">
            <a:spAutoFit/>
          </a:bodyPr>
          <a:lstStyle/>
          <a:p>
            <a:pPr algn="l">
              <a:lnSpc>
                <a:spcPct val="128000"/>
              </a:lnSpc>
            </a:pPr>
            <a:r>
              <a:rPr sz="1450" b="1">
                <a:solidFill>
                  <a:srgbClr val="1A1D21"/>
                </a:solidFill>
                <a:latin typeface="Segoe UI"/>
              </a:rPr>
              <a:t>Add extended statistics for a faster plan</a:t>
            </a:r>
          </a:p>
          <a:p>
            <a:pPr algn="l">
              <a:lnSpc>
                <a:spcPct val="128000"/>
              </a:lnSpc>
            </a:pPr>
            <a:r>
              <a:rPr sz="1250" b="0">
                <a:solidFill>
                  <a:srgbClr val="70757A"/>
                </a:solidFill>
                <a:latin typeface="Segoe UI"/>
              </a:rPr>
              <a:t>Estimate improved 108x, query 1.3x to 2.7x slower.</a:t>
            </a:r>
          </a:p>
        </p:txBody>
      </p:sp>
      <p:sp>
        <p:nvSpPr>
          <p:cNvPr id="19" name="TextBox 18"/>
          <p:cNvSpPr txBox="1"/>
          <p:nvPr/>
        </p:nvSpPr>
        <p:spPr>
          <a:xfrm>
            <a:off x="6583680" y="4242816"/>
            <a:ext cx="274320" cy="365760"/>
          </a:xfrm>
          <a:prstGeom prst="rect">
            <a:avLst/>
          </a:prstGeom>
          <a:noFill/>
        </p:spPr>
        <p:txBody>
          <a:bodyPr wrap="square" anchor="t" lIns="0" rIns="0" tIns="0" bIns="0">
            <a:spAutoFit/>
          </a:bodyPr>
          <a:lstStyle/>
          <a:p>
            <a:pPr algn="l">
              <a:lnSpc>
                <a:spcPct val="100000"/>
              </a:lnSpc>
            </a:pPr>
            <a:r>
              <a:rPr sz="1500" b="1">
                <a:solidFill>
                  <a:srgbClr val="A8322A"/>
                </a:solidFill>
                <a:latin typeface="Segoe UI"/>
              </a:rPr>
              <a:t>–</a:t>
            </a:r>
          </a:p>
        </p:txBody>
      </p:sp>
      <p:sp>
        <p:nvSpPr>
          <p:cNvPr id="20" name="TextBox 19"/>
          <p:cNvSpPr txBox="1"/>
          <p:nvPr/>
        </p:nvSpPr>
        <p:spPr>
          <a:xfrm>
            <a:off x="6931152" y="4224528"/>
            <a:ext cx="4434840" cy="822960"/>
          </a:xfrm>
          <a:prstGeom prst="rect">
            <a:avLst/>
          </a:prstGeom>
          <a:noFill/>
        </p:spPr>
        <p:txBody>
          <a:bodyPr wrap="square" anchor="t" lIns="0" rIns="0" tIns="0" bIns="0">
            <a:spAutoFit/>
          </a:bodyPr>
          <a:lstStyle/>
          <a:p>
            <a:pPr algn="l">
              <a:lnSpc>
                <a:spcPct val="128000"/>
              </a:lnSpc>
            </a:pPr>
            <a:r>
              <a:rPr sz="1450" b="1">
                <a:solidFill>
                  <a:srgbClr val="1A1D21"/>
                </a:solidFill>
                <a:latin typeface="Segoe UI"/>
              </a:rPr>
              <a:t>Lower random_page_cost for an SSD</a:t>
            </a:r>
          </a:p>
          <a:p>
            <a:pPr algn="l">
              <a:lnSpc>
                <a:spcPct val="128000"/>
              </a:lnSpc>
            </a:pPr>
            <a:r>
              <a:rPr sz="1250" b="0">
                <a:solidFill>
                  <a:srgbClr val="70757A"/>
                </a:solidFill>
                <a:latin typeface="Segoe UI"/>
              </a:rPr>
              <a:t>At 1.0 the workload was 2.3x worse than the default.</a:t>
            </a:r>
          </a:p>
        </p:txBody>
      </p:sp>
      <p:sp>
        <p:nvSpPr>
          <p:cNvPr id="21" name="TextBox 20"/>
          <p:cNvSpPr txBox="1"/>
          <p:nvPr/>
        </p:nvSpPr>
        <p:spPr>
          <a:xfrm>
            <a:off x="6583680" y="5084064"/>
            <a:ext cx="274320" cy="365760"/>
          </a:xfrm>
          <a:prstGeom prst="rect">
            <a:avLst/>
          </a:prstGeom>
          <a:noFill/>
        </p:spPr>
        <p:txBody>
          <a:bodyPr wrap="square" anchor="t" lIns="0" rIns="0" tIns="0" bIns="0">
            <a:spAutoFit/>
          </a:bodyPr>
          <a:lstStyle/>
          <a:p>
            <a:pPr algn="l">
              <a:lnSpc>
                <a:spcPct val="100000"/>
              </a:lnSpc>
            </a:pPr>
            <a:r>
              <a:rPr sz="1500" b="1">
                <a:solidFill>
                  <a:srgbClr val="A8322A"/>
                </a:solidFill>
                <a:latin typeface="Segoe UI"/>
              </a:rPr>
              <a:t>–</a:t>
            </a:r>
          </a:p>
        </p:txBody>
      </p:sp>
      <p:sp>
        <p:nvSpPr>
          <p:cNvPr id="22" name="TextBox 21"/>
          <p:cNvSpPr txBox="1"/>
          <p:nvPr/>
        </p:nvSpPr>
        <p:spPr>
          <a:xfrm>
            <a:off x="6931152" y="5065776"/>
            <a:ext cx="4434840" cy="822960"/>
          </a:xfrm>
          <a:prstGeom prst="rect">
            <a:avLst/>
          </a:prstGeom>
          <a:noFill/>
        </p:spPr>
        <p:txBody>
          <a:bodyPr wrap="square" anchor="t" lIns="0" rIns="0" tIns="0" bIns="0">
            <a:spAutoFit/>
          </a:bodyPr>
          <a:lstStyle/>
          <a:p>
            <a:pPr algn="l">
              <a:lnSpc>
                <a:spcPct val="128000"/>
              </a:lnSpc>
            </a:pPr>
            <a:r>
              <a:rPr sz="1450" b="1">
                <a:solidFill>
                  <a:srgbClr val="1A1D21"/>
                </a:solidFill>
                <a:latin typeface="Segoe UI"/>
              </a:rPr>
              <a:t>Enable MariaDB MRR at its default buffer</a:t>
            </a:r>
          </a:p>
          <a:p>
            <a:pPr algn="l">
              <a:lnSpc>
                <a:spcPct val="128000"/>
              </a:lnSpc>
            </a:pPr>
            <a:r>
              <a:rPr sz="1250" b="0">
                <a:solidFill>
                  <a:srgbClr val="70757A"/>
                </a:solidFill>
                <a:latin typeface="Segoe UI"/>
              </a:rPr>
              <a:t>7% slower; helps only at 8 MB and only on narrow queries.</a:t>
            </a:r>
          </a:p>
        </p:txBody>
      </p:sp>
      <p:sp>
        <p:nvSpPr>
          <p:cNvPr id="23" name="Rectangle 22"/>
          <p:cNvSpPr/>
          <p:nvPr/>
        </p:nvSpPr>
        <p:spPr>
          <a:xfrm>
            <a:off x="822960" y="5943600"/>
            <a:ext cx="10546080" cy="9525"/>
          </a:xfrm>
          <a:prstGeom prst="rect">
            <a:avLst/>
          </a:prstGeom>
          <a:solidFill>
            <a:srgbClr val="D9D5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6172200"/>
            <a:ext cx="9966960" cy="548640"/>
          </a:xfrm>
          <a:prstGeom prst="rect">
            <a:avLst/>
          </a:prstGeom>
          <a:noFill/>
        </p:spPr>
        <p:txBody>
          <a:bodyPr wrap="square" anchor="t" lIns="0" rIns="0" tIns="0" bIns="0">
            <a:spAutoFit/>
          </a:bodyPr>
          <a:lstStyle/>
          <a:p>
            <a:pPr algn="l">
              <a:lnSpc>
                <a:spcPct val="120000"/>
              </a:lnSpc>
            </a:pPr>
            <a:r>
              <a:rPr sz="1500" b="1">
                <a:solidFill>
                  <a:srgbClr val="1A1D21"/>
                </a:solidFill>
                <a:latin typeface="Georgia"/>
              </a:rPr>
              <a:t>All four were reasonable advice. None of it shipped with the conditions under which it stops being true.</a:t>
            </a:r>
          </a:p>
        </p:txBody>
      </p:sp>
      <p:sp>
        <p:nvSpPr>
          <p:cNvPr id="25" name="TextBox 24"/>
          <p:cNvSpPr txBox="1"/>
          <p:nvPr/>
        </p:nvSpPr>
        <p:spPr>
          <a:xfrm>
            <a:off x="10728960" y="6327648"/>
            <a:ext cx="640080" cy="274320"/>
          </a:xfrm>
          <a:prstGeom prst="rect">
            <a:avLst/>
          </a:prstGeom>
          <a:noFill/>
        </p:spPr>
        <p:txBody>
          <a:bodyPr wrap="square" anchor="t" lIns="0" rIns="0" tIns="0" bIns="0">
            <a:spAutoFit/>
          </a:bodyPr>
          <a:lstStyle/>
          <a:p>
            <a:pPr algn="r">
              <a:lnSpc>
                <a:spcPct val="100000"/>
              </a:lnSpc>
            </a:pPr>
            <a:r>
              <a:rPr sz="1000" b="0">
                <a:solidFill>
                  <a:srgbClr val="A8ACB0"/>
                </a:solidFill>
                <a:latin typeface="Segoe UI"/>
              </a:rPr>
              <a:t>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71</TotalTime>
  <Words>4799</Words>
  <Application>Microsoft Office PowerPoint</Application>
  <PresentationFormat>Widescreen</PresentationFormat>
  <Paragraphs>597</Paragraphs>
  <Slides>23</Slides>
  <Notes>23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Arial</vt:lpstr>
      <vt:lpstr>Calibri</vt:lpstr>
      <vt:lpstr>Consolas</vt:lpstr>
      <vt:lpstr>Georgia</vt:lpstr>
      <vt:lpstr>Lato</vt:lpstr>
      <vt:lpstr>Poppins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Md Imtiaj Alam Sajin</cp:lastModifiedBy>
  <cp:revision>3</cp:revision>
  <dcterms:created xsi:type="dcterms:W3CDTF">2013-01-27T09:14:16Z</dcterms:created>
  <dcterms:modified xsi:type="dcterms:W3CDTF">2026-08-30T12:20:46Z</dcterms:modified>
  <cp:category/>
</cp:coreProperties>
</file>
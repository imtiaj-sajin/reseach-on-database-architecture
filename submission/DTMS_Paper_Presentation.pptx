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empirical study of how two relational engines choose an access path, and whether the tuning advice written for that decision actually works. The reason there are two engines rather than one is the core of the talk: with a single system you cannot tell a property of cost-based optimisation from a quirk of one product.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point. Every query needs one decision made for it, and the same query on the same data can be a hundred times slower depending on it. Because the decision is invisible, a large body of tuning advice has grown around helping the database make it. That advice is written by good engineers and it sounds right. Almost none of it has been measured under controlled conditions, so nobody knows the conditions under which it holds.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explains why the study has two databases rather than one, and it is the frame for everything after it. If you measure one optimiser and find a failure, you cannot tell whether you have found something about cost-based optimisation or a bug in one product. Two independently written engines let you separate those. When both fail the same way it points at a shared design assumption. When only one fails it is an implementation choice. Every result from here on is labelled one way or the other.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definitions. Regret is how many times slower the plan the engine chose was than the fastest plan actually available to it, measured by forcing each index configuration separately and re-running the same query. A regret of one means it did the best it could. That separates the quality of the decision from the raw speed of the engine, which matters when comparing two products. Q-error is the standard measure of estimation accuracy. The whole paper turns on these two being reported separately.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in one slide. Data is generated rather than taken from a benchmark, because a fixed dataset fixes skew, correlation and clustering at whatever values it happens to have, and then you cannot attribute an effect to any one property. Generating it also means the true row count is known for every query, so misestimation is measured rather than inferred. Both engines cover the same seven table sizes, so the comparison is symmetric rather than one system being probed harder.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result and the frame for the comparison. On identical data PostgreSQL picks the best available plan 97.7 percent of the time. That matters because it means the PostgreSQL failures I show later are specific, identifiable defects rather than a generally weak optimiser. MariaDB errs on two thirds of queries. But notice the last column: its median error is mild. Wrong often, mostly by a little.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Breaking that down by query family shows the difference is not uniform. PostgreSQL's only real weakness is the conjunctive family, ten percent, and note its estimation error there is 71, by far the worst number in its column. MariaDB is the mirror image. Its estimates on conjunctions are perfect, exactly 1.00, yet it still chooses badly 45 percent of the time. And look at equality: three queries, wrong on all three, median regret 6.8. Perfect knowledge, wrong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mechanism behind that, and it is the most important structural result in the comparison. This counts what each engine actually chose when given every index. PostgreSQL answers almost everything with a bitmap scan: it collects the matching row locations, sorts them into physical order, then reads the heap in order. MariaDB never forms one except seven times on conjunctions. It either does a direct index lookup or gives up and scans the whole table, sixty six times, where PostgreSQL scanned nine. The difference in outcomes is a difference in the plans available, not in how carefully each engine costs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from the raw data makes the point concretely. This is MariaDB's single worst measurement. A query returning ten percent of a million rows. It estimated 218 thousand against a true 101 thousand, so the estimate was off by only a factor of two, which for an optimiser is essentially correct. It chose an index scan. Scanning the whole table would have taken 249 milliseconds. It took 1,970. The estimate was fine. The decision was not.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was not an isolated case. Across every bad choice in PostgreSQL, the median estimation error is 1.017, where a perfect estimate is 1.0. In 98 percent of the cases where the optimiser chose a slower path, it had the row count essentially right. This is the paper's main negative result and it cuts against the standard account, which attributes bad plans to misestimation. For this decision, better statistics cannot be the remedy, because the statistics were already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two-engine payoff, and this is the result I would most want a reviewer to look at. Correlated conjunctions. PostgreSQL's error climbs with correlation, from 1.13 up to 98.65. MariaDB is perfect, exactly 1.00, all the way up to full correlation, where it jumps to 55.84. The right-hand columns are the control: the same queries on independent columns, where both stay near one until the very end. Two independently written engines, accurate while a single index covers both columns, both failing once it does not. That makes this a design problem, not a bug in either product.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study sorts its own findings into two piles, and this is what I mean by what the research truly identifies. On the left, things that showed up in both engines and are therefore properties of cost-based access-path selection. On the right, things only one engine does, which are implementation choices, and the other engine shows what the alternative buys you.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Measuring both across all seven scales shows they do not merely differ by degree, they degrade in opposite directions. As tables grow PostgreSQL gets wrong more often, from never up to 36 percent, but its worst case never exceeds 3.7. MariaDB goes the other way: wrong less often, down from 53 to 12 percent, while its worst case climbs to 31. The operational reading matters. A database wrong often but never badly is easier to run than one wrong rarely but catastrophically, and summarising either with a single number hides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resource picture inverts too. At ten million rows, counting only index types both engines have, PostgreSQL splits its time roughly evenly between building indexes and running queries. MariaDB builds in twenty minutes and then spends thirteen hours querying. The consequence is on the bottom line: a study that measured only build time and a study that measured only query time would rank these two databases in opposite orders. Which cost dominates is a property of the engine, not of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obvious objection is that MariaDB was left on defaults. It does have a comparable mechanism, Multi-Range Read, which sorts row identifiers before fetching. It ships switched off. If turning it on closed the gap, the whole difference would be a configuration choice rather than a design one, so I swept all the settings that govern these decisions, five thousand and forty more measurements. Nothing closes the gap. Turning MRR on makes the workload seven percent slower, and I verified it genuinely engaged by checking the plan output. The last column is worth noting too: the estimation error sits at 55.84 in every configuration but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reason MRR does not close the gap is a size limit, which is worth showing because it turns a vague claim into a bounded one. MRR sorts within a buffer that defaults to 256 kilobytes; a bitmap scan materialises the entire qualifying set. Raising the buffer to eight megabytes does help, but only on the narrowest queries: 0.65 at one percent selectivity, gone by five percent, nothing at ten. At its very best it recovers about a third of one query class against a cross-system gap of fifteen times. So this is a fourth piece of advice that backfires at its shipped setting.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PostgreSQL's own failure, which is the largest single effect in the study. Adding a BRIN index alongside an existing B-tree on the same column, because BRIN is small and people treat it as free. The bad-choice rate goes from 2.3 percent to 73.3. On a controlled test where the only change was whether the BRIN index existed, one query went from a third of a millisecond to sixty six.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traced that to a specific line rather than leaving it as an observation. When two indexes can answer the same predicate, PostgreSQL keeps one and discards the other, choosing whichever is cheaper to scan. But that cost is the cost of reading the index alone; it does not include the heap fetches the query then performs. A BRIN index is small by design, so it wins that comparison almost always, and the index being discarded is the one that would have run two hundred times faster.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effect has a boundary that is worth reporting carefully, because it is where a two-point study would have gone wrong. The problem occurs while the table fits in the buffer pool, as expected. But read the two right-hand columns separately. How often it goes wrong collapses at the memory boundary, from 71 percent to 38. How badly it goes wrong doubles at that same boundary and stays high to three million rows. Testing only the smallest and largest sizes would have concluded the problem simply disappears as tables grow. It does not; the worst damage lands on databases sized two to three times their memory.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the four practices together. Each one is sound in the case it was written for. Each one, under conditions I can now name, makes things worse. And in three of the four the advice improves the thing it promises to improve. Extended statistics really do fix the estimate, by a factor of 108. The plan still gets worse. That is the pattern the paper is really about: the advice targets a proxy, and the proxy is not what determines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trustworthiness, briefly, because this is where a reviewer presses. Nineteen automated checks run before any measurement is accepted, including validating the generated data against PostgreSQL's own internal statistics, so the generator is checked against something outside my control. Dispersion is reported rather than hidden. And three of my own errors were found and are reported rather than removed. The one I would highlight is the third: I had claimed the correlated-column failure was caused by the plan shape that merges two indexes. I tested that by switching the plan off, and the error stayed the same, 55.59 against 55.84. So the merge is where the error becomes visible, not where it comes from. I only found the real cause by trying to refute myself.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study actually identifies, in four claims. First, for this decision the cause is the cost model, not the statistics, and 98 percent of bad choices with correct estimates is the evidence. Second, tuning advice needs its conditions attached, because all four practices are sound in one regime and harmful in another. Third, an optimiser cannot be summarised by one number, because frequency and severity move in opposite directions across scale and across these two engines. Fourth, and this is what the second database bought, per-column composition under correlation is a shared design weakness rather than a bug in either product.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work. Two engines, seven scales, twenty three thousand measurements, everything public and reproducible with one command. Happy to take questions, and if you want any number in the deck verified I can show it coming out of the raw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Rectangle 1"/>
          <p:cNvSpPr/>
          <p:nvPr/>
        </p:nvSpPr>
        <p:spPr>
          <a:xfrm>
            <a:off x="822960" y="1371600"/>
            <a:ext cx="1280160" cy="31750"/>
          </a:xfrm>
          <a:prstGeom prst="rect">
            <a:avLst/>
          </a:prstGeom>
          <a:solidFill>
            <a:srgbClr val="A8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645920"/>
            <a:ext cx="9875520" cy="2103120"/>
          </a:xfrm>
          <a:prstGeom prst="rect">
            <a:avLst/>
          </a:prstGeom>
          <a:noFill/>
        </p:spPr>
        <p:txBody>
          <a:bodyPr wrap="square" anchor="t" lIns="0" rIns="0" tIns="0" bIns="0">
            <a:spAutoFit/>
          </a:bodyPr>
          <a:lstStyle/>
          <a:p>
            <a:pPr algn="l">
              <a:lnSpc>
                <a:spcPct val="114000"/>
              </a:lnSpc>
            </a:pPr>
            <a:r>
              <a:rPr sz="3500" b="0">
                <a:solidFill>
                  <a:srgbClr val="F2EFEA"/>
                </a:solidFill>
                <a:latin typeface="Georgia"/>
              </a:rPr>
              <a:t>Measuring the Impact of Index Types and Tuning Settings on Query Execution Plans in PostgreSQL and MariaDB</a:t>
            </a:r>
          </a:p>
        </p:txBody>
      </p:sp>
      <p:sp>
        <p:nvSpPr>
          <p:cNvPr id="4" name="TextBox 3"/>
          <p:cNvSpPr txBox="1"/>
          <p:nvPr/>
        </p:nvSpPr>
        <p:spPr>
          <a:xfrm>
            <a:off x="822960" y="3931920"/>
            <a:ext cx="9875520" cy="365760"/>
          </a:xfrm>
          <a:prstGeom prst="rect">
            <a:avLst/>
          </a:prstGeom>
          <a:noFill/>
        </p:spPr>
        <p:txBody>
          <a:bodyPr wrap="square" anchor="t" lIns="0" rIns="0" tIns="0" bIns="0">
            <a:spAutoFit/>
          </a:bodyPr>
          <a:lstStyle/>
          <a:p>
            <a:pPr algn="l">
              <a:lnSpc>
                <a:spcPct val="120000"/>
              </a:lnSpc>
            </a:pPr>
            <a:r>
              <a:rPr sz="1400" b="0">
                <a:solidFill>
                  <a:srgbClr val="92989E"/>
                </a:solidFill>
                <a:latin typeface="Segoe UI"/>
              </a:rPr>
              <a:t>An access-path study across two independently written optimisers</a:t>
            </a:r>
          </a:p>
        </p:txBody>
      </p:sp>
      <p:sp>
        <p:nvSpPr>
          <p:cNvPr id="5" name="Rectangle 4"/>
          <p:cNvSpPr/>
          <p:nvPr/>
        </p:nvSpPr>
        <p:spPr>
          <a:xfrm>
            <a:off x="822960" y="448056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754880"/>
            <a:ext cx="4937760" cy="1188720"/>
          </a:xfrm>
          <a:prstGeom prst="rect">
            <a:avLst/>
          </a:prstGeom>
          <a:noFill/>
        </p:spPr>
        <p:txBody>
          <a:bodyPr wrap="square" anchor="t" lIns="0" rIns="0" tIns="0" bIns="0">
            <a:spAutoFit/>
          </a:bodyPr>
          <a:lstStyle/>
          <a:p>
            <a:pPr algn="l">
              <a:lnSpc>
                <a:spcPct val="145000"/>
              </a:lnSpc>
            </a:pPr>
            <a:r>
              <a:rPr sz="1500" b="1">
                <a:solidFill>
                  <a:srgbClr val="F2EFEA"/>
                </a:solidFill>
                <a:latin typeface="Segoe UI"/>
              </a:rPr>
              <a:t>Md. Imtiaj Alam Sajin</a:t>
            </a:r>
          </a:p>
          <a:p>
            <a:pPr algn="l">
              <a:lnSpc>
                <a:spcPct val="145000"/>
              </a:lnSpc>
            </a:pPr>
            <a:r>
              <a:rPr sz="1200" b="0">
                <a:solidFill>
                  <a:srgbClr val="92989E"/>
                </a:solidFill>
                <a:latin typeface="Segoe UI"/>
              </a:rPr>
              <a:t>26-94090-2   |   26-94090-2@student.aiub.edu</a:t>
            </a:r>
          </a:p>
        </p:txBody>
      </p:sp>
      <p:sp>
        <p:nvSpPr>
          <p:cNvPr id="7" name="TextBox 6"/>
          <p:cNvSpPr txBox="1"/>
          <p:nvPr/>
        </p:nvSpPr>
        <p:spPr>
          <a:xfrm>
            <a:off x="6583680" y="4754880"/>
            <a:ext cx="4754880" cy="1188720"/>
          </a:xfrm>
          <a:prstGeom prst="rect">
            <a:avLst/>
          </a:prstGeom>
          <a:noFill/>
        </p:spPr>
        <p:txBody>
          <a:bodyPr wrap="square" anchor="t" lIns="0" rIns="0" tIns="0" bIns="0">
            <a:spAutoFit/>
          </a:bodyPr>
          <a:lstStyle/>
          <a:p>
            <a:pPr algn="l">
              <a:lnSpc>
                <a:spcPct val="145000"/>
              </a:lnSpc>
            </a:pPr>
            <a:r>
              <a:rPr sz="1100" b="0">
                <a:solidFill>
                  <a:srgbClr val="92989E"/>
                </a:solidFill>
                <a:latin typeface="Segoe UI"/>
              </a:rPr>
              <a:t>Supervisor</a:t>
            </a:r>
          </a:p>
          <a:p>
            <a:pPr algn="l">
              <a:lnSpc>
                <a:spcPct val="145000"/>
              </a:lnSpc>
            </a:pPr>
            <a:r>
              <a:rPr sz="1500" b="1">
                <a:solidFill>
                  <a:srgbClr val="F2EFEA"/>
                </a:solidFill>
                <a:latin typeface="Segoe UI"/>
              </a:rPr>
              <a:t>Dr. Ashraf Uddin</a:t>
            </a:r>
          </a:p>
        </p:txBody>
      </p:sp>
      <p:sp>
        <p:nvSpPr>
          <p:cNvPr id="8" name="TextBox 7"/>
          <p:cNvSpPr txBox="1"/>
          <p:nvPr/>
        </p:nvSpPr>
        <p:spPr>
          <a:xfrm>
            <a:off x="822960" y="6080760"/>
            <a:ext cx="10545775" cy="365760"/>
          </a:xfrm>
          <a:prstGeom prst="rect">
            <a:avLst/>
          </a:prstGeom>
          <a:noFill/>
        </p:spPr>
        <p:txBody>
          <a:bodyPr wrap="square" anchor="t" lIns="0" rIns="0" tIns="0" bIns="0">
            <a:spAutoFit/>
          </a:bodyPr>
          <a:lstStyle/>
          <a:p>
            <a:pPr algn="l">
              <a:lnSpc>
                <a:spcPct val="120000"/>
              </a:lnSpc>
            </a:pPr>
            <a:r>
              <a:rPr sz="1150" b="0">
                <a:solidFill>
                  <a:srgbClr val="92989E"/>
                </a:solidFill>
                <a:latin typeface="Consolas"/>
              </a:rPr>
              <a:t>23,480 measurements  |  PostgreSQL 17.1 and MariaDB 10.4.28  |  seven table scales  |  fully reproducible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MOTIVATION</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3100" b="0">
                <a:solidFill>
                  <a:srgbClr val="1A1D21"/>
                </a:solidFill>
                <a:latin typeface="Georgia"/>
              </a:rPr>
              <a:t>A decision nobody sees, and advice nobody measured</a:t>
            </a:r>
          </a:p>
        </p:txBody>
      </p:sp>
      <p:sp>
        <p:nvSpPr>
          <p:cNvPr id="4" name="Rectangle 3"/>
          <p:cNvSpPr/>
          <p:nvPr/>
        </p:nvSpPr>
        <p:spPr>
          <a:xfrm>
            <a:off x="822960" y="201168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31720"/>
            <a:ext cx="5577840" cy="2743200"/>
          </a:xfrm>
          <a:prstGeom prst="rect">
            <a:avLst/>
          </a:prstGeom>
          <a:noFill/>
        </p:spPr>
        <p:txBody>
          <a:bodyPr wrap="square" anchor="t" lIns="0" rIns="0" tIns="0" bIns="0">
            <a:spAutoFit/>
          </a:bodyPr>
          <a:lstStyle/>
          <a:p>
            <a:pPr algn="l">
              <a:lnSpc>
                <a:spcPct val="140000"/>
              </a:lnSpc>
            </a:pPr>
            <a:r>
              <a:rPr sz="1700" b="1">
                <a:solidFill>
                  <a:srgbClr val="1A1D21"/>
                </a:solidFill>
                <a:latin typeface="Segoe UI"/>
              </a:rPr>
              <a:t>Scan the table, or use an index, and if so which one.</a:t>
            </a:r>
          </a:p>
          <a:p>
            <a:pPr algn="l">
              <a:lnSpc>
                <a:spcPct val="140000"/>
              </a:lnSpc>
            </a:pPr>
            <a:r>
              <a:rPr sz="800" b="0">
                <a:solidFill>
                  <a:srgbClr val="1A1D21"/>
                </a:solidFill>
                <a:latin typeface="Segoe UI"/>
              </a:rPr>
              <a:t/>
            </a:r>
          </a:p>
          <a:p>
            <a:pPr algn="l">
              <a:lnSpc>
                <a:spcPct val="140000"/>
              </a:lnSpc>
            </a:pPr>
            <a:r>
              <a:rPr sz="1550" b="0">
                <a:solidFill>
                  <a:srgbClr val="70757A"/>
                </a:solidFill>
                <a:latin typeface="Segoe UI"/>
              </a:rPr>
              <a:t>One decision per query, invisible to the user, worth up to two orders of magnitude in runtime.</a:t>
            </a:r>
          </a:p>
          <a:p>
            <a:pPr algn="l">
              <a:lnSpc>
                <a:spcPct val="140000"/>
              </a:lnSpc>
            </a:pPr>
            <a:r>
              <a:rPr sz="800" b="0">
                <a:solidFill>
                  <a:srgbClr val="1A1D21"/>
                </a:solidFill>
                <a:latin typeface="Segoe UI"/>
              </a:rPr>
              <a:t/>
            </a:r>
          </a:p>
          <a:p>
            <a:pPr algn="l">
              <a:lnSpc>
                <a:spcPct val="140000"/>
              </a:lnSpc>
            </a:pPr>
            <a:r>
              <a:rPr sz="1550" b="0">
                <a:solidFill>
                  <a:srgbClr val="70757A"/>
                </a:solidFill>
                <a:latin typeface="Segoe UI"/>
              </a:rPr>
              <a:t>The literature attributes bad plans to cardinality misestimation. That work targets join ordering. The single-relation access-path decision has not been isolated the same way.</a:t>
            </a:r>
          </a:p>
        </p:txBody>
      </p:sp>
      <p:sp>
        <p:nvSpPr>
          <p:cNvPr id="6" name="TextBox 5"/>
          <p:cNvSpPr txBox="1"/>
          <p:nvPr/>
        </p:nvSpPr>
        <p:spPr>
          <a:xfrm>
            <a:off x="6949440" y="2331720"/>
            <a:ext cx="4389120" cy="3108960"/>
          </a:xfrm>
          <a:prstGeom prst="rect">
            <a:avLst/>
          </a:prstGeom>
          <a:noFill/>
        </p:spPr>
        <p:txBody>
          <a:bodyPr wrap="square" anchor="t" lIns="0" rIns="0" tIns="0" bIns="0">
            <a:spAutoFit/>
          </a:bodyPr>
          <a:lstStyle/>
          <a:p>
            <a:pPr algn="l">
              <a:lnSpc>
                <a:spcPct val="145000"/>
              </a:lnSpc>
            </a:pPr>
            <a:r>
              <a:rPr sz="1300" b="1">
                <a:solidFill>
                  <a:srgbClr val="A8322A"/>
                </a:solidFill>
                <a:latin typeface="Segoe UI"/>
              </a:rPr>
              <a:t>Four widely recommended practices</a:t>
            </a:r>
          </a:p>
          <a:p>
            <a:pPr algn="l">
              <a:lnSpc>
                <a:spcPct val="145000"/>
              </a:lnSpc>
            </a:pPr>
            <a:r>
              <a:rPr sz="700" b="0">
                <a:solidFill>
                  <a:srgbClr val="1A1D21"/>
                </a:solidFill>
                <a:latin typeface="Segoe UI"/>
              </a:rPr>
              <a:t/>
            </a:r>
          </a:p>
          <a:p>
            <a:pPr algn="l">
              <a:lnSpc>
                <a:spcPct val="145000"/>
              </a:lnSpc>
            </a:pPr>
            <a:r>
              <a:rPr sz="1450" b="0">
                <a:solidFill>
                  <a:srgbClr val="1A1D21"/>
                </a:solidFill>
                <a:latin typeface="Segoe UI"/>
              </a:rPr>
              <a:t>Extended statistics for correlated columns</a:t>
            </a:r>
          </a:p>
          <a:p>
            <a:pPr algn="l">
              <a:lnSpc>
                <a:spcPct val="145000"/>
              </a:lnSpc>
            </a:pPr>
            <a:r>
              <a:rPr sz="1450" b="0">
                <a:solidFill>
                  <a:srgbClr val="1A1D21"/>
                </a:solidFill>
                <a:latin typeface="Segoe UI"/>
              </a:rPr>
              <a:t>Lower random_page_cost on SSD storage</a:t>
            </a:r>
          </a:p>
          <a:p>
            <a:pPr algn="l">
              <a:lnSpc>
                <a:spcPct val="145000"/>
              </a:lnSpc>
            </a:pPr>
            <a:r>
              <a:rPr sz="1450" b="0">
                <a:solidFill>
                  <a:srgbClr val="1A1D21"/>
                </a:solidFill>
                <a:latin typeface="Segoe UI"/>
              </a:rPr>
              <a:t>Add a BRIN index, it costs almost nothing</a:t>
            </a:r>
          </a:p>
          <a:p>
            <a:pPr algn="l">
              <a:lnSpc>
                <a:spcPct val="145000"/>
              </a:lnSpc>
            </a:pPr>
            <a:r>
              <a:rPr sz="1450" b="0">
                <a:solidFill>
                  <a:srgbClr val="1A1D21"/>
                </a:solidFill>
                <a:latin typeface="Segoe UI"/>
              </a:rPr>
              <a:t>Enable Multi-Range Read in MariaDB</a:t>
            </a:r>
          </a:p>
          <a:p>
            <a:pPr algn="l">
              <a:lnSpc>
                <a:spcPct val="145000"/>
              </a:lnSpc>
            </a:pPr>
            <a:r>
              <a:rPr sz="700" b="0">
                <a:solidFill>
                  <a:srgbClr val="1A1D21"/>
                </a:solidFill>
                <a:latin typeface="Segoe UI"/>
              </a:rPr>
              <a:t/>
            </a:r>
          </a:p>
          <a:p>
            <a:pPr algn="l">
              <a:lnSpc>
                <a:spcPct val="145000"/>
              </a:lnSpc>
            </a:pPr>
            <a:r>
              <a:rPr sz="1450" b="1">
                <a:solidFill>
                  <a:srgbClr val="1A1D21"/>
                </a:solidFill>
                <a:latin typeface="Segoe UI"/>
              </a:rPr>
              <a:t>Every one is sound in the case it was written for. This study measures where each stops being sound.</a:t>
            </a:r>
          </a:p>
        </p:txBody>
      </p:sp>
      <p:sp>
        <p:nvSpPr>
          <p:cNvPr id="7" name="TextBox 6"/>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92989E"/>
                </a:solidFill>
                <a:latin typeface="Segoe UI"/>
              </a:rPr>
              <a:t>THE CENTRAL MOVE</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F2EFEA"/>
                </a:solidFill>
                <a:latin typeface="Georgia"/>
              </a:rPr>
              <a:t>Why two engines and not one</a:t>
            </a:r>
          </a:p>
        </p:txBody>
      </p:sp>
      <p:sp>
        <p:nvSpPr>
          <p:cNvPr id="4" name="Rectangle 3"/>
          <p:cNvSpPr/>
          <p:nvPr/>
        </p:nvSpPr>
        <p:spPr>
          <a:xfrm>
            <a:off x="822960" y="192024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731520"/>
          </a:xfrm>
          <a:prstGeom prst="rect">
            <a:avLst/>
          </a:prstGeom>
          <a:noFill/>
        </p:spPr>
        <p:txBody>
          <a:bodyPr wrap="square" anchor="t" lIns="0" rIns="0" tIns="0" bIns="0">
            <a:spAutoFit/>
          </a:bodyPr>
          <a:lstStyle/>
          <a:p>
            <a:pPr algn="l">
              <a:lnSpc>
                <a:spcPct val="125000"/>
              </a:lnSpc>
            </a:pPr>
            <a:r>
              <a:rPr sz="2000" b="0">
                <a:solidFill>
                  <a:srgbClr val="F2EFEA"/>
                </a:solidFill>
                <a:latin typeface="Georgia"/>
              </a:rPr>
              <a:t>A single-system study cannot separate a property of cost-based access-path selection from an artefact of one implementation.</a:t>
            </a:r>
          </a:p>
        </p:txBody>
      </p:sp>
      <p:sp>
        <p:nvSpPr>
          <p:cNvPr id="6" name="Rectangle 5"/>
          <p:cNvSpPr/>
          <p:nvPr/>
        </p:nvSpPr>
        <p:spPr>
          <a:xfrm>
            <a:off x="822960" y="342900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749039"/>
            <a:ext cx="5120640" cy="2011680"/>
          </a:xfrm>
          <a:prstGeom prst="rect">
            <a:avLst/>
          </a:prstGeom>
          <a:noFill/>
        </p:spPr>
        <p:txBody>
          <a:bodyPr wrap="square" anchor="t" lIns="0" rIns="0" tIns="0" bIns="0">
            <a:spAutoFit/>
          </a:bodyPr>
          <a:lstStyle/>
          <a:p>
            <a:pPr algn="l">
              <a:lnSpc>
                <a:spcPct val="135000"/>
              </a:lnSpc>
            </a:pPr>
            <a:r>
              <a:rPr sz="1600" b="1">
                <a:solidFill>
                  <a:srgbClr val="E27660"/>
                </a:solidFill>
                <a:latin typeface="Segoe UI"/>
              </a:rPr>
              <a:t>Both engines fail the same way</a:t>
            </a:r>
          </a:p>
          <a:p>
            <a:pPr algn="l">
              <a:lnSpc>
                <a:spcPct val="135000"/>
              </a:lnSpc>
            </a:pPr>
            <a:r>
              <a:rPr sz="600" b="0">
                <a:solidFill>
                  <a:srgbClr val="F2EFEA"/>
                </a:solidFill>
                <a:latin typeface="Segoe UI"/>
              </a:rPr>
              <a:t/>
            </a:r>
          </a:p>
          <a:p>
            <a:pPr algn="l">
              <a:lnSpc>
                <a:spcPct val="135000"/>
              </a:lnSpc>
            </a:pPr>
            <a:r>
              <a:rPr sz="1450" b="0">
                <a:solidFill>
                  <a:srgbClr val="92989E"/>
                </a:solidFill>
                <a:latin typeface="Segoe UI"/>
              </a:rPr>
              <a:t>Points to a shared design assumption. PostgreSQL and MariaDB were written independently, so agreement is evidence, not coincidence.</a:t>
            </a:r>
          </a:p>
        </p:txBody>
      </p:sp>
      <p:sp>
        <p:nvSpPr>
          <p:cNvPr id="8" name="TextBox 7"/>
          <p:cNvSpPr txBox="1"/>
          <p:nvPr/>
        </p:nvSpPr>
        <p:spPr>
          <a:xfrm>
            <a:off x="6583680" y="3749039"/>
            <a:ext cx="4754880" cy="2011680"/>
          </a:xfrm>
          <a:prstGeom prst="rect">
            <a:avLst/>
          </a:prstGeom>
          <a:noFill/>
        </p:spPr>
        <p:txBody>
          <a:bodyPr wrap="square" anchor="t" lIns="0" rIns="0" tIns="0" bIns="0">
            <a:spAutoFit/>
          </a:bodyPr>
          <a:lstStyle/>
          <a:p>
            <a:pPr algn="l">
              <a:lnSpc>
                <a:spcPct val="135000"/>
              </a:lnSpc>
            </a:pPr>
            <a:r>
              <a:rPr sz="1600" b="1">
                <a:solidFill>
                  <a:srgbClr val="F2EFEA"/>
                </a:solidFill>
                <a:latin typeface="Segoe UI"/>
              </a:rPr>
              <a:t>Only one fails</a:t>
            </a:r>
          </a:p>
          <a:p>
            <a:pPr algn="l">
              <a:lnSpc>
                <a:spcPct val="135000"/>
              </a:lnSpc>
            </a:pPr>
            <a:r>
              <a:rPr sz="600" b="0">
                <a:solidFill>
                  <a:srgbClr val="F2EFEA"/>
                </a:solidFill>
                <a:latin typeface="Segoe UI"/>
              </a:rPr>
              <a:t/>
            </a:r>
          </a:p>
          <a:p>
            <a:pPr algn="l">
              <a:lnSpc>
                <a:spcPct val="135000"/>
              </a:lnSpc>
            </a:pPr>
            <a:r>
              <a:rPr sz="1450" b="0">
                <a:solidFill>
                  <a:srgbClr val="92989E"/>
                </a:solidFill>
                <a:latin typeface="Segoe UI"/>
              </a:rPr>
              <a:t>An implementation choice, and the other engine shows what a different choice would have bought.</a:t>
            </a:r>
          </a:p>
        </p:txBody>
      </p:sp>
      <p:sp>
        <p:nvSpPr>
          <p:cNvPr id="9" name="TextBox 8"/>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pPr>
            <a:r>
              <a:rPr sz="1050" b="0">
                <a:solidFill>
                  <a:srgbClr val="92989E"/>
                </a:solidFill>
                <a:latin typeface="Segoe UI"/>
              </a:rPr>
              <a:t>Both systems run identical generated data, identical queries, identical metrics and a matched 128 MB buffer pool.</a:t>
            </a:r>
          </a:p>
        </p:txBody>
      </p:sp>
      <p:sp>
        <p:nvSpPr>
          <p:cNvPr id="10" name="TextBox 9"/>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4A5056"/>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METRICS</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Two measures, deliberately kept apart</a:t>
            </a:r>
          </a:p>
        </p:txBody>
      </p:sp>
      <p:sp>
        <p:nvSpPr>
          <p:cNvPr id="4" name="TextBox 3"/>
          <p:cNvSpPr txBox="1"/>
          <p:nvPr/>
        </p:nvSpPr>
        <p:spPr>
          <a:xfrm>
            <a:off x="822960" y="1920240"/>
            <a:ext cx="6949440" cy="548640"/>
          </a:xfrm>
          <a:prstGeom prst="rect">
            <a:avLst/>
          </a:prstGeom>
          <a:noFill/>
        </p:spPr>
        <p:txBody>
          <a:bodyPr wrap="square" anchor="t" lIns="0" rIns="0" tIns="0" bIns="0">
            <a:spAutoFit/>
          </a:bodyPr>
          <a:lstStyle/>
          <a:p>
            <a:pPr algn="l">
              <a:lnSpc>
                <a:spcPct val="120000"/>
              </a:lnSpc>
            </a:pPr>
            <a:r>
              <a:rPr sz="1600" b="0">
                <a:solidFill>
                  <a:srgbClr val="1F4E5F"/>
                </a:solidFill>
                <a:latin typeface="Georgia"/>
              </a:rPr>
              <a:t>R  =  time of the plan chosen  /  time of the fastest plan available</a:t>
            </a:r>
          </a:p>
        </p:txBody>
      </p:sp>
      <p:sp>
        <p:nvSpPr>
          <p:cNvPr id="5" name="Rectangle 4"/>
          <p:cNvSpPr/>
          <p:nvPr/>
        </p:nvSpPr>
        <p:spPr>
          <a:xfrm>
            <a:off x="822960" y="2606040"/>
            <a:ext cx="694944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6949440" cy="2377440"/>
          </a:xfrm>
          <a:prstGeom prst="rect">
            <a:avLst/>
          </a:prstGeom>
          <a:noFill/>
        </p:spPr>
        <p:txBody>
          <a:bodyPr wrap="square" anchor="t" lIns="0" rIns="0" tIns="0" bIns="0">
            <a:spAutoFit/>
          </a:bodyPr>
          <a:lstStyle/>
          <a:p>
            <a:pPr algn="l">
              <a:lnSpc>
                <a:spcPct val="138000"/>
              </a:lnSpc>
            </a:pPr>
            <a:r>
              <a:rPr sz="1400" b="1">
                <a:solidFill>
                  <a:srgbClr val="1A1D21"/>
                </a:solidFill>
                <a:latin typeface="Segoe UI"/>
              </a:rPr>
              <a:t>Access-path regret</a:t>
            </a:r>
            <a:r>
              <a:rPr sz="1500" b="0">
                <a:solidFill>
                  <a:srgbClr val="1A1D21"/>
                </a:solidFill>
                <a:latin typeface="Segoe UI"/>
              </a:rPr>
              <a:t>  measures the decision. The comparison is against plans the engine really had, forced one at a time, so a slow engine is not penalised for being slow.</a:t>
            </a:r>
          </a:p>
          <a:p>
            <a:pPr algn="l">
              <a:lnSpc>
                <a:spcPct val="138000"/>
              </a:lnSpc>
            </a:pPr>
            <a:r>
              <a:rPr sz="800" b="0">
                <a:solidFill>
                  <a:srgbClr val="1A1D21"/>
                </a:solidFill>
                <a:latin typeface="Segoe UI"/>
              </a:rPr>
              <a:t/>
            </a:r>
          </a:p>
          <a:p>
            <a:pPr algn="l">
              <a:lnSpc>
                <a:spcPct val="138000"/>
              </a:lnSpc>
            </a:pPr>
            <a:r>
              <a:rPr sz="1400" b="1">
                <a:solidFill>
                  <a:srgbClr val="1A1D21"/>
                </a:solidFill>
                <a:latin typeface="Segoe UI"/>
              </a:rPr>
              <a:t>q-error</a:t>
            </a:r>
            <a:r>
              <a:rPr sz="1500" b="0">
                <a:solidFill>
                  <a:srgbClr val="1A1D21"/>
                </a:solidFill>
                <a:latin typeface="Segoe UI"/>
              </a:rPr>
              <a:t>  measures the estimate: the factor by which the predicted row count misses the truth. Reported separately throughout, because the paper's main negative result is that the two come apart.</a:t>
            </a:r>
          </a:p>
        </p:txBody>
      </p:sp>
      <p:sp>
        <p:nvSpPr>
          <p:cNvPr id="7" name="TextBox 6"/>
          <p:cNvSpPr txBox="1"/>
          <p:nvPr/>
        </p:nvSpPr>
        <p:spPr>
          <a:xfrm>
            <a:off x="8321040" y="2103120"/>
            <a:ext cx="3017520" cy="1280160"/>
          </a:xfrm>
          <a:prstGeom prst="rect">
            <a:avLst/>
          </a:prstGeom>
          <a:noFill/>
        </p:spPr>
        <p:txBody>
          <a:bodyPr wrap="square" anchor="t" lIns="0" rIns="0" tIns="0" bIns="0">
            <a:spAutoFit/>
          </a:bodyPr>
          <a:lstStyle/>
          <a:p>
            <a:pPr algn="l">
              <a:lnSpc>
                <a:spcPct val="95000"/>
              </a:lnSpc>
            </a:pPr>
            <a:r>
              <a:rPr sz="6000" b="0">
                <a:solidFill>
                  <a:srgbClr val="1F4E5F"/>
                </a:solidFill>
                <a:latin typeface="Georgia"/>
              </a:rPr>
              <a:t>1.0</a:t>
            </a:r>
          </a:p>
        </p:txBody>
      </p:sp>
      <p:sp>
        <p:nvSpPr>
          <p:cNvPr id="8" name="TextBox 7"/>
          <p:cNvSpPr txBox="1"/>
          <p:nvPr/>
        </p:nvSpPr>
        <p:spPr>
          <a:xfrm>
            <a:off x="8321040" y="2999232"/>
            <a:ext cx="3017520" cy="731520"/>
          </a:xfrm>
          <a:prstGeom prst="rect">
            <a:avLst/>
          </a:prstGeom>
          <a:noFill/>
        </p:spPr>
        <p:txBody>
          <a:bodyPr wrap="square" anchor="t" lIns="0" rIns="0" tIns="0" bIns="0">
            <a:spAutoFit/>
          </a:bodyPr>
          <a:lstStyle/>
          <a:p>
            <a:pPr algn="l">
              <a:lnSpc>
                <a:spcPct val="125000"/>
              </a:lnSpc>
            </a:pPr>
            <a:r>
              <a:rPr sz="1250" b="0">
                <a:solidFill>
                  <a:srgbClr val="70757A"/>
                </a:solidFill>
                <a:latin typeface="Segoe UI"/>
              </a:rPr>
              <a:t>the engine made the best
choice available to it</a:t>
            </a:r>
          </a:p>
        </p:txBody>
      </p:sp>
      <p:sp>
        <p:nvSpPr>
          <p:cNvPr id="9" name="TextBox 8"/>
          <p:cNvSpPr txBox="1"/>
          <p:nvPr/>
        </p:nvSpPr>
        <p:spPr>
          <a:xfrm>
            <a:off x="8321040" y="4114800"/>
            <a:ext cx="3017520" cy="1280160"/>
          </a:xfrm>
          <a:prstGeom prst="rect">
            <a:avLst/>
          </a:prstGeom>
          <a:noFill/>
        </p:spPr>
        <p:txBody>
          <a:bodyPr wrap="square" anchor="t" lIns="0" rIns="0" tIns="0" bIns="0">
            <a:spAutoFit/>
          </a:bodyPr>
          <a:lstStyle/>
          <a:p>
            <a:pPr algn="l">
              <a:lnSpc>
                <a:spcPct val="95000"/>
              </a:lnSpc>
            </a:pPr>
            <a:r>
              <a:rPr sz="5200" b="0">
                <a:solidFill>
                  <a:srgbClr val="1A1D21"/>
                </a:solidFill>
                <a:latin typeface="Georgia"/>
              </a:rPr>
              <a:t>23,480</a:t>
            </a:r>
          </a:p>
        </p:txBody>
      </p:sp>
      <p:sp>
        <p:nvSpPr>
          <p:cNvPr id="10" name="TextBox 9"/>
          <p:cNvSpPr txBox="1"/>
          <p:nvPr/>
        </p:nvSpPr>
        <p:spPr>
          <a:xfrm>
            <a:off x="8321040" y="4907280"/>
            <a:ext cx="3017520" cy="731520"/>
          </a:xfrm>
          <a:prstGeom prst="rect">
            <a:avLst/>
          </a:prstGeom>
          <a:noFill/>
        </p:spPr>
        <p:txBody>
          <a:bodyPr wrap="square" anchor="t" lIns="0" rIns="0" tIns="0" bIns="0">
            <a:spAutoFit/>
          </a:bodyPr>
          <a:lstStyle/>
          <a:p>
            <a:pPr algn="l">
              <a:lnSpc>
                <a:spcPct val="125000"/>
              </a:lnSpc>
            </a:pPr>
            <a:r>
              <a:rPr sz="1250" b="0">
                <a:solidFill>
                  <a:srgbClr val="70757A"/>
                </a:solidFill>
                <a:latin typeface="Segoe UI"/>
              </a:rPr>
              <a:t>measurements across
both engines</a:t>
            </a:r>
          </a:p>
        </p:txBody>
      </p:sp>
      <p:sp>
        <p:nvSpPr>
          <p:cNvPr id="11" name="TextBox 10"/>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EXPERIMENTAL DESIGN</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Symmetric, controlled, and seeded</a:t>
            </a:r>
          </a:p>
        </p:txBody>
      </p:sp>
      <p:sp>
        <p:nvSpPr>
          <p:cNvPr id="4" name="TextBox 3"/>
          <p:cNvSpPr txBox="1"/>
          <p:nvPr/>
        </p:nvSpPr>
        <p:spPr>
          <a:xfrm>
            <a:off x="822960" y="1828800"/>
            <a:ext cx="5029200" cy="2377440"/>
          </a:xfrm>
          <a:prstGeom prst="rect">
            <a:avLst/>
          </a:prstGeom>
          <a:noFill/>
        </p:spPr>
        <p:txBody>
          <a:bodyPr wrap="square" anchor="t" lIns="0" rIns="0" tIns="0" bIns="0">
            <a:spAutoFit/>
          </a:bodyPr>
          <a:lstStyle/>
          <a:p>
            <a:pPr algn="l">
              <a:lnSpc>
                <a:spcPct val="136000"/>
              </a:lnSpc>
            </a:pPr>
            <a:r>
              <a:rPr sz="1400" b="1">
                <a:solidFill>
                  <a:srgbClr val="1A1D21"/>
                </a:solidFill>
                <a:latin typeface="Segoe UI"/>
              </a:rPr>
              <a:t>Three properties varied independently</a:t>
            </a:r>
          </a:p>
          <a:p>
            <a:pPr algn="l">
              <a:lnSpc>
                <a:spcPct val="136000"/>
              </a:lnSpc>
            </a:pPr>
            <a:r>
              <a:rPr sz="600" b="0">
                <a:solidFill>
                  <a:srgbClr val="1A1D21"/>
                </a:solidFill>
                <a:latin typeface="Segoe UI"/>
              </a:rPr>
              <a:t/>
            </a:r>
          </a:p>
          <a:p>
            <a:pPr algn="l">
              <a:lnSpc>
                <a:spcPct val="136000"/>
              </a:lnSpc>
            </a:pPr>
            <a:r>
              <a:rPr sz="1450" b="0">
                <a:solidFill>
                  <a:srgbClr val="70757A"/>
                </a:solidFill>
                <a:latin typeface="Segoe UI"/>
              </a:rPr>
              <a:t>Value skew (Zipfian, 4 levels), predicate correlation (5 levels), physical clustering (4 levels), giving 11 dataset configurations.</a:t>
            </a:r>
          </a:p>
          <a:p>
            <a:pPr algn="l">
              <a:lnSpc>
                <a:spcPct val="136000"/>
              </a:lnSpc>
            </a:pPr>
            <a:r>
              <a:rPr sz="800" b="0">
                <a:solidFill>
                  <a:srgbClr val="1A1D21"/>
                </a:solidFill>
                <a:latin typeface="Segoe UI"/>
              </a:rPr>
              <a:t/>
            </a:r>
          </a:p>
          <a:p>
            <a:pPr algn="l">
              <a:lnSpc>
                <a:spcPct val="136000"/>
              </a:lnSpc>
            </a:pPr>
            <a:r>
              <a:rPr sz="1400" b="1">
                <a:solidFill>
                  <a:srgbClr val="1A1D21"/>
                </a:solidFill>
                <a:latin typeface="Segoe UI"/>
              </a:rPr>
              <a:t>Why not TPC-H</a:t>
            </a:r>
          </a:p>
          <a:p>
            <a:pPr algn="l">
              <a:lnSpc>
                <a:spcPct val="136000"/>
              </a:lnSpc>
            </a:pPr>
            <a:r>
              <a:rPr sz="1450" b="0">
                <a:solidFill>
                  <a:srgbClr val="70757A"/>
                </a:solidFill>
                <a:latin typeface="Segoe UI"/>
              </a:rPr>
              <a:t>A fixed dataset fixes all three at whatever values it happens to have, so no effect can be attributed to a single property. Generating the data also makes the true row count known for every query.</a:t>
            </a:r>
          </a:p>
        </p:txBody>
      </p:sp>
      <p:sp>
        <p:nvSpPr>
          <p:cNvPr id="5" name="TextBox 4"/>
          <p:cNvSpPr txBox="1"/>
          <p:nvPr/>
        </p:nvSpPr>
        <p:spPr>
          <a:xfrm>
            <a:off x="6400800" y="1828800"/>
            <a:ext cx="228600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Table size</a:t>
            </a:r>
          </a:p>
        </p:txBody>
      </p:sp>
      <p:sp>
        <p:nvSpPr>
          <p:cNvPr id="6" name="TextBox 5"/>
          <p:cNvSpPr txBox="1"/>
          <p:nvPr/>
        </p:nvSpPr>
        <p:spPr>
          <a:xfrm>
            <a:off x="8869680" y="1828800"/>
            <a:ext cx="118872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PostgreSQL</a:t>
            </a:r>
          </a:p>
        </p:txBody>
      </p:sp>
      <p:sp>
        <p:nvSpPr>
          <p:cNvPr id="7" name="TextBox 6"/>
          <p:cNvSpPr txBox="1"/>
          <p:nvPr/>
        </p:nvSpPr>
        <p:spPr>
          <a:xfrm>
            <a:off x="10241280" y="1828800"/>
            <a:ext cx="109728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MariaDB</a:t>
            </a:r>
          </a:p>
        </p:txBody>
      </p:sp>
      <p:sp>
        <p:nvSpPr>
          <p:cNvPr id="8" name="Rectangle 7"/>
          <p:cNvSpPr/>
          <p:nvPr/>
        </p:nvSpPr>
        <p:spPr>
          <a:xfrm>
            <a:off x="6309360" y="2130552"/>
            <a:ext cx="51206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276856"/>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1,000,000</a:t>
            </a:r>
          </a:p>
        </p:txBody>
      </p:sp>
      <p:sp>
        <p:nvSpPr>
          <p:cNvPr id="10" name="TextBox 9"/>
          <p:cNvSpPr txBox="1"/>
          <p:nvPr/>
        </p:nvSpPr>
        <p:spPr>
          <a:xfrm>
            <a:off x="8869680" y="2276856"/>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2,398</a:t>
            </a:r>
          </a:p>
        </p:txBody>
      </p:sp>
      <p:sp>
        <p:nvSpPr>
          <p:cNvPr id="11" name="TextBox 10"/>
          <p:cNvSpPr txBox="1"/>
          <p:nvPr/>
        </p:nvSpPr>
        <p:spPr>
          <a:xfrm>
            <a:off x="10241280" y="2276856"/>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1,232</a:t>
            </a:r>
          </a:p>
        </p:txBody>
      </p:sp>
      <p:sp>
        <p:nvSpPr>
          <p:cNvPr id="12" name="Rectangle 11"/>
          <p:cNvSpPr/>
          <p:nvPr/>
        </p:nvSpPr>
        <p:spPr>
          <a:xfrm>
            <a:off x="6309360" y="2546604"/>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638044"/>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1,250,000</a:t>
            </a:r>
          </a:p>
        </p:txBody>
      </p:sp>
      <p:sp>
        <p:nvSpPr>
          <p:cNvPr id="14" name="TextBox 13"/>
          <p:cNvSpPr txBox="1"/>
          <p:nvPr/>
        </p:nvSpPr>
        <p:spPr>
          <a:xfrm>
            <a:off x="8869680" y="2638044"/>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654</a:t>
            </a:r>
          </a:p>
        </p:txBody>
      </p:sp>
      <p:sp>
        <p:nvSpPr>
          <p:cNvPr id="15" name="TextBox 14"/>
          <p:cNvSpPr txBox="1"/>
          <p:nvPr/>
        </p:nvSpPr>
        <p:spPr>
          <a:xfrm>
            <a:off x="10241280" y="2638044"/>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336</a:t>
            </a:r>
          </a:p>
        </p:txBody>
      </p:sp>
      <p:sp>
        <p:nvSpPr>
          <p:cNvPr id="16" name="Rectangle 15"/>
          <p:cNvSpPr/>
          <p:nvPr/>
        </p:nvSpPr>
        <p:spPr>
          <a:xfrm>
            <a:off x="6309360" y="2907792"/>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999232"/>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1,500,000</a:t>
            </a:r>
          </a:p>
        </p:txBody>
      </p:sp>
      <p:sp>
        <p:nvSpPr>
          <p:cNvPr id="18" name="TextBox 17"/>
          <p:cNvSpPr txBox="1"/>
          <p:nvPr/>
        </p:nvSpPr>
        <p:spPr>
          <a:xfrm>
            <a:off x="8869680" y="2999232"/>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654</a:t>
            </a:r>
          </a:p>
        </p:txBody>
      </p:sp>
      <p:sp>
        <p:nvSpPr>
          <p:cNvPr id="19" name="TextBox 18"/>
          <p:cNvSpPr txBox="1"/>
          <p:nvPr/>
        </p:nvSpPr>
        <p:spPr>
          <a:xfrm>
            <a:off x="10241280" y="2999232"/>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336</a:t>
            </a:r>
          </a:p>
        </p:txBody>
      </p:sp>
      <p:sp>
        <p:nvSpPr>
          <p:cNvPr id="20" name="Rectangle 19"/>
          <p:cNvSpPr/>
          <p:nvPr/>
        </p:nvSpPr>
        <p:spPr>
          <a:xfrm>
            <a:off x="6309360" y="3268980"/>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360420"/>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2,000,000</a:t>
            </a:r>
          </a:p>
        </p:txBody>
      </p:sp>
      <p:sp>
        <p:nvSpPr>
          <p:cNvPr id="22" name="TextBox 21"/>
          <p:cNvSpPr txBox="1"/>
          <p:nvPr/>
        </p:nvSpPr>
        <p:spPr>
          <a:xfrm>
            <a:off x="8869680" y="3360420"/>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654</a:t>
            </a:r>
          </a:p>
        </p:txBody>
      </p:sp>
      <p:sp>
        <p:nvSpPr>
          <p:cNvPr id="23" name="TextBox 22"/>
          <p:cNvSpPr txBox="1"/>
          <p:nvPr/>
        </p:nvSpPr>
        <p:spPr>
          <a:xfrm>
            <a:off x="10241280" y="3360420"/>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336</a:t>
            </a:r>
          </a:p>
        </p:txBody>
      </p:sp>
      <p:sp>
        <p:nvSpPr>
          <p:cNvPr id="24" name="Rectangle 23"/>
          <p:cNvSpPr/>
          <p:nvPr/>
        </p:nvSpPr>
        <p:spPr>
          <a:xfrm>
            <a:off x="6309360" y="3630168"/>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721608"/>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3,000,000</a:t>
            </a:r>
          </a:p>
        </p:txBody>
      </p:sp>
      <p:sp>
        <p:nvSpPr>
          <p:cNvPr id="26" name="TextBox 25"/>
          <p:cNvSpPr txBox="1"/>
          <p:nvPr/>
        </p:nvSpPr>
        <p:spPr>
          <a:xfrm>
            <a:off x="8869680" y="3721608"/>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654</a:t>
            </a:r>
          </a:p>
        </p:txBody>
      </p:sp>
      <p:sp>
        <p:nvSpPr>
          <p:cNvPr id="27" name="TextBox 26"/>
          <p:cNvSpPr txBox="1"/>
          <p:nvPr/>
        </p:nvSpPr>
        <p:spPr>
          <a:xfrm>
            <a:off x="10241280" y="3721608"/>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336</a:t>
            </a:r>
          </a:p>
        </p:txBody>
      </p:sp>
      <p:sp>
        <p:nvSpPr>
          <p:cNvPr id="28" name="Rectangle 27"/>
          <p:cNvSpPr/>
          <p:nvPr/>
        </p:nvSpPr>
        <p:spPr>
          <a:xfrm>
            <a:off x="6309360" y="3991356"/>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082796"/>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5,000,000</a:t>
            </a:r>
          </a:p>
        </p:txBody>
      </p:sp>
      <p:sp>
        <p:nvSpPr>
          <p:cNvPr id="30" name="TextBox 29"/>
          <p:cNvSpPr txBox="1"/>
          <p:nvPr/>
        </p:nvSpPr>
        <p:spPr>
          <a:xfrm>
            <a:off x="8869680" y="4082796"/>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654</a:t>
            </a:r>
          </a:p>
        </p:txBody>
      </p:sp>
      <p:sp>
        <p:nvSpPr>
          <p:cNvPr id="31" name="TextBox 30"/>
          <p:cNvSpPr txBox="1"/>
          <p:nvPr/>
        </p:nvSpPr>
        <p:spPr>
          <a:xfrm>
            <a:off x="10241280" y="4082796"/>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336</a:t>
            </a:r>
          </a:p>
        </p:txBody>
      </p:sp>
      <p:sp>
        <p:nvSpPr>
          <p:cNvPr id="32" name="Rectangle 31"/>
          <p:cNvSpPr/>
          <p:nvPr/>
        </p:nvSpPr>
        <p:spPr>
          <a:xfrm>
            <a:off x="6309360" y="4352544"/>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4443984"/>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10,000,000</a:t>
            </a:r>
          </a:p>
        </p:txBody>
      </p:sp>
      <p:sp>
        <p:nvSpPr>
          <p:cNvPr id="34" name="TextBox 33"/>
          <p:cNvSpPr txBox="1"/>
          <p:nvPr/>
        </p:nvSpPr>
        <p:spPr>
          <a:xfrm>
            <a:off x="8869680" y="4443984"/>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2,398</a:t>
            </a:r>
          </a:p>
        </p:txBody>
      </p:sp>
      <p:sp>
        <p:nvSpPr>
          <p:cNvPr id="35" name="TextBox 34"/>
          <p:cNvSpPr txBox="1"/>
          <p:nvPr/>
        </p:nvSpPr>
        <p:spPr>
          <a:xfrm>
            <a:off x="10241280" y="4443984"/>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1,232</a:t>
            </a:r>
          </a:p>
        </p:txBody>
      </p:sp>
      <p:sp>
        <p:nvSpPr>
          <p:cNvPr id="36" name="Rectangle 35"/>
          <p:cNvSpPr/>
          <p:nvPr/>
        </p:nvSpPr>
        <p:spPr>
          <a:xfrm>
            <a:off x="6309360" y="4713732"/>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4805172"/>
            <a:ext cx="22860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Configuration sweeps</a:t>
            </a:r>
          </a:p>
        </p:txBody>
      </p:sp>
      <p:sp>
        <p:nvSpPr>
          <p:cNvPr id="38" name="TextBox 37"/>
          <p:cNvSpPr txBox="1"/>
          <p:nvPr/>
        </p:nvSpPr>
        <p:spPr>
          <a:xfrm>
            <a:off x="8869680" y="4805172"/>
            <a:ext cx="11887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6,230</a:t>
            </a:r>
          </a:p>
        </p:txBody>
      </p:sp>
      <p:sp>
        <p:nvSpPr>
          <p:cNvPr id="39" name="TextBox 38"/>
          <p:cNvSpPr txBox="1"/>
          <p:nvPr/>
        </p:nvSpPr>
        <p:spPr>
          <a:xfrm>
            <a:off x="10241280" y="4805172"/>
            <a:ext cx="10972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5,040</a:t>
            </a:r>
          </a:p>
        </p:txBody>
      </p:sp>
      <p:sp>
        <p:nvSpPr>
          <p:cNvPr id="40" name="Rectangle 39"/>
          <p:cNvSpPr/>
          <p:nvPr/>
        </p:nvSpPr>
        <p:spPr>
          <a:xfrm>
            <a:off x="6309360" y="5074920"/>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0800" y="5166360"/>
            <a:ext cx="2286000" cy="310896"/>
          </a:xfrm>
          <a:prstGeom prst="rect">
            <a:avLst/>
          </a:prstGeom>
          <a:noFill/>
        </p:spPr>
        <p:txBody>
          <a:bodyPr wrap="square" anchor="t" lIns="0" rIns="0" tIns="0" bIns="0">
            <a:spAutoFit/>
          </a:bodyPr>
          <a:lstStyle/>
          <a:p>
            <a:pPr algn="l">
              <a:lnSpc>
                <a:spcPct val="100000"/>
              </a:lnSpc>
            </a:pPr>
            <a:r>
              <a:rPr sz="1300" b="1">
                <a:solidFill>
                  <a:srgbClr val="1A1D21"/>
                </a:solidFill>
                <a:latin typeface="Segoe UI"/>
              </a:rPr>
              <a:t>Total</a:t>
            </a:r>
          </a:p>
        </p:txBody>
      </p:sp>
      <p:sp>
        <p:nvSpPr>
          <p:cNvPr id="42" name="TextBox 41"/>
          <p:cNvSpPr txBox="1"/>
          <p:nvPr/>
        </p:nvSpPr>
        <p:spPr>
          <a:xfrm>
            <a:off x="8869680" y="5166360"/>
            <a:ext cx="1188720" cy="310896"/>
          </a:xfrm>
          <a:prstGeom prst="rect">
            <a:avLst/>
          </a:prstGeom>
          <a:noFill/>
        </p:spPr>
        <p:txBody>
          <a:bodyPr wrap="square" anchor="t" lIns="0" rIns="0" tIns="0" bIns="0">
            <a:spAutoFit/>
          </a:bodyPr>
          <a:lstStyle/>
          <a:p>
            <a:pPr algn="r">
              <a:lnSpc>
                <a:spcPct val="100000"/>
              </a:lnSpc>
            </a:pPr>
            <a:r>
              <a:rPr sz="1300" b="1">
                <a:solidFill>
                  <a:srgbClr val="1A1D21"/>
                </a:solidFill>
                <a:latin typeface="Segoe UI"/>
              </a:rPr>
              <a:t>14,296</a:t>
            </a:r>
          </a:p>
        </p:txBody>
      </p:sp>
      <p:sp>
        <p:nvSpPr>
          <p:cNvPr id="43" name="TextBox 42"/>
          <p:cNvSpPr txBox="1"/>
          <p:nvPr/>
        </p:nvSpPr>
        <p:spPr>
          <a:xfrm>
            <a:off x="10241280" y="5166360"/>
            <a:ext cx="1097280" cy="310896"/>
          </a:xfrm>
          <a:prstGeom prst="rect">
            <a:avLst/>
          </a:prstGeom>
          <a:noFill/>
        </p:spPr>
        <p:txBody>
          <a:bodyPr wrap="square" anchor="t" lIns="0" rIns="0" tIns="0" bIns="0">
            <a:spAutoFit/>
          </a:bodyPr>
          <a:lstStyle/>
          <a:p>
            <a:pPr algn="r">
              <a:lnSpc>
                <a:spcPct val="100000"/>
              </a:lnSpc>
            </a:pPr>
            <a:r>
              <a:rPr sz="1300" b="1">
                <a:solidFill>
                  <a:srgbClr val="1A1D21"/>
                </a:solidFill>
                <a:latin typeface="Segoe UI"/>
              </a:rPr>
              <a:t>9,184</a:t>
            </a:r>
          </a:p>
        </p:txBody>
      </p:sp>
      <p:sp>
        <p:nvSpPr>
          <p:cNvPr id="44" name="Rectangle 43"/>
          <p:cNvSpPr/>
          <p:nvPr/>
        </p:nvSpPr>
        <p:spPr>
          <a:xfrm>
            <a:off x="6309360" y="5454396"/>
            <a:ext cx="51206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10 index configurations, 4 query families, 8 selectivity targets. Seven runs per query, first discarded. Parallelism and JIT off.</a:t>
            </a:r>
          </a:p>
        </p:txBody>
      </p:sp>
      <p:sp>
        <p:nvSpPr>
          <p:cNvPr id="46" name="TextBox 4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1</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Selection quality differs by an order of magnitude</a:t>
            </a:r>
          </a:p>
        </p:txBody>
      </p:sp>
      <p:sp>
        <p:nvSpPr>
          <p:cNvPr id="4" name="TextBox 3"/>
          <p:cNvSpPr txBox="1"/>
          <p:nvPr/>
        </p:nvSpPr>
        <p:spPr>
          <a:xfrm>
            <a:off x="914400" y="1965960"/>
            <a:ext cx="246888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Engine</a:t>
            </a:r>
          </a:p>
        </p:txBody>
      </p:sp>
      <p:sp>
        <p:nvSpPr>
          <p:cNvPr id="5" name="TextBox 4"/>
          <p:cNvSpPr txBox="1"/>
          <p:nvPr/>
        </p:nvSpPr>
        <p:spPr>
          <a:xfrm>
            <a:off x="3566160" y="1965960"/>
            <a:ext cx="105156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Queries</a:t>
            </a:r>
          </a:p>
        </p:txBody>
      </p:sp>
      <p:sp>
        <p:nvSpPr>
          <p:cNvPr id="6" name="TextBox 5"/>
          <p:cNvSpPr txBox="1"/>
          <p:nvPr/>
        </p:nvSpPr>
        <p:spPr>
          <a:xfrm>
            <a:off x="4800600" y="1965960"/>
            <a:ext cx="128016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Chose badly</a:t>
            </a:r>
          </a:p>
        </p:txBody>
      </p:sp>
      <p:sp>
        <p:nvSpPr>
          <p:cNvPr id="7" name="TextBox 6"/>
          <p:cNvSpPr txBox="1"/>
          <p:nvPr/>
        </p:nvSpPr>
        <p:spPr>
          <a:xfrm>
            <a:off x="6263640" y="1965960"/>
            <a:ext cx="137160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Median regret</a:t>
            </a:r>
          </a:p>
        </p:txBody>
      </p:sp>
      <p:sp>
        <p:nvSpPr>
          <p:cNvPr id="8" name="TextBox 7"/>
          <p:cNvSpPr txBox="1"/>
          <p:nvPr/>
        </p:nvSpPr>
        <p:spPr>
          <a:xfrm>
            <a:off x="7818120" y="1965960"/>
            <a:ext cx="118872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Worst case</a:t>
            </a:r>
          </a:p>
        </p:txBody>
      </p:sp>
      <p:sp>
        <p:nvSpPr>
          <p:cNvPr id="9" name="Rectangle 8"/>
          <p:cNvSpPr/>
          <p:nvPr/>
        </p:nvSpPr>
        <p:spPr>
          <a:xfrm>
            <a:off x="822960" y="2267712"/>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14016"/>
            <a:ext cx="2468880" cy="310896"/>
          </a:xfrm>
          <a:prstGeom prst="rect">
            <a:avLst/>
          </a:prstGeom>
          <a:noFill/>
        </p:spPr>
        <p:txBody>
          <a:bodyPr wrap="square" anchor="t" lIns="0" rIns="0" tIns="0" bIns="0">
            <a:spAutoFit/>
          </a:bodyPr>
          <a:lstStyle/>
          <a:p>
            <a:pPr algn="l">
              <a:lnSpc>
                <a:spcPct val="100000"/>
              </a:lnSpc>
            </a:pPr>
            <a:r>
              <a:rPr sz="1450" b="0">
                <a:solidFill>
                  <a:srgbClr val="1A1D21"/>
                </a:solidFill>
                <a:latin typeface="Segoe UI"/>
              </a:rPr>
              <a:t>PostgreSQL 17.1</a:t>
            </a:r>
          </a:p>
        </p:txBody>
      </p:sp>
      <p:sp>
        <p:nvSpPr>
          <p:cNvPr id="11" name="TextBox 10"/>
          <p:cNvSpPr txBox="1"/>
          <p:nvPr/>
        </p:nvSpPr>
        <p:spPr>
          <a:xfrm>
            <a:off x="3566160" y="2414016"/>
            <a:ext cx="105156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130</a:t>
            </a:r>
          </a:p>
        </p:txBody>
      </p:sp>
      <p:sp>
        <p:nvSpPr>
          <p:cNvPr id="12" name="TextBox 11"/>
          <p:cNvSpPr txBox="1"/>
          <p:nvPr/>
        </p:nvSpPr>
        <p:spPr>
          <a:xfrm>
            <a:off x="4800600" y="2414016"/>
            <a:ext cx="128016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2.3%</a:t>
            </a:r>
          </a:p>
        </p:txBody>
      </p:sp>
      <p:sp>
        <p:nvSpPr>
          <p:cNvPr id="13" name="TextBox 12"/>
          <p:cNvSpPr txBox="1"/>
          <p:nvPr/>
        </p:nvSpPr>
        <p:spPr>
          <a:xfrm>
            <a:off x="6263640" y="2414016"/>
            <a:ext cx="137160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1.01</a:t>
            </a:r>
          </a:p>
        </p:txBody>
      </p:sp>
      <p:sp>
        <p:nvSpPr>
          <p:cNvPr id="14" name="TextBox 13"/>
          <p:cNvSpPr txBox="1"/>
          <p:nvPr/>
        </p:nvSpPr>
        <p:spPr>
          <a:xfrm>
            <a:off x="7818120" y="2414016"/>
            <a:ext cx="118872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1.39</a:t>
            </a:r>
          </a:p>
        </p:txBody>
      </p:sp>
      <p:sp>
        <p:nvSpPr>
          <p:cNvPr id="15" name="Rectangle 14"/>
          <p:cNvSpPr/>
          <p:nvPr/>
        </p:nvSpPr>
        <p:spPr>
          <a:xfrm>
            <a:off x="822960" y="2761488"/>
            <a:ext cx="82753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852928"/>
            <a:ext cx="2468880" cy="310896"/>
          </a:xfrm>
          <a:prstGeom prst="rect">
            <a:avLst/>
          </a:prstGeom>
          <a:noFill/>
        </p:spPr>
        <p:txBody>
          <a:bodyPr wrap="square" anchor="t" lIns="0" rIns="0" tIns="0" bIns="0">
            <a:spAutoFit/>
          </a:bodyPr>
          <a:lstStyle/>
          <a:p>
            <a:pPr algn="l">
              <a:lnSpc>
                <a:spcPct val="100000"/>
              </a:lnSpc>
            </a:pPr>
            <a:r>
              <a:rPr sz="1450" b="0">
                <a:solidFill>
                  <a:srgbClr val="1A1D21"/>
                </a:solidFill>
                <a:latin typeface="Segoe UI"/>
              </a:rPr>
              <a:t>MariaDB 10.4.28</a:t>
            </a:r>
          </a:p>
        </p:txBody>
      </p:sp>
      <p:sp>
        <p:nvSpPr>
          <p:cNvPr id="17" name="TextBox 16"/>
          <p:cNvSpPr txBox="1"/>
          <p:nvPr/>
        </p:nvSpPr>
        <p:spPr>
          <a:xfrm>
            <a:off x="3566160" y="2852928"/>
            <a:ext cx="105156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153</a:t>
            </a:r>
          </a:p>
        </p:txBody>
      </p:sp>
      <p:sp>
        <p:nvSpPr>
          <p:cNvPr id="18" name="TextBox 17"/>
          <p:cNvSpPr txBox="1"/>
          <p:nvPr/>
        </p:nvSpPr>
        <p:spPr>
          <a:xfrm>
            <a:off x="4800600" y="2852928"/>
            <a:ext cx="128016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66.0%</a:t>
            </a:r>
          </a:p>
        </p:txBody>
      </p:sp>
      <p:sp>
        <p:nvSpPr>
          <p:cNvPr id="19" name="TextBox 18"/>
          <p:cNvSpPr txBox="1"/>
          <p:nvPr/>
        </p:nvSpPr>
        <p:spPr>
          <a:xfrm>
            <a:off x="6263640" y="2852928"/>
            <a:ext cx="137160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1.34</a:t>
            </a:r>
          </a:p>
        </p:txBody>
      </p:sp>
      <p:sp>
        <p:nvSpPr>
          <p:cNvPr id="20" name="TextBox 19"/>
          <p:cNvSpPr txBox="1"/>
          <p:nvPr/>
        </p:nvSpPr>
        <p:spPr>
          <a:xfrm>
            <a:off x="7818120" y="2852928"/>
            <a:ext cx="118872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7.91</a:t>
            </a:r>
          </a:p>
        </p:txBody>
      </p:sp>
      <p:sp>
        <p:nvSpPr>
          <p:cNvPr id="21" name="Rectangle 20"/>
          <p:cNvSpPr/>
          <p:nvPr/>
        </p:nvSpPr>
        <p:spPr>
          <a:xfrm>
            <a:off x="822960" y="3218688"/>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3520440"/>
            <a:ext cx="827532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794760"/>
            <a:ext cx="5577840" cy="2194560"/>
          </a:xfrm>
          <a:prstGeom prst="rect">
            <a:avLst/>
          </a:prstGeom>
          <a:noFill/>
        </p:spPr>
        <p:txBody>
          <a:bodyPr wrap="square" anchor="t" lIns="0" rIns="0" tIns="0" bIns="0">
            <a:spAutoFit/>
          </a:bodyPr>
          <a:lstStyle/>
          <a:p>
            <a:pPr algn="l">
              <a:lnSpc>
                <a:spcPct val="138000"/>
              </a:lnSpc>
            </a:pPr>
            <a:r>
              <a:rPr sz="1400" b="1">
                <a:solidFill>
                  <a:srgbClr val="A8322A"/>
                </a:solidFill>
                <a:latin typeface="Segoe UI"/>
              </a:rPr>
              <a:t>Read the last two columns together</a:t>
            </a:r>
          </a:p>
          <a:p>
            <a:pPr algn="l">
              <a:lnSpc>
                <a:spcPct val="138000"/>
              </a:lnSpc>
            </a:pPr>
            <a:r>
              <a:rPr sz="600" b="0">
                <a:solidFill>
                  <a:srgbClr val="1A1D21"/>
                </a:solidFill>
                <a:latin typeface="Segoe UI"/>
              </a:rPr>
              <a:t/>
            </a:r>
          </a:p>
          <a:p>
            <a:pPr algn="l">
              <a:lnSpc>
                <a:spcPct val="138000"/>
              </a:lnSpc>
            </a:pPr>
            <a:r>
              <a:rPr sz="1450" b="0">
                <a:solidFill>
                  <a:srgbClr val="70757A"/>
                </a:solidFill>
                <a:latin typeface="Segoe UI"/>
              </a:rPr>
              <a:t>PostgreSQL is almost always right, and when wrong is wrong by 39%. MariaDB is usually wrong, but its median error is 34%. These are two different failure profiles, not one engine being better at everything, and the rest of the talk separates them.</a:t>
            </a:r>
          </a:p>
        </p:txBody>
      </p:sp>
      <p:pic>
        <p:nvPicPr>
          <p:cNvPr id="24" name="Picture 23" descr="fig2_regret_by_selectivity.png"/>
          <p:cNvPicPr>
            <a:picLocks noChangeAspect="1"/>
          </p:cNvPicPr>
          <p:nvPr/>
        </p:nvPicPr>
        <p:blipFill>
          <a:blip r:embed="rId3"/>
          <a:stretch>
            <a:fillRect/>
          </a:stretch>
        </p:blipFill>
        <p:spPr>
          <a:xfrm>
            <a:off x="7182884" y="3657600"/>
            <a:ext cx="3647912" cy="2377440"/>
          </a:xfrm>
          <a:prstGeom prst="rect">
            <a:avLst/>
          </a:prstGeom>
        </p:spPr>
      </p:pic>
      <p:sp>
        <p:nvSpPr>
          <p:cNvPr id="25" name="TextBox 24"/>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Measured at 1,000,000 rows. Both engines judged only against plans the other could also have formed.</a:t>
            </a:r>
          </a:p>
        </p:txBody>
      </p:sp>
      <p:sp>
        <p:nvSpPr>
          <p:cNvPr id="26" name="TextBox 2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1, DECOMPOSED</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The two engines fail on different families</a:t>
            </a:r>
          </a:p>
        </p:txBody>
      </p:sp>
      <p:sp>
        <p:nvSpPr>
          <p:cNvPr id="4" name="TextBox 3"/>
          <p:cNvSpPr txBox="1"/>
          <p:nvPr/>
        </p:nvSpPr>
        <p:spPr>
          <a:xfrm>
            <a:off x="914400" y="1828800"/>
            <a:ext cx="1051560" cy="502920"/>
          </a:xfrm>
          <a:prstGeom prst="rect">
            <a:avLst/>
          </a:prstGeom>
          <a:noFill/>
        </p:spPr>
        <p:txBody>
          <a:bodyPr wrap="square" anchor="b" lIns="0" rIns="0" tIns="0" bIns="0">
            <a:spAutoFit/>
          </a:bodyPr>
          <a:lstStyle/>
          <a:p>
            <a:pPr algn="l">
              <a:lnSpc>
                <a:spcPct val="110000"/>
              </a:lnSpc>
            </a:pPr>
            <a:r>
              <a:rPr sz="1000" b="1">
                <a:solidFill>
                  <a:srgbClr val="70757A"/>
                </a:solidFill>
                <a:latin typeface="Segoe UI"/>
              </a:rPr>
              <a:t>Family</a:t>
            </a:r>
          </a:p>
        </p:txBody>
      </p:sp>
      <p:sp>
        <p:nvSpPr>
          <p:cNvPr id="5" name="TextBox 4"/>
          <p:cNvSpPr txBox="1"/>
          <p:nvPr/>
        </p:nvSpPr>
        <p:spPr>
          <a:xfrm>
            <a:off x="2148840" y="1828800"/>
            <a:ext cx="50292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PG n</a:t>
            </a:r>
          </a:p>
        </p:txBody>
      </p:sp>
      <p:sp>
        <p:nvSpPr>
          <p:cNvPr id="6" name="TextBox 5"/>
          <p:cNvSpPr txBox="1"/>
          <p:nvPr/>
        </p:nvSpPr>
        <p:spPr>
          <a:xfrm>
            <a:off x="2834640" y="1828800"/>
            <a:ext cx="91440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PG wrong</a:t>
            </a:r>
          </a:p>
        </p:txBody>
      </p:sp>
      <p:sp>
        <p:nvSpPr>
          <p:cNvPr id="7" name="TextBox 6"/>
          <p:cNvSpPr txBox="1"/>
          <p:nvPr/>
        </p:nvSpPr>
        <p:spPr>
          <a:xfrm>
            <a:off x="3931920" y="1828800"/>
            <a:ext cx="96012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PG median</a:t>
            </a:r>
          </a:p>
        </p:txBody>
      </p:sp>
      <p:sp>
        <p:nvSpPr>
          <p:cNvPr id="8" name="TextBox 7"/>
          <p:cNvSpPr txBox="1"/>
          <p:nvPr/>
        </p:nvSpPr>
        <p:spPr>
          <a:xfrm>
            <a:off x="5074920" y="1828800"/>
            <a:ext cx="96012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PG q-error</a:t>
            </a:r>
          </a:p>
        </p:txBody>
      </p:sp>
      <p:sp>
        <p:nvSpPr>
          <p:cNvPr id="9" name="TextBox 8"/>
          <p:cNvSpPr txBox="1"/>
          <p:nvPr/>
        </p:nvSpPr>
        <p:spPr>
          <a:xfrm>
            <a:off x="6217920" y="1828800"/>
            <a:ext cx="59436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MDB n</a:t>
            </a:r>
          </a:p>
        </p:txBody>
      </p:sp>
      <p:sp>
        <p:nvSpPr>
          <p:cNvPr id="10" name="TextBox 9"/>
          <p:cNvSpPr txBox="1"/>
          <p:nvPr/>
        </p:nvSpPr>
        <p:spPr>
          <a:xfrm>
            <a:off x="6995160" y="1828800"/>
            <a:ext cx="100584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MDB wrong</a:t>
            </a:r>
          </a:p>
        </p:txBody>
      </p:sp>
      <p:sp>
        <p:nvSpPr>
          <p:cNvPr id="11" name="TextBox 10"/>
          <p:cNvSpPr txBox="1"/>
          <p:nvPr/>
        </p:nvSpPr>
        <p:spPr>
          <a:xfrm>
            <a:off x="8183880" y="1828800"/>
            <a:ext cx="105156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MDB median</a:t>
            </a:r>
          </a:p>
        </p:txBody>
      </p:sp>
      <p:sp>
        <p:nvSpPr>
          <p:cNvPr id="12" name="TextBox 11"/>
          <p:cNvSpPr txBox="1"/>
          <p:nvPr/>
        </p:nvSpPr>
        <p:spPr>
          <a:xfrm>
            <a:off x="9418320" y="1828800"/>
            <a:ext cx="1051560" cy="502920"/>
          </a:xfrm>
          <a:prstGeom prst="rect">
            <a:avLst/>
          </a:prstGeom>
          <a:noFill/>
        </p:spPr>
        <p:txBody>
          <a:bodyPr wrap="square" anchor="b" lIns="0" rIns="0" tIns="0" bIns="0">
            <a:spAutoFit/>
          </a:bodyPr>
          <a:lstStyle/>
          <a:p>
            <a:pPr algn="r">
              <a:lnSpc>
                <a:spcPct val="110000"/>
              </a:lnSpc>
            </a:pPr>
            <a:r>
              <a:rPr sz="1000" b="1">
                <a:solidFill>
                  <a:srgbClr val="70757A"/>
                </a:solidFill>
                <a:latin typeface="Segoe UI"/>
              </a:rPr>
              <a:t>MDB q-error</a:t>
            </a:r>
          </a:p>
        </p:txBody>
      </p:sp>
      <p:sp>
        <p:nvSpPr>
          <p:cNvPr id="13" name="Rectangle 12"/>
          <p:cNvSpPr/>
          <p:nvPr/>
        </p:nvSpPr>
        <p:spPr>
          <a:xfrm>
            <a:off x="822960" y="2331720"/>
            <a:ext cx="9738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478024"/>
            <a:ext cx="10515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conj</a:t>
            </a:r>
          </a:p>
        </p:txBody>
      </p:sp>
      <p:sp>
        <p:nvSpPr>
          <p:cNvPr id="15" name="TextBox 14"/>
          <p:cNvSpPr txBox="1"/>
          <p:nvPr/>
        </p:nvSpPr>
        <p:spPr>
          <a:xfrm>
            <a:off x="2148840" y="2478024"/>
            <a:ext cx="5029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19</a:t>
            </a:r>
          </a:p>
        </p:txBody>
      </p:sp>
      <p:sp>
        <p:nvSpPr>
          <p:cNvPr id="16" name="TextBox 15"/>
          <p:cNvSpPr txBox="1"/>
          <p:nvPr/>
        </p:nvSpPr>
        <p:spPr>
          <a:xfrm>
            <a:off x="2834640" y="2478024"/>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10.5%</a:t>
            </a:r>
          </a:p>
        </p:txBody>
      </p:sp>
      <p:sp>
        <p:nvSpPr>
          <p:cNvPr id="17" name="TextBox 16"/>
          <p:cNvSpPr txBox="1"/>
          <p:nvPr/>
        </p:nvSpPr>
        <p:spPr>
          <a:xfrm>
            <a:off x="3931920" y="2478024"/>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1.044</a:t>
            </a:r>
          </a:p>
        </p:txBody>
      </p:sp>
      <p:sp>
        <p:nvSpPr>
          <p:cNvPr id="18" name="TextBox 17"/>
          <p:cNvSpPr txBox="1"/>
          <p:nvPr/>
        </p:nvSpPr>
        <p:spPr>
          <a:xfrm>
            <a:off x="5074920" y="2478024"/>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71.3</a:t>
            </a:r>
          </a:p>
        </p:txBody>
      </p:sp>
      <p:sp>
        <p:nvSpPr>
          <p:cNvPr id="19" name="TextBox 18"/>
          <p:cNvSpPr txBox="1"/>
          <p:nvPr/>
        </p:nvSpPr>
        <p:spPr>
          <a:xfrm>
            <a:off x="6217920" y="2478024"/>
            <a:ext cx="5943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20</a:t>
            </a:r>
          </a:p>
        </p:txBody>
      </p:sp>
      <p:sp>
        <p:nvSpPr>
          <p:cNvPr id="20" name="TextBox 19"/>
          <p:cNvSpPr txBox="1"/>
          <p:nvPr/>
        </p:nvSpPr>
        <p:spPr>
          <a:xfrm>
            <a:off x="6995160" y="2478024"/>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45.0%</a:t>
            </a:r>
          </a:p>
        </p:txBody>
      </p:sp>
      <p:sp>
        <p:nvSpPr>
          <p:cNvPr id="21" name="TextBox 20"/>
          <p:cNvSpPr txBox="1"/>
          <p:nvPr/>
        </p:nvSpPr>
        <p:spPr>
          <a:xfrm>
            <a:off x="8183880" y="2478024"/>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1.067</a:t>
            </a:r>
          </a:p>
        </p:txBody>
      </p:sp>
      <p:sp>
        <p:nvSpPr>
          <p:cNvPr id="22" name="TextBox 21"/>
          <p:cNvSpPr txBox="1"/>
          <p:nvPr/>
        </p:nvSpPr>
        <p:spPr>
          <a:xfrm>
            <a:off x="9418320" y="2478024"/>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1.00</a:t>
            </a:r>
          </a:p>
        </p:txBody>
      </p:sp>
      <p:sp>
        <p:nvSpPr>
          <p:cNvPr id="23" name="Rectangle 22"/>
          <p:cNvSpPr/>
          <p:nvPr/>
        </p:nvSpPr>
        <p:spPr>
          <a:xfrm>
            <a:off x="822960" y="2788920"/>
            <a:ext cx="9738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80360"/>
            <a:ext cx="1051560" cy="310896"/>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eq</a:t>
            </a:r>
          </a:p>
        </p:txBody>
      </p:sp>
      <p:sp>
        <p:nvSpPr>
          <p:cNvPr id="25" name="TextBox 24"/>
          <p:cNvSpPr txBox="1"/>
          <p:nvPr/>
        </p:nvSpPr>
        <p:spPr>
          <a:xfrm>
            <a:off x="2148840" y="2880360"/>
            <a:ext cx="50292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3</a:t>
            </a:r>
          </a:p>
        </p:txBody>
      </p:sp>
      <p:sp>
        <p:nvSpPr>
          <p:cNvPr id="26" name="TextBox 25"/>
          <p:cNvSpPr txBox="1"/>
          <p:nvPr/>
        </p:nvSpPr>
        <p:spPr>
          <a:xfrm>
            <a:off x="2834640" y="2880360"/>
            <a:ext cx="91440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0.0%</a:t>
            </a:r>
          </a:p>
        </p:txBody>
      </p:sp>
      <p:sp>
        <p:nvSpPr>
          <p:cNvPr id="27" name="TextBox 26"/>
          <p:cNvSpPr txBox="1"/>
          <p:nvPr/>
        </p:nvSpPr>
        <p:spPr>
          <a:xfrm>
            <a:off x="3931920" y="2880360"/>
            <a:ext cx="96012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1.013</a:t>
            </a:r>
          </a:p>
        </p:txBody>
      </p:sp>
      <p:sp>
        <p:nvSpPr>
          <p:cNvPr id="28" name="TextBox 27"/>
          <p:cNvSpPr txBox="1"/>
          <p:nvPr/>
        </p:nvSpPr>
        <p:spPr>
          <a:xfrm>
            <a:off x="5074920" y="2880360"/>
            <a:ext cx="96012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1.00</a:t>
            </a:r>
          </a:p>
        </p:txBody>
      </p:sp>
      <p:sp>
        <p:nvSpPr>
          <p:cNvPr id="29" name="TextBox 28"/>
          <p:cNvSpPr txBox="1"/>
          <p:nvPr/>
        </p:nvSpPr>
        <p:spPr>
          <a:xfrm>
            <a:off x="6217920" y="2880360"/>
            <a:ext cx="59436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3</a:t>
            </a:r>
          </a:p>
        </p:txBody>
      </p:sp>
      <p:sp>
        <p:nvSpPr>
          <p:cNvPr id="30" name="TextBox 29"/>
          <p:cNvSpPr txBox="1"/>
          <p:nvPr/>
        </p:nvSpPr>
        <p:spPr>
          <a:xfrm>
            <a:off x="6995160" y="2880360"/>
            <a:ext cx="100584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100.0%</a:t>
            </a:r>
          </a:p>
        </p:txBody>
      </p:sp>
      <p:sp>
        <p:nvSpPr>
          <p:cNvPr id="31" name="TextBox 30"/>
          <p:cNvSpPr txBox="1"/>
          <p:nvPr/>
        </p:nvSpPr>
        <p:spPr>
          <a:xfrm>
            <a:off x="8183880" y="2880360"/>
            <a:ext cx="105156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6.837</a:t>
            </a:r>
          </a:p>
        </p:txBody>
      </p:sp>
      <p:sp>
        <p:nvSpPr>
          <p:cNvPr id="32" name="TextBox 31"/>
          <p:cNvSpPr txBox="1"/>
          <p:nvPr/>
        </p:nvSpPr>
        <p:spPr>
          <a:xfrm>
            <a:off x="9418320" y="2880360"/>
            <a:ext cx="105156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1.29</a:t>
            </a:r>
          </a:p>
        </p:txBody>
      </p:sp>
      <p:sp>
        <p:nvSpPr>
          <p:cNvPr id="33" name="Rectangle 32"/>
          <p:cNvSpPr/>
          <p:nvPr/>
        </p:nvSpPr>
        <p:spPr>
          <a:xfrm>
            <a:off x="822960" y="3191256"/>
            <a:ext cx="9738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282696"/>
            <a:ext cx="10515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range</a:t>
            </a:r>
          </a:p>
        </p:txBody>
      </p:sp>
      <p:sp>
        <p:nvSpPr>
          <p:cNvPr id="35" name="TextBox 34"/>
          <p:cNvSpPr txBox="1"/>
          <p:nvPr/>
        </p:nvSpPr>
        <p:spPr>
          <a:xfrm>
            <a:off x="2148840" y="3282696"/>
            <a:ext cx="5029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55</a:t>
            </a:r>
          </a:p>
        </p:txBody>
      </p:sp>
      <p:sp>
        <p:nvSpPr>
          <p:cNvPr id="36" name="TextBox 35"/>
          <p:cNvSpPr txBox="1"/>
          <p:nvPr/>
        </p:nvSpPr>
        <p:spPr>
          <a:xfrm>
            <a:off x="2834640" y="3282696"/>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1.8%</a:t>
            </a:r>
          </a:p>
        </p:txBody>
      </p:sp>
      <p:sp>
        <p:nvSpPr>
          <p:cNvPr id="37" name="TextBox 36"/>
          <p:cNvSpPr txBox="1"/>
          <p:nvPr/>
        </p:nvSpPr>
        <p:spPr>
          <a:xfrm>
            <a:off x="3931920" y="3282696"/>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1.013</a:t>
            </a:r>
          </a:p>
        </p:txBody>
      </p:sp>
      <p:sp>
        <p:nvSpPr>
          <p:cNvPr id="38" name="TextBox 37"/>
          <p:cNvSpPr txBox="1"/>
          <p:nvPr/>
        </p:nvSpPr>
        <p:spPr>
          <a:xfrm>
            <a:off x="5074920" y="3282696"/>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1.01</a:t>
            </a:r>
          </a:p>
        </p:txBody>
      </p:sp>
      <p:sp>
        <p:nvSpPr>
          <p:cNvPr id="39" name="TextBox 38"/>
          <p:cNvSpPr txBox="1"/>
          <p:nvPr/>
        </p:nvSpPr>
        <p:spPr>
          <a:xfrm>
            <a:off x="6217920" y="3282696"/>
            <a:ext cx="5943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66</a:t>
            </a:r>
          </a:p>
        </p:txBody>
      </p:sp>
      <p:sp>
        <p:nvSpPr>
          <p:cNvPr id="40" name="TextBox 39"/>
          <p:cNvSpPr txBox="1"/>
          <p:nvPr/>
        </p:nvSpPr>
        <p:spPr>
          <a:xfrm>
            <a:off x="6995160" y="3282696"/>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71.2%</a:t>
            </a:r>
          </a:p>
        </p:txBody>
      </p:sp>
      <p:sp>
        <p:nvSpPr>
          <p:cNvPr id="41" name="TextBox 40"/>
          <p:cNvSpPr txBox="1"/>
          <p:nvPr/>
        </p:nvSpPr>
        <p:spPr>
          <a:xfrm>
            <a:off x="8183880" y="3282696"/>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1.347</a:t>
            </a:r>
          </a:p>
        </p:txBody>
      </p:sp>
      <p:sp>
        <p:nvSpPr>
          <p:cNvPr id="42" name="TextBox 41"/>
          <p:cNvSpPr txBox="1"/>
          <p:nvPr/>
        </p:nvSpPr>
        <p:spPr>
          <a:xfrm>
            <a:off x="9418320" y="3282696"/>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1.84</a:t>
            </a:r>
          </a:p>
        </p:txBody>
      </p:sp>
      <p:sp>
        <p:nvSpPr>
          <p:cNvPr id="43" name="Rectangle 42"/>
          <p:cNvSpPr/>
          <p:nvPr/>
        </p:nvSpPr>
        <p:spPr>
          <a:xfrm>
            <a:off x="822960" y="3593592"/>
            <a:ext cx="9738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3685032"/>
            <a:ext cx="10515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ts_range</a:t>
            </a:r>
          </a:p>
        </p:txBody>
      </p:sp>
      <p:sp>
        <p:nvSpPr>
          <p:cNvPr id="45" name="TextBox 44"/>
          <p:cNvSpPr txBox="1"/>
          <p:nvPr/>
        </p:nvSpPr>
        <p:spPr>
          <a:xfrm>
            <a:off x="2148840" y="3685032"/>
            <a:ext cx="5029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53</a:t>
            </a:r>
          </a:p>
        </p:txBody>
      </p:sp>
      <p:sp>
        <p:nvSpPr>
          <p:cNvPr id="46" name="TextBox 45"/>
          <p:cNvSpPr txBox="1"/>
          <p:nvPr/>
        </p:nvSpPr>
        <p:spPr>
          <a:xfrm>
            <a:off x="2834640" y="3685032"/>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0.0%</a:t>
            </a:r>
          </a:p>
        </p:txBody>
      </p:sp>
      <p:sp>
        <p:nvSpPr>
          <p:cNvPr id="47" name="TextBox 46"/>
          <p:cNvSpPr txBox="1"/>
          <p:nvPr/>
        </p:nvSpPr>
        <p:spPr>
          <a:xfrm>
            <a:off x="3931920" y="3685032"/>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1.001</a:t>
            </a:r>
          </a:p>
        </p:txBody>
      </p:sp>
      <p:sp>
        <p:nvSpPr>
          <p:cNvPr id="48" name="TextBox 47"/>
          <p:cNvSpPr txBox="1"/>
          <p:nvPr/>
        </p:nvSpPr>
        <p:spPr>
          <a:xfrm>
            <a:off x="5074920" y="3685032"/>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1.01</a:t>
            </a:r>
          </a:p>
        </p:txBody>
      </p:sp>
      <p:sp>
        <p:nvSpPr>
          <p:cNvPr id="49" name="TextBox 48"/>
          <p:cNvSpPr txBox="1"/>
          <p:nvPr/>
        </p:nvSpPr>
        <p:spPr>
          <a:xfrm>
            <a:off x="6217920" y="3685032"/>
            <a:ext cx="5943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64</a:t>
            </a:r>
          </a:p>
        </p:txBody>
      </p:sp>
      <p:sp>
        <p:nvSpPr>
          <p:cNvPr id="50" name="TextBox 49"/>
          <p:cNvSpPr txBox="1"/>
          <p:nvPr/>
        </p:nvSpPr>
        <p:spPr>
          <a:xfrm>
            <a:off x="6995160" y="3685032"/>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65.6%</a:t>
            </a:r>
          </a:p>
        </p:txBody>
      </p:sp>
      <p:sp>
        <p:nvSpPr>
          <p:cNvPr id="51" name="TextBox 50"/>
          <p:cNvSpPr txBox="1"/>
          <p:nvPr/>
        </p:nvSpPr>
        <p:spPr>
          <a:xfrm>
            <a:off x="8183880" y="3685032"/>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1.343</a:t>
            </a:r>
          </a:p>
        </p:txBody>
      </p:sp>
      <p:sp>
        <p:nvSpPr>
          <p:cNvPr id="52" name="TextBox 51"/>
          <p:cNvSpPr txBox="1"/>
          <p:nvPr/>
        </p:nvSpPr>
        <p:spPr>
          <a:xfrm>
            <a:off x="9418320" y="3685032"/>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1.97</a:t>
            </a:r>
          </a:p>
        </p:txBody>
      </p:sp>
      <p:sp>
        <p:nvSpPr>
          <p:cNvPr id="53" name="Rectangle 52"/>
          <p:cNvSpPr/>
          <p:nvPr/>
        </p:nvSpPr>
        <p:spPr>
          <a:xfrm>
            <a:off x="822960" y="4014216"/>
            <a:ext cx="9738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2960" y="411480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4434840"/>
            <a:ext cx="5394960" cy="1737360"/>
          </a:xfrm>
          <a:prstGeom prst="rect">
            <a:avLst/>
          </a:prstGeom>
          <a:noFill/>
        </p:spPr>
        <p:txBody>
          <a:bodyPr wrap="square" anchor="t" lIns="0" rIns="0" tIns="0" bIns="0">
            <a:spAutoFit/>
          </a:bodyPr>
          <a:lstStyle/>
          <a:p>
            <a:pPr algn="l">
              <a:lnSpc>
                <a:spcPct val="135000"/>
              </a:lnSpc>
            </a:pPr>
            <a:r>
              <a:rPr sz="1400" b="1">
                <a:solidFill>
                  <a:srgbClr val="1F4E5F"/>
                </a:solidFill>
                <a:latin typeface="Segoe UI"/>
              </a:rPr>
              <a:t>PostgreSQL</a:t>
            </a:r>
            <a:r>
              <a:rPr sz="1450" b="0">
                <a:solidFill>
                  <a:srgbClr val="1A1D21"/>
                </a:solidFill>
                <a:latin typeface="Segoe UI"/>
              </a:rPr>
              <a:t>  errs almost only on conjunctions, and that is exactly where its estimation error is worst, 71.3. Here the textbook story holds.</a:t>
            </a:r>
          </a:p>
        </p:txBody>
      </p:sp>
      <p:sp>
        <p:nvSpPr>
          <p:cNvPr id="56" name="TextBox 55"/>
          <p:cNvSpPr txBox="1"/>
          <p:nvPr/>
        </p:nvSpPr>
        <p:spPr>
          <a:xfrm>
            <a:off x="6583680" y="4434840"/>
            <a:ext cx="4754880" cy="1737360"/>
          </a:xfrm>
          <a:prstGeom prst="rect">
            <a:avLst/>
          </a:prstGeom>
          <a:noFill/>
        </p:spPr>
        <p:txBody>
          <a:bodyPr wrap="square" anchor="t" lIns="0" rIns="0" tIns="0" bIns="0">
            <a:spAutoFit/>
          </a:bodyPr>
          <a:lstStyle/>
          <a:p>
            <a:pPr algn="l">
              <a:lnSpc>
                <a:spcPct val="135000"/>
              </a:lnSpc>
            </a:pPr>
            <a:r>
              <a:rPr sz="1400" b="1">
                <a:solidFill>
                  <a:srgbClr val="A8322A"/>
                </a:solidFill>
                <a:latin typeface="Segoe UI"/>
              </a:rPr>
              <a:t>MariaDB</a:t>
            </a:r>
            <a:r>
              <a:rPr sz="1450" b="0">
                <a:solidFill>
                  <a:srgbClr val="1A1D21"/>
                </a:solidFill>
                <a:latin typeface="Segoe UI"/>
              </a:rPr>
              <a:t>  estimates conjunctions perfectly at 1.00 and still errs on 45% of them. On equality it is wrong every time, by a median of 6.8x, with a near-correct estimate.</a:t>
            </a:r>
          </a:p>
        </p:txBody>
      </p:sp>
      <p:sp>
        <p:nvSpPr>
          <p:cNvPr id="57" name="TextBox 56"/>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MECHANISM</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The gap is a difference in plan repertoire</a:t>
            </a:r>
          </a:p>
        </p:txBody>
      </p:sp>
      <p:sp>
        <p:nvSpPr>
          <p:cNvPr id="4" name="TextBox 3"/>
          <p:cNvSpPr txBox="1"/>
          <p:nvPr/>
        </p:nvSpPr>
        <p:spPr>
          <a:xfrm>
            <a:off x="914400" y="1874519"/>
            <a:ext cx="1188720" cy="502920"/>
          </a:xfrm>
          <a:prstGeom prst="rect">
            <a:avLst/>
          </a:prstGeom>
          <a:noFill/>
        </p:spPr>
        <p:txBody>
          <a:bodyPr wrap="square" anchor="b" lIns="0" rIns="0" tIns="0" bIns="0">
            <a:spAutoFit/>
          </a:bodyPr>
          <a:lstStyle/>
          <a:p>
            <a:pPr algn="l">
              <a:lnSpc>
                <a:spcPct val="110000"/>
              </a:lnSpc>
            </a:pPr>
            <a:r>
              <a:rPr sz="1050" b="1">
                <a:solidFill>
                  <a:srgbClr val="70757A"/>
                </a:solidFill>
                <a:latin typeface="Segoe UI"/>
              </a:rPr>
              <a:t>Family</a:t>
            </a:r>
          </a:p>
        </p:txBody>
      </p:sp>
      <p:sp>
        <p:nvSpPr>
          <p:cNvPr id="5" name="TextBox 4"/>
          <p:cNvSpPr txBox="1"/>
          <p:nvPr/>
        </p:nvSpPr>
        <p:spPr>
          <a:xfrm>
            <a:off x="2286000" y="1874519"/>
            <a:ext cx="109728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PG bitmap</a:t>
            </a:r>
          </a:p>
        </p:txBody>
      </p:sp>
      <p:sp>
        <p:nvSpPr>
          <p:cNvPr id="6" name="TextBox 5"/>
          <p:cNvSpPr txBox="1"/>
          <p:nvPr/>
        </p:nvSpPr>
        <p:spPr>
          <a:xfrm>
            <a:off x="3566160" y="1874519"/>
            <a:ext cx="91440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PG index</a:t>
            </a:r>
          </a:p>
        </p:txBody>
      </p:sp>
      <p:sp>
        <p:nvSpPr>
          <p:cNvPr id="7" name="TextBox 6"/>
          <p:cNvSpPr txBox="1"/>
          <p:nvPr/>
        </p:nvSpPr>
        <p:spPr>
          <a:xfrm>
            <a:off x="4663440" y="1874519"/>
            <a:ext cx="77724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PG seq</a:t>
            </a:r>
          </a:p>
        </p:txBody>
      </p:sp>
      <p:sp>
        <p:nvSpPr>
          <p:cNvPr id="8" name="TextBox 7"/>
          <p:cNvSpPr txBox="1"/>
          <p:nvPr/>
        </p:nvSpPr>
        <p:spPr>
          <a:xfrm>
            <a:off x="5623560" y="1874519"/>
            <a:ext cx="123444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MDB bitmap</a:t>
            </a:r>
          </a:p>
        </p:txBody>
      </p:sp>
      <p:sp>
        <p:nvSpPr>
          <p:cNvPr id="9" name="TextBox 8"/>
          <p:cNvSpPr txBox="1"/>
          <p:nvPr/>
        </p:nvSpPr>
        <p:spPr>
          <a:xfrm>
            <a:off x="7040880" y="1874519"/>
            <a:ext cx="105156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MDB index</a:t>
            </a:r>
          </a:p>
        </p:txBody>
      </p:sp>
      <p:sp>
        <p:nvSpPr>
          <p:cNvPr id="10" name="TextBox 9"/>
          <p:cNvSpPr txBox="1"/>
          <p:nvPr/>
        </p:nvSpPr>
        <p:spPr>
          <a:xfrm>
            <a:off x="8275320" y="1874519"/>
            <a:ext cx="91440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MDB seq</a:t>
            </a:r>
          </a:p>
        </p:txBody>
      </p:sp>
      <p:sp>
        <p:nvSpPr>
          <p:cNvPr id="11" name="Rectangle 10"/>
          <p:cNvSpPr/>
          <p:nvPr/>
        </p:nvSpPr>
        <p:spPr>
          <a:xfrm>
            <a:off x="822960" y="2377439"/>
            <a:ext cx="845820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23743"/>
            <a:ext cx="118872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conj</a:t>
            </a:r>
          </a:p>
        </p:txBody>
      </p:sp>
      <p:sp>
        <p:nvSpPr>
          <p:cNvPr id="13" name="TextBox 12"/>
          <p:cNvSpPr txBox="1"/>
          <p:nvPr/>
        </p:nvSpPr>
        <p:spPr>
          <a:xfrm>
            <a:off x="2286000" y="2523743"/>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110</a:t>
            </a:r>
          </a:p>
        </p:txBody>
      </p:sp>
      <p:sp>
        <p:nvSpPr>
          <p:cNvPr id="14" name="TextBox 13"/>
          <p:cNvSpPr txBox="1"/>
          <p:nvPr/>
        </p:nvSpPr>
        <p:spPr>
          <a:xfrm>
            <a:off x="3566160" y="2523743"/>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15" name="TextBox 14"/>
          <p:cNvSpPr txBox="1"/>
          <p:nvPr/>
        </p:nvSpPr>
        <p:spPr>
          <a:xfrm>
            <a:off x="4663440" y="2523743"/>
            <a:ext cx="7772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16" name="TextBox 15"/>
          <p:cNvSpPr txBox="1"/>
          <p:nvPr/>
        </p:nvSpPr>
        <p:spPr>
          <a:xfrm>
            <a:off x="5623560" y="2523743"/>
            <a:ext cx="12344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7</a:t>
            </a:r>
          </a:p>
        </p:txBody>
      </p:sp>
      <p:sp>
        <p:nvSpPr>
          <p:cNvPr id="17" name="TextBox 16"/>
          <p:cNvSpPr txBox="1"/>
          <p:nvPr/>
        </p:nvSpPr>
        <p:spPr>
          <a:xfrm>
            <a:off x="7040880" y="2523743"/>
            <a:ext cx="10515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103</a:t>
            </a:r>
          </a:p>
        </p:txBody>
      </p:sp>
      <p:sp>
        <p:nvSpPr>
          <p:cNvPr id="18" name="TextBox 17"/>
          <p:cNvSpPr txBox="1"/>
          <p:nvPr/>
        </p:nvSpPr>
        <p:spPr>
          <a:xfrm>
            <a:off x="8275320" y="2523743"/>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19" name="Rectangle 18"/>
          <p:cNvSpPr/>
          <p:nvPr/>
        </p:nvSpPr>
        <p:spPr>
          <a:xfrm>
            <a:off x="822960" y="2834639"/>
            <a:ext cx="84582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2926079"/>
            <a:ext cx="118872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eq</a:t>
            </a:r>
          </a:p>
        </p:txBody>
      </p:sp>
      <p:sp>
        <p:nvSpPr>
          <p:cNvPr id="21" name="TextBox 20"/>
          <p:cNvSpPr txBox="1"/>
          <p:nvPr/>
        </p:nvSpPr>
        <p:spPr>
          <a:xfrm>
            <a:off x="2286000" y="2926079"/>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88</a:t>
            </a:r>
          </a:p>
        </p:txBody>
      </p:sp>
      <p:sp>
        <p:nvSpPr>
          <p:cNvPr id="22" name="TextBox 21"/>
          <p:cNvSpPr txBox="1"/>
          <p:nvPr/>
        </p:nvSpPr>
        <p:spPr>
          <a:xfrm>
            <a:off x="3566160" y="2926079"/>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23" name="TextBox 22"/>
          <p:cNvSpPr txBox="1"/>
          <p:nvPr/>
        </p:nvSpPr>
        <p:spPr>
          <a:xfrm>
            <a:off x="4663440" y="2926079"/>
            <a:ext cx="7772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24" name="TextBox 23"/>
          <p:cNvSpPr txBox="1"/>
          <p:nvPr/>
        </p:nvSpPr>
        <p:spPr>
          <a:xfrm>
            <a:off x="5623560" y="2926079"/>
            <a:ext cx="12344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25" name="TextBox 24"/>
          <p:cNvSpPr txBox="1"/>
          <p:nvPr/>
        </p:nvSpPr>
        <p:spPr>
          <a:xfrm>
            <a:off x="7040880" y="2926079"/>
            <a:ext cx="10515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88</a:t>
            </a:r>
          </a:p>
        </p:txBody>
      </p:sp>
      <p:sp>
        <p:nvSpPr>
          <p:cNvPr id="26" name="TextBox 25"/>
          <p:cNvSpPr txBox="1"/>
          <p:nvPr/>
        </p:nvSpPr>
        <p:spPr>
          <a:xfrm>
            <a:off x="8275320" y="2926079"/>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27" name="Rectangle 26"/>
          <p:cNvSpPr/>
          <p:nvPr/>
        </p:nvSpPr>
        <p:spPr>
          <a:xfrm>
            <a:off x="822960" y="3236975"/>
            <a:ext cx="84582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328415"/>
            <a:ext cx="118872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range</a:t>
            </a:r>
          </a:p>
        </p:txBody>
      </p:sp>
      <p:sp>
        <p:nvSpPr>
          <p:cNvPr id="29" name="TextBox 28"/>
          <p:cNvSpPr txBox="1"/>
          <p:nvPr/>
        </p:nvSpPr>
        <p:spPr>
          <a:xfrm>
            <a:off x="2286000" y="3328415"/>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88</a:t>
            </a:r>
          </a:p>
        </p:txBody>
      </p:sp>
      <p:sp>
        <p:nvSpPr>
          <p:cNvPr id="30" name="TextBox 29"/>
          <p:cNvSpPr txBox="1"/>
          <p:nvPr/>
        </p:nvSpPr>
        <p:spPr>
          <a:xfrm>
            <a:off x="3566160" y="3328415"/>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31" name="TextBox 30"/>
          <p:cNvSpPr txBox="1"/>
          <p:nvPr/>
        </p:nvSpPr>
        <p:spPr>
          <a:xfrm>
            <a:off x="4663440" y="3328415"/>
            <a:ext cx="7772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32" name="TextBox 31"/>
          <p:cNvSpPr txBox="1"/>
          <p:nvPr/>
        </p:nvSpPr>
        <p:spPr>
          <a:xfrm>
            <a:off x="5623560" y="3328415"/>
            <a:ext cx="12344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33" name="TextBox 32"/>
          <p:cNvSpPr txBox="1"/>
          <p:nvPr/>
        </p:nvSpPr>
        <p:spPr>
          <a:xfrm>
            <a:off x="7040880" y="3328415"/>
            <a:ext cx="10515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55</a:t>
            </a:r>
          </a:p>
        </p:txBody>
      </p:sp>
      <p:sp>
        <p:nvSpPr>
          <p:cNvPr id="34" name="TextBox 33"/>
          <p:cNvSpPr txBox="1"/>
          <p:nvPr/>
        </p:nvSpPr>
        <p:spPr>
          <a:xfrm>
            <a:off x="8275320" y="3328415"/>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33</a:t>
            </a:r>
          </a:p>
        </p:txBody>
      </p:sp>
      <p:sp>
        <p:nvSpPr>
          <p:cNvPr id="35" name="Rectangle 34"/>
          <p:cNvSpPr/>
          <p:nvPr/>
        </p:nvSpPr>
        <p:spPr>
          <a:xfrm>
            <a:off x="822960" y="3639311"/>
            <a:ext cx="84582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3730751"/>
            <a:ext cx="118872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ts_range</a:t>
            </a:r>
          </a:p>
        </p:txBody>
      </p:sp>
      <p:sp>
        <p:nvSpPr>
          <p:cNvPr id="37" name="TextBox 36"/>
          <p:cNvSpPr txBox="1"/>
          <p:nvPr/>
        </p:nvSpPr>
        <p:spPr>
          <a:xfrm>
            <a:off x="2286000" y="3730751"/>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60</a:t>
            </a:r>
          </a:p>
        </p:txBody>
      </p:sp>
      <p:sp>
        <p:nvSpPr>
          <p:cNvPr id="38" name="TextBox 37"/>
          <p:cNvSpPr txBox="1"/>
          <p:nvPr/>
        </p:nvSpPr>
        <p:spPr>
          <a:xfrm>
            <a:off x="3566160" y="3730751"/>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19</a:t>
            </a:r>
          </a:p>
        </p:txBody>
      </p:sp>
      <p:sp>
        <p:nvSpPr>
          <p:cNvPr id="39" name="TextBox 38"/>
          <p:cNvSpPr txBox="1"/>
          <p:nvPr/>
        </p:nvSpPr>
        <p:spPr>
          <a:xfrm>
            <a:off x="4663440" y="3730751"/>
            <a:ext cx="7772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9</a:t>
            </a:r>
          </a:p>
        </p:txBody>
      </p:sp>
      <p:sp>
        <p:nvSpPr>
          <p:cNvPr id="40" name="TextBox 39"/>
          <p:cNvSpPr txBox="1"/>
          <p:nvPr/>
        </p:nvSpPr>
        <p:spPr>
          <a:xfrm>
            <a:off x="5623560" y="3730751"/>
            <a:ext cx="123444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0</a:t>
            </a:r>
          </a:p>
        </p:txBody>
      </p:sp>
      <p:sp>
        <p:nvSpPr>
          <p:cNvPr id="41" name="TextBox 40"/>
          <p:cNvSpPr txBox="1"/>
          <p:nvPr/>
        </p:nvSpPr>
        <p:spPr>
          <a:xfrm>
            <a:off x="7040880" y="3730751"/>
            <a:ext cx="10515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55</a:t>
            </a:r>
          </a:p>
        </p:txBody>
      </p:sp>
      <p:sp>
        <p:nvSpPr>
          <p:cNvPr id="42" name="TextBox 41"/>
          <p:cNvSpPr txBox="1"/>
          <p:nvPr/>
        </p:nvSpPr>
        <p:spPr>
          <a:xfrm>
            <a:off x="8275320" y="3730751"/>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33</a:t>
            </a:r>
          </a:p>
        </p:txBody>
      </p:sp>
      <p:sp>
        <p:nvSpPr>
          <p:cNvPr id="43" name="Rectangle 42"/>
          <p:cNvSpPr/>
          <p:nvPr/>
        </p:nvSpPr>
        <p:spPr>
          <a:xfrm>
            <a:off x="822960" y="4059935"/>
            <a:ext cx="845820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2960" y="4114800"/>
            <a:ext cx="845820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60" y="4434840"/>
            <a:ext cx="5486400" cy="1828800"/>
          </a:xfrm>
          <a:prstGeom prst="rect">
            <a:avLst/>
          </a:prstGeom>
          <a:noFill/>
        </p:spPr>
        <p:txBody>
          <a:bodyPr wrap="square" anchor="t" lIns="0" rIns="0" tIns="0" bIns="0">
            <a:spAutoFit/>
          </a:bodyPr>
          <a:lstStyle/>
          <a:p>
            <a:pPr algn="l">
              <a:lnSpc>
                <a:spcPct val="135000"/>
              </a:lnSpc>
            </a:pPr>
            <a:r>
              <a:rPr sz="1500" b="0">
                <a:solidFill>
                  <a:srgbClr val="1A1D21"/>
                </a:solidFill>
                <a:latin typeface="Segoe UI"/>
              </a:rPr>
              <a:t>PostgreSQL sorts row locations into physical order before touching the heap, so even a wrong choice reads the disk sequentially. That puts a ceiling on how bad a mistake can be.</a:t>
            </a:r>
          </a:p>
          <a:p>
            <a:pPr algn="l">
              <a:lnSpc>
                <a:spcPct val="135000"/>
              </a:lnSpc>
            </a:pPr>
            <a:r>
              <a:rPr sz="700" b="0">
                <a:solidFill>
                  <a:srgbClr val="1A1D21"/>
                </a:solidFill>
                <a:latin typeface="Segoe UI"/>
              </a:rPr>
              <a:t/>
            </a:r>
          </a:p>
          <a:p>
            <a:pPr algn="l">
              <a:lnSpc>
                <a:spcPct val="135000"/>
              </a:lnSpc>
            </a:pPr>
            <a:r>
              <a:rPr sz="1500" b="1">
                <a:solidFill>
                  <a:srgbClr val="1A1D21"/>
                </a:solidFill>
                <a:latin typeface="Segoe UI"/>
              </a:rPr>
              <a:t>MariaDB has no equivalent enabled. A mistaken index scan becomes random single-row fetches, and there is no ceiling.</a:t>
            </a:r>
          </a:p>
        </p:txBody>
      </p:sp>
      <p:sp>
        <p:nvSpPr>
          <p:cNvPr id="46" name="TextBox 45"/>
          <p:cNvSpPr txBox="1"/>
          <p:nvPr/>
        </p:nvSpPr>
        <p:spPr>
          <a:xfrm>
            <a:off x="8778240" y="4434840"/>
            <a:ext cx="2560320" cy="1828800"/>
          </a:xfrm>
          <a:prstGeom prst="rect">
            <a:avLst/>
          </a:prstGeom>
          <a:noFill/>
        </p:spPr>
        <p:txBody>
          <a:bodyPr wrap="square" anchor="t" lIns="0" rIns="0" tIns="0" bIns="0">
            <a:spAutoFit/>
          </a:bodyPr>
          <a:lstStyle/>
          <a:p>
            <a:pPr algn="l">
              <a:lnSpc>
                <a:spcPct val="130000"/>
              </a:lnSpc>
            </a:pPr>
            <a:r>
              <a:rPr sz="1300" b="0">
                <a:solidFill>
                  <a:srgbClr val="70757A"/>
                </a:solidFill>
                <a:latin typeface="Segoe UI"/>
              </a:rPr>
              <a:t>On conjunctions MariaDB's</a:t>
            </a:r>
          </a:p>
          <a:p>
            <a:pPr algn="l">
              <a:lnSpc>
                <a:spcPct val="130000"/>
              </a:lnSpc>
            </a:pPr>
            <a:r>
              <a:rPr sz="1300" b="0">
                <a:solidFill>
                  <a:srgbClr val="70757A"/>
                </a:solidFill>
                <a:latin typeface="Segoe UI"/>
              </a:rPr>
              <a:t>raw access types are</a:t>
            </a:r>
          </a:p>
          <a:p>
            <a:pPr algn="l">
              <a:lnSpc>
                <a:spcPct val="130000"/>
              </a:lnSpc>
            </a:pPr>
            <a:r>
              <a:rPr sz="1300" b="0">
                <a:solidFill>
                  <a:srgbClr val="1A1D21"/>
                </a:solidFill>
                <a:latin typeface="Consolas"/>
              </a:rPr>
              <a:t>ref 103, index_merge 7.</a:t>
            </a:r>
          </a:p>
          <a:p>
            <a:pPr algn="l">
              <a:lnSpc>
                <a:spcPct val="130000"/>
              </a:lnSpc>
            </a:pPr>
            <a:r>
              <a:rPr sz="1300" b="0">
                <a:solidFill>
                  <a:srgbClr val="70757A"/>
                </a:solidFill>
                <a:latin typeface="Segoe UI"/>
              </a:rPr>
              <a:t>It merges two indexes only</a:t>
            </a:r>
          </a:p>
          <a:p>
            <a:pPr algn="l">
              <a:lnSpc>
                <a:spcPct val="130000"/>
              </a:lnSpc>
            </a:pPr>
            <a:r>
              <a:rPr sz="1300" b="0">
                <a:solidFill>
                  <a:srgbClr val="70757A"/>
                </a:solidFill>
                <a:latin typeface="Segoe UI"/>
              </a:rPr>
              <a:t>at full correlation.</a:t>
            </a:r>
          </a:p>
        </p:txBody>
      </p:sp>
      <p:sp>
        <p:nvSpPr>
          <p:cNvPr id="47" name="TextBox 46"/>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92989E"/>
                </a:solidFill>
                <a:latin typeface="Segoe UI"/>
              </a:rPr>
              <a:t>ONE ROW FROM THE RAW DATA</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F2EFEA"/>
                </a:solidFill>
                <a:latin typeface="Georgia"/>
              </a:rPr>
              <a:t>MariaDB's worst case was not an estimation failure</a:t>
            </a:r>
          </a:p>
        </p:txBody>
      </p:sp>
      <p:sp>
        <p:nvSpPr>
          <p:cNvPr id="4" name="TextBox 3"/>
          <p:cNvSpPr txBox="1"/>
          <p:nvPr/>
        </p:nvSpPr>
        <p:spPr>
          <a:xfrm>
            <a:off x="914400" y="2103120"/>
            <a:ext cx="2194560" cy="301752"/>
          </a:xfrm>
          <a:prstGeom prst="rect">
            <a:avLst/>
          </a:prstGeom>
          <a:noFill/>
        </p:spPr>
        <p:txBody>
          <a:bodyPr wrap="square" anchor="b" lIns="0" rIns="0" tIns="0" bIns="0">
            <a:spAutoFit/>
          </a:bodyPr>
          <a:lstStyle/>
          <a:p>
            <a:pPr algn="l">
              <a:lnSpc>
                <a:spcPct val="110000"/>
              </a:lnSpc>
            </a:pPr>
            <a:r>
              <a:rPr sz="1100" b="1">
                <a:solidFill>
                  <a:srgbClr val="92989E"/>
                </a:solidFill>
                <a:latin typeface="Segoe UI"/>
              </a:rPr>
              <a:t>Field</a:t>
            </a:r>
          </a:p>
        </p:txBody>
      </p:sp>
      <p:sp>
        <p:nvSpPr>
          <p:cNvPr id="5" name="TextBox 4"/>
          <p:cNvSpPr txBox="1"/>
          <p:nvPr/>
        </p:nvSpPr>
        <p:spPr>
          <a:xfrm>
            <a:off x="3291840" y="2103120"/>
            <a:ext cx="3931920" cy="301752"/>
          </a:xfrm>
          <a:prstGeom prst="rect">
            <a:avLst/>
          </a:prstGeom>
          <a:noFill/>
        </p:spPr>
        <p:txBody>
          <a:bodyPr wrap="square" anchor="b" lIns="0" rIns="0" tIns="0" bIns="0">
            <a:spAutoFit/>
          </a:bodyPr>
          <a:lstStyle/>
          <a:p>
            <a:pPr algn="l">
              <a:lnSpc>
                <a:spcPct val="110000"/>
              </a:lnSpc>
            </a:pPr>
            <a:r>
              <a:rPr sz="1100" b="1">
                <a:solidFill>
                  <a:srgbClr val="92989E"/>
                </a:solidFill>
                <a:latin typeface="Segoe UI"/>
              </a:rPr>
              <a:t>Value</a:t>
            </a:r>
          </a:p>
        </p:txBody>
      </p:sp>
      <p:sp>
        <p:nvSpPr>
          <p:cNvPr id="6" name="Rectangle 5"/>
          <p:cNvSpPr/>
          <p:nvPr/>
        </p:nvSpPr>
        <p:spPr>
          <a:xfrm>
            <a:off x="822960" y="2404872"/>
            <a:ext cx="649224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51176"/>
            <a:ext cx="219456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dataset / family</a:t>
            </a:r>
          </a:p>
        </p:txBody>
      </p:sp>
      <p:sp>
        <p:nvSpPr>
          <p:cNvPr id="8" name="TextBox 7"/>
          <p:cNvSpPr txBox="1"/>
          <p:nvPr/>
        </p:nvSpPr>
        <p:spPr>
          <a:xfrm>
            <a:off x="3291840" y="2551176"/>
            <a:ext cx="393192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skew10 / eq</a:t>
            </a:r>
          </a:p>
        </p:txBody>
      </p:sp>
      <p:sp>
        <p:nvSpPr>
          <p:cNvPr id="9" name="Rectangle 8"/>
          <p:cNvSpPr/>
          <p:nvPr/>
        </p:nvSpPr>
        <p:spPr>
          <a:xfrm>
            <a:off x="822960" y="2843784"/>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35224"/>
            <a:ext cx="219456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true rows</a:t>
            </a:r>
          </a:p>
        </p:txBody>
      </p:sp>
      <p:sp>
        <p:nvSpPr>
          <p:cNvPr id="11" name="TextBox 10"/>
          <p:cNvSpPr txBox="1"/>
          <p:nvPr/>
        </p:nvSpPr>
        <p:spPr>
          <a:xfrm>
            <a:off x="3291840" y="2935224"/>
            <a:ext cx="393192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101,636  (10.2% of the table)</a:t>
            </a:r>
          </a:p>
        </p:txBody>
      </p:sp>
      <p:sp>
        <p:nvSpPr>
          <p:cNvPr id="12" name="Rectangle 11"/>
          <p:cNvSpPr/>
          <p:nvPr/>
        </p:nvSpPr>
        <p:spPr>
          <a:xfrm>
            <a:off x="822960" y="3227832"/>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19272"/>
            <a:ext cx="219456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estimated rows</a:t>
            </a:r>
          </a:p>
        </p:txBody>
      </p:sp>
      <p:sp>
        <p:nvSpPr>
          <p:cNvPr id="14" name="TextBox 13"/>
          <p:cNvSpPr txBox="1"/>
          <p:nvPr/>
        </p:nvSpPr>
        <p:spPr>
          <a:xfrm>
            <a:off x="3291840" y="3319272"/>
            <a:ext cx="393192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218,632</a:t>
            </a:r>
          </a:p>
        </p:txBody>
      </p:sp>
      <p:sp>
        <p:nvSpPr>
          <p:cNvPr id="15" name="Rectangle 14"/>
          <p:cNvSpPr/>
          <p:nvPr/>
        </p:nvSpPr>
        <p:spPr>
          <a:xfrm>
            <a:off x="822960" y="3611880"/>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703320"/>
            <a:ext cx="2194560" cy="310896"/>
          </a:xfrm>
          <a:prstGeom prst="rect">
            <a:avLst/>
          </a:prstGeom>
          <a:noFill/>
        </p:spPr>
        <p:txBody>
          <a:bodyPr wrap="square" anchor="t" lIns="0" rIns="0" tIns="0" bIns="0">
            <a:spAutoFit/>
          </a:bodyPr>
          <a:lstStyle/>
          <a:p>
            <a:pPr algn="l">
              <a:lnSpc>
                <a:spcPct val="100000"/>
              </a:lnSpc>
            </a:pPr>
            <a:r>
              <a:rPr sz="1350" b="1">
                <a:solidFill>
                  <a:srgbClr val="E27660"/>
                </a:solidFill>
                <a:latin typeface="Segoe UI"/>
              </a:rPr>
              <a:t>q-error</a:t>
            </a:r>
          </a:p>
        </p:txBody>
      </p:sp>
      <p:sp>
        <p:nvSpPr>
          <p:cNvPr id="17" name="TextBox 16"/>
          <p:cNvSpPr txBox="1"/>
          <p:nvPr/>
        </p:nvSpPr>
        <p:spPr>
          <a:xfrm>
            <a:off x="3291840" y="3703320"/>
            <a:ext cx="3931920" cy="310896"/>
          </a:xfrm>
          <a:prstGeom prst="rect">
            <a:avLst/>
          </a:prstGeom>
          <a:noFill/>
        </p:spPr>
        <p:txBody>
          <a:bodyPr wrap="square" anchor="t" lIns="0" rIns="0" tIns="0" bIns="0">
            <a:spAutoFit/>
          </a:bodyPr>
          <a:lstStyle/>
          <a:p>
            <a:pPr algn="l">
              <a:lnSpc>
                <a:spcPct val="100000"/>
              </a:lnSpc>
            </a:pPr>
            <a:r>
              <a:rPr sz="1350" b="1">
                <a:solidFill>
                  <a:srgbClr val="E27660"/>
                </a:solidFill>
                <a:latin typeface="Segoe UI"/>
              </a:rPr>
              <a:t>2.151   (near-correct for an optimiser)</a:t>
            </a:r>
          </a:p>
        </p:txBody>
      </p:sp>
      <p:sp>
        <p:nvSpPr>
          <p:cNvPr id="18" name="Rectangle 17"/>
          <p:cNvSpPr/>
          <p:nvPr/>
        </p:nvSpPr>
        <p:spPr>
          <a:xfrm>
            <a:off x="822960" y="3995928"/>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87368"/>
            <a:ext cx="219456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path chosen</a:t>
            </a:r>
          </a:p>
        </p:txBody>
      </p:sp>
      <p:sp>
        <p:nvSpPr>
          <p:cNvPr id="20" name="TextBox 19"/>
          <p:cNvSpPr txBox="1"/>
          <p:nvPr/>
        </p:nvSpPr>
        <p:spPr>
          <a:xfrm>
            <a:off x="3291840" y="4087368"/>
            <a:ext cx="393192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index scan</a:t>
            </a:r>
          </a:p>
        </p:txBody>
      </p:sp>
      <p:sp>
        <p:nvSpPr>
          <p:cNvPr id="21" name="Rectangle 20"/>
          <p:cNvSpPr/>
          <p:nvPr/>
        </p:nvSpPr>
        <p:spPr>
          <a:xfrm>
            <a:off x="822960" y="4379976"/>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471416"/>
            <a:ext cx="219456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best path available</a:t>
            </a:r>
          </a:p>
        </p:txBody>
      </p:sp>
      <p:sp>
        <p:nvSpPr>
          <p:cNvPr id="23" name="TextBox 22"/>
          <p:cNvSpPr txBox="1"/>
          <p:nvPr/>
        </p:nvSpPr>
        <p:spPr>
          <a:xfrm>
            <a:off x="3291840" y="4471416"/>
            <a:ext cx="393192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sequential scan</a:t>
            </a:r>
          </a:p>
        </p:txBody>
      </p:sp>
      <p:sp>
        <p:nvSpPr>
          <p:cNvPr id="24" name="Rectangle 23"/>
          <p:cNvSpPr/>
          <p:nvPr/>
        </p:nvSpPr>
        <p:spPr>
          <a:xfrm>
            <a:off x="822960" y="4764024"/>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855464"/>
            <a:ext cx="219456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time taken</a:t>
            </a:r>
          </a:p>
        </p:txBody>
      </p:sp>
      <p:sp>
        <p:nvSpPr>
          <p:cNvPr id="26" name="TextBox 25"/>
          <p:cNvSpPr txBox="1"/>
          <p:nvPr/>
        </p:nvSpPr>
        <p:spPr>
          <a:xfrm>
            <a:off x="3291840" y="4855464"/>
            <a:ext cx="393192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1,969.7 ms</a:t>
            </a:r>
          </a:p>
        </p:txBody>
      </p:sp>
      <p:sp>
        <p:nvSpPr>
          <p:cNvPr id="27" name="Rectangle 26"/>
          <p:cNvSpPr/>
          <p:nvPr/>
        </p:nvSpPr>
        <p:spPr>
          <a:xfrm>
            <a:off x="822960" y="5148072"/>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239512"/>
            <a:ext cx="219456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time if scanned</a:t>
            </a:r>
          </a:p>
        </p:txBody>
      </p:sp>
      <p:sp>
        <p:nvSpPr>
          <p:cNvPr id="29" name="TextBox 28"/>
          <p:cNvSpPr txBox="1"/>
          <p:nvPr/>
        </p:nvSpPr>
        <p:spPr>
          <a:xfrm>
            <a:off x="3291840" y="5239512"/>
            <a:ext cx="3931920" cy="310896"/>
          </a:xfrm>
          <a:prstGeom prst="rect">
            <a:avLst/>
          </a:prstGeom>
          <a:noFill/>
        </p:spPr>
        <p:txBody>
          <a:bodyPr wrap="square" anchor="t" lIns="0" rIns="0" tIns="0" bIns="0">
            <a:spAutoFit/>
          </a:bodyPr>
          <a:lstStyle/>
          <a:p>
            <a:pPr algn="l">
              <a:lnSpc>
                <a:spcPct val="100000"/>
              </a:lnSpc>
            </a:pPr>
            <a:r>
              <a:rPr sz="1350" b="0">
                <a:solidFill>
                  <a:srgbClr val="F2EFEA"/>
                </a:solidFill>
                <a:latin typeface="Segoe UI"/>
              </a:rPr>
              <a:t>248.9 ms</a:t>
            </a:r>
          </a:p>
        </p:txBody>
      </p:sp>
      <p:sp>
        <p:nvSpPr>
          <p:cNvPr id="30" name="Rectangle 29"/>
          <p:cNvSpPr/>
          <p:nvPr/>
        </p:nvSpPr>
        <p:spPr>
          <a:xfrm>
            <a:off x="822960" y="5532120"/>
            <a:ext cx="64922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623560"/>
            <a:ext cx="2194560" cy="310896"/>
          </a:xfrm>
          <a:prstGeom prst="rect">
            <a:avLst/>
          </a:prstGeom>
          <a:noFill/>
        </p:spPr>
        <p:txBody>
          <a:bodyPr wrap="square" anchor="t" lIns="0" rIns="0" tIns="0" bIns="0">
            <a:spAutoFit/>
          </a:bodyPr>
          <a:lstStyle/>
          <a:p>
            <a:pPr algn="l">
              <a:lnSpc>
                <a:spcPct val="100000"/>
              </a:lnSpc>
            </a:pPr>
            <a:r>
              <a:rPr sz="1350" b="1">
                <a:solidFill>
                  <a:srgbClr val="E27660"/>
                </a:solidFill>
                <a:latin typeface="Segoe UI"/>
              </a:rPr>
              <a:t>regret</a:t>
            </a:r>
          </a:p>
        </p:txBody>
      </p:sp>
      <p:sp>
        <p:nvSpPr>
          <p:cNvPr id="32" name="TextBox 31"/>
          <p:cNvSpPr txBox="1"/>
          <p:nvPr/>
        </p:nvSpPr>
        <p:spPr>
          <a:xfrm>
            <a:off x="3291840" y="5623560"/>
            <a:ext cx="3931920" cy="310896"/>
          </a:xfrm>
          <a:prstGeom prst="rect">
            <a:avLst/>
          </a:prstGeom>
          <a:noFill/>
        </p:spPr>
        <p:txBody>
          <a:bodyPr wrap="square" anchor="t" lIns="0" rIns="0" tIns="0" bIns="0">
            <a:spAutoFit/>
          </a:bodyPr>
          <a:lstStyle/>
          <a:p>
            <a:pPr algn="l">
              <a:lnSpc>
                <a:spcPct val="100000"/>
              </a:lnSpc>
            </a:pPr>
            <a:r>
              <a:rPr sz="1350" b="1">
                <a:solidFill>
                  <a:srgbClr val="E27660"/>
                </a:solidFill>
                <a:latin typeface="Segoe UI"/>
              </a:rPr>
              <a:t>7.92x</a:t>
            </a:r>
          </a:p>
        </p:txBody>
      </p:sp>
      <p:sp>
        <p:nvSpPr>
          <p:cNvPr id="33" name="Rectangle 32"/>
          <p:cNvSpPr/>
          <p:nvPr/>
        </p:nvSpPr>
        <p:spPr>
          <a:xfrm>
            <a:off x="822960" y="5934456"/>
            <a:ext cx="649224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0" y="2377440"/>
            <a:ext cx="3749039" cy="3108960"/>
          </a:xfrm>
          <a:prstGeom prst="rect">
            <a:avLst/>
          </a:prstGeom>
          <a:noFill/>
        </p:spPr>
        <p:txBody>
          <a:bodyPr wrap="square" anchor="t" lIns="0" rIns="0" tIns="0" bIns="0">
            <a:spAutoFit/>
          </a:bodyPr>
          <a:lstStyle/>
          <a:p>
            <a:pPr algn="l">
              <a:lnSpc>
                <a:spcPct val="140000"/>
              </a:lnSpc>
            </a:pPr>
            <a:r>
              <a:rPr sz="1600" b="0">
                <a:solidFill>
                  <a:srgbClr val="F2EFEA"/>
                </a:solidFill>
                <a:latin typeface="Segoe UI"/>
              </a:rPr>
              <a:t>It knew roughly how many rows were coming back and still chose to fetch a tenth of the table one row at a time.</a:t>
            </a:r>
          </a:p>
          <a:p>
            <a:pPr algn="l">
              <a:lnSpc>
                <a:spcPct val="140000"/>
              </a:lnSpc>
            </a:pPr>
            <a:r>
              <a:rPr sz="1000" b="0">
                <a:solidFill>
                  <a:srgbClr val="F2EFEA"/>
                </a:solidFill>
                <a:latin typeface="Segoe UI"/>
              </a:rPr>
              <a:t/>
            </a:r>
          </a:p>
          <a:p>
            <a:pPr algn="l">
              <a:lnSpc>
                <a:spcPct val="140000"/>
              </a:lnSpc>
            </a:pPr>
            <a:r>
              <a:rPr sz="1450" b="0">
                <a:solidFill>
                  <a:srgbClr val="92989E"/>
                </a:solidFill>
                <a:latin typeface="Segoe UI"/>
              </a:rPr>
              <a:t>Fixing the statistics would not have changed this decision. The cost model, not the estimate, is what ranked the index scan first.</a:t>
            </a:r>
          </a:p>
        </p:txBody>
      </p:sp>
      <p:sp>
        <p:nvSpPr>
          <p:cNvPr id="35" name="TextBox 34"/>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4A5056"/>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2, THE MAIN NEGATIVE RESULT</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Misestimation does not explain misselection</a:t>
            </a:r>
          </a:p>
        </p:txBody>
      </p:sp>
      <p:sp>
        <p:nvSpPr>
          <p:cNvPr id="4" name="TextBox 3"/>
          <p:cNvSpPr txBox="1"/>
          <p:nvPr/>
        </p:nvSpPr>
        <p:spPr>
          <a:xfrm>
            <a:off x="822960" y="2011680"/>
            <a:ext cx="4206240" cy="1280160"/>
          </a:xfrm>
          <a:prstGeom prst="rect">
            <a:avLst/>
          </a:prstGeom>
          <a:noFill/>
        </p:spPr>
        <p:txBody>
          <a:bodyPr wrap="square" anchor="t" lIns="0" rIns="0" tIns="0" bIns="0">
            <a:spAutoFit/>
          </a:bodyPr>
          <a:lstStyle/>
          <a:p>
            <a:pPr algn="l">
              <a:lnSpc>
                <a:spcPct val="95000"/>
              </a:lnSpc>
            </a:pPr>
            <a:r>
              <a:rPr sz="7000" b="0">
                <a:solidFill>
                  <a:srgbClr val="A8322A"/>
                </a:solidFill>
                <a:latin typeface="Georgia"/>
              </a:rPr>
              <a:t>98.2%</a:t>
            </a:r>
          </a:p>
        </p:txBody>
      </p:sp>
      <p:sp>
        <p:nvSpPr>
          <p:cNvPr id="5" name="TextBox 4"/>
          <p:cNvSpPr txBox="1"/>
          <p:nvPr/>
        </p:nvSpPr>
        <p:spPr>
          <a:xfrm>
            <a:off x="822960" y="3037332"/>
            <a:ext cx="4206240" cy="731520"/>
          </a:xfrm>
          <a:prstGeom prst="rect">
            <a:avLst/>
          </a:prstGeom>
          <a:noFill/>
        </p:spPr>
        <p:txBody>
          <a:bodyPr wrap="square" anchor="t" lIns="0" rIns="0" tIns="0" bIns="0">
            <a:spAutoFit/>
          </a:bodyPr>
          <a:lstStyle/>
          <a:p>
            <a:pPr algn="l">
              <a:lnSpc>
                <a:spcPct val="125000"/>
              </a:lnSpc>
            </a:pPr>
            <a:r>
              <a:rPr sz="1250" b="0">
                <a:solidFill>
                  <a:srgbClr val="70757A"/>
                </a:solidFill>
                <a:latin typeface="Segoe UI"/>
              </a:rPr>
              <a:t>of bad access-path choices had an
essentially correct row estimate</a:t>
            </a:r>
          </a:p>
        </p:txBody>
      </p:sp>
      <p:sp>
        <p:nvSpPr>
          <p:cNvPr id="6" name="TextBox 5"/>
          <p:cNvSpPr txBox="1"/>
          <p:nvPr/>
        </p:nvSpPr>
        <p:spPr>
          <a:xfrm>
            <a:off x="914400" y="4343400"/>
            <a:ext cx="292608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
            </a:r>
          </a:p>
        </p:txBody>
      </p:sp>
      <p:sp>
        <p:nvSpPr>
          <p:cNvPr id="7" name="TextBox 6"/>
          <p:cNvSpPr txBox="1"/>
          <p:nvPr/>
        </p:nvSpPr>
        <p:spPr>
          <a:xfrm>
            <a:off x="4023360" y="4343400"/>
            <a:ext cx="91440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Value</a:t>
            </a:r>
          </a:p>
        </p:txBody>
      </p:sp>
      <p:sp>
        <p:nvSpPr>
          <p:cNvPr id="8" name="Rectangle 7"/>
          <p:cNvSpPr/>
          <p:nvPr/>
        </p:nvSpPr>
        <p:spPr>
          <a:xfrm>
            <a:off x="822960" y="4645152"/>
            <a:ext cx="42062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791456"/>
            <a:ext cx="292608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Bad choices examined</a:t>
            </a:r>
          </a:p>
        </p:txBody>
      </p:sp>
      <p:sp>
        <p:nvSpPr>
          <p:cNvPr id="10" name="TextBox 9"/>
          <p:cNvSpPr txBox="1"/>
          <p:nvPr/>
        </p:nvSpPr>
        <p:spPr>
          <a:xfrm>
            <a:off x="4023360" y="4791456"/>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113</a:t>
            </a:r>
          </a:p>
        </p:txBody>
      </p:sp>
      <p:sp>
        <p:nvSpPr>
          <p:cNvPr id="11" name="Rectangle 10"/>
          <p:cNvSpPr/>
          <p:nvPr/>
        </p:nvSpPr>
        <p:spPr>
          <a:xfrm>
            <a:off x="822960" y="5065776"/>
            <a:ext cx="42062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57216"/>
            <a:ext cx="292608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Median q-error among them</a:t>
            </a:r>
          </a:p>
        </p:txBody>
      </p:sp>
      <p:sp>
        <p:nvSpPr>
          <p:cNvPr id="13" name="TextBox 12"/>
          <p:cNvSpPr txBox="1"/>
          <p:nvPr/>
        </p:nvSpPr>
        <p:spPr>
          <a:xfrm>
            <a:off x="4023360" y="5157216"/>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1.017</a:t>
            </a:r>
          </a:p>
        </p:txBody>
      </p:sp>
      <p:sp>
        <p:nvSpPr>
          <p:cNvPr id="14" name="Rectangle 13"/>
          <p:cNvSpPr/>
          <p:nvPr/>
        </p:nvSpPr>
        <p:spPr>
          <a:xfrm>
            <a:off x="822960" y="5431536"/>
            <a:ext cx="42062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522976"/>
            <a:ext cx="292608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A perfect estimate</a:t>
            </a:r>
          </a:p>
        </p:txBody>
      </p:sp>
      <p:sp>
        <p:nvSpPr>
          <p:cNvPr id="16" name="TextBox 15"/>
          <p:cNvSpPr txBox="1"/>
          <p:nvPr/>
        </p:nvSpPr>
        <p:spPr>
          <a:xfrm>
            <a:off x="4023360" y="5522976"/>
            <a:ext cx="9144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1.000</a:t>
            </a:r>
          </a:p>
        </p:txBody>
      </p:sp>
      <p:sp>
        <p:nvSpPr>
          <p:cNvPr id="17" name="Rectangle 16"/>
          <p:cNvSpPr/>
          <p:nvPr/>
        </p:nvSpPr>
        <p:spPr>
          <a:xfrm>
            <a:off x="822960" y="5815584"/>
            <a:ext cx="42062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fig3_qerror_vs_regret.png"/>
          <p:cNvPicPr>
            <a:picLocks noChangeAspect="1"/>
          </p:cNvPicPr>
          <p:nvPr/>
        </p:nvPicPr>
        <p:blipFill>
          <a:blip r:embed="rId3"/>
          <a:stretch>
            <a:fillRect/>
          </a:stretch>
        </p:blipFill>
        <p:spPr>
          <a:xfrm>
            <a:off x="6949440" y="1783080"/>
            <a:ext cx="4389120" cy="3363792"/>
          </a:xfrm>
          <a:prstGeom prst="rect">
            <a:avLst/>
          </a:prstGeom>
        </p:spPr>
      </p:pic>
      <p:sp>
        <p:nvSpPr>
          <p:cNvPr id="19" name="TextBox 18"/>
          <p:cNvSpPr txBox="1"/>
          <p:nvPr/>
        </p:nvSpPr>
        <p:spPr>
          <a:xfrm>
            <a:off x="4754880" y="5806440"/>
            <a:ext cx="6583680" cy="822960"/>
          </a:xfrm>
          <a:prstGeom prst="rect">
            <a:avLst/>
          </a:prstGeom>
          <a:noFill/>
        </p:spPr>
        <p:txBody>
          <a:bodyPr wrap="square" anchor="t" lIns="0" rIns="0" tIns="0" bIns="0">
            <a:spAutoFit/>
          </a:bodyPr>
          <a:lstStyle/>
          <a:p>
            <a:pPr algn="l">
              <a:lnSpc>
                <a:spcPct val="130000"/>
              </a:lnSpc>
            </a:pPr>
            <a:r>
              <a:rPr sz="1450" b="0">
                <a:solidFill>
                  <a:srgbClr val="70757A"/>
                </a:solidFill>
                <a:latin typeface="Segoe UI"/>
              </a:rPr>
              <a:t>The remedy most tuning advice reaches for is aimed at a cause that is not operating here.</a:t>
            </a:r>
          </a:p>
        </p:txBody>
      </p:sp>
      <p:sp>
        <p:nvSpPr>
          <p:cNvPr id="20" name="TextBox 19"/>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3  /  WHAT IS GENERAL</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Both engines fail once no single index covers both columns</a:t>
            </a:r>
          </a:p>
        </p:txBody>
      </p:sp>
      <p:sp>
        <p:nvSpPr>
          <p:cNvPr id="4" name="TextBox 3"/>
          <p:cNvSpPr txBox="1"/>
          <p:nvPr/>
        </p:nvSpPr>
        <p:spPr>
          <a:xfrm>
            <a:off x="914400" y="1874519"/>
            <a:ext cx="1097280" cy="502920"/>
          </a:xfrm>
          <a:prstGeom prst="rect">
            <a:avLst/>
          </a:prstGeom>
          <a:noFill/>
        </p:spPr>
        <p:txBody>
          <a:bodyPr wrap="square" anchor="b" lIns="0" rIns="0" tIns="0" bIns="0">
            <a:spAutoFit/>
          </a:bodyPr>
          <a:lstStyle/>
          <a:p>
            <a:pPr algn="l">
              <a:lnSpc>
                <a:spcPct val="110000"/>
              </a:lnSpc>
            </a:pPr>
            <a:r>
              <a:rPr sz="1050" b="1">
                <a:solidFill>
                  <a:srgbClr val="70757A"/>
                </a:solidFill>
                <a:latin typeface="Segoe UI"/>
              </a:rPr>
              <a:t>Correlation</a:t>
            </a:r>
          </a:p>
        </p:txBody>
      </p:sp>
      <p:sp>
        <p:nvSpPr>
          <p:cNvPr id="5" name="TextBox 4"/>
          <p:cNvSpPr txBox="1"/>
          <p:nvPr/>
        </p:nvSpPr>
        <p:spPr>
          <a:xfrm>
            <a:off x="2194560" y="1874519"/>
            <a:ext cx="160020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PostgreSQL dependent</a:t>
            </a:r>
          </a:p>
        </p:txBody>
      </p:sp>
      <p:sp>
        <p:nvSpPr>
          <p:cNvPr id="6" name="TextBox 5"/>
          <p:cNvSpPr txBox="1"/>
          <p:nvPr/>
        </p:nvSpPr>
        <p:spPr>
          <a:xfrm>
            <a:off x="3977640" y="1874519"/>
            <a:ext cx="109728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independent</a:t>
            </a:r>
          </a:p>
        </p:txBody>
      </p:sp>
      <p:sp>
        <p:nvSpPr>
          <p:cNvPr id="7" name="TextBox 6"/>
          <p:cNvSpPr txBox="1"/>
          <p:nvPr/>
        </p:nvSpPr>
        <p:spPr>
          <a:xfrm>
            <a:off x="5257800" y="1874519"/>
            <a:ext cx="150876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MariaDB dependent</a:t>
            </a:r>
          </a:p>
        </p:txBody>
      </p:sp>
      <p:sp>
        <p:nvSpPr>
          <p:cNvPr id="8" name="TextBox 7"/>
          <p:cNvSpPr txBox="1"/>
          <p:nvPr/>
        </p:nvSpPr>
        <p:spPr>
          <a:xfrm>
            <a:off x="6949440" y="1874519"/>
            <a:ext cx="1097280" cy="502920"/>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independent</a:t>
            </a:r>
          </a:p>
        </p:txBody>
      </p:sp>
      <p:sp>
        <p:nvSpPr>
          <p:cNvPr id="9" name="Rectangle 8"/>
          <p:cNvSpPr/>
          <p:nvPr/>
        </p:nvSpPr>
        <p:spPr>
          <a:xfrm>
            <a:off x="822960" y="2377439"/>
            <a:ext cx="731520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523743"/>
            <a:ext cx="109728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0.00</a:t>
            </a:r>
          </a:p>
        </p:txBody>
      </p:sp>
      <p:sp>
        <p:nvSpPr>
          <p:cNvPr id="11" name="TextBox 10"/>
          <p:cNvSpPr txBox="1"/>
          <p:nvPr/>
        </p:nvSpPr>
        <p:spPr>
          <a:xfrm>
            <a:off x="2194560" y="2523743"/>
            <a:ext cx="16002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1.13</a:t>
            </a:r>
          </a:p>
        </p:txBody>
      </p:sp>
      <p:sp>
        <p:nvSpPr>
          <p:cNvPr id="12" name="TextBox 11"/>
          <p:cNvSpPr txBox="1"/>
          <p:nvPr/>
        </p:nvSpPr>
        <p:spPr>
          <a:xfrm>
            <a:off x="3977640" y="2523743"/>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1.08</a:t>
            </a:r>
          </a:p>
        </p:txBody>
      </p:sp>
      <p:sp>
        <p:nvSpPr>
          <p:cNvPr id="13" name="TextBox 12"/>
          <p:cNvSpPr txBox="1"/>
          <p:nvPr/>
        </p:nvSpPr>
        <p:spPr>
          <a:xfrm>
            <a:off x="5257800" y="2523743"/>
            <a:ext cx="15087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14" name="TextBox 13"/>
          <p:cNvSpPr txBox="1"/>
          <p:nvPr/>
        </p:nvSpPr>
        <p:spPr>
          <a:xfrm>
            <a:off x="6949440" y="2523743"/>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15" name="Rectangle 14"/>
          <p:cNvSpPr/>
          <p:nvPr/>
        </p:nvSpPr>
        <p:spPr>
          <a:xfrm>
            <a:off x="822960" y="2816351"/>
            <a:ext cx="73152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907791"/>
            <a:ext cx="109728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0.25</a:t>
            </a:r>
          </a:p>
        </p:txBody>
      </p:sp>
      <p:sp>
        <p:nvSpPr>
          <p:cNvPr id="17" name="TextBox 16"/>
          <p:cNvSpPr txBox="1"/>
          <p:nvPr/>
        </p:nvSpPr>
        <p:spPr>
          <a:xfrm>
            <a:off x="2194560" y="2907791"/>
            <a:ext cx="16002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26.39</a:t>
            </a:r>
          </a:p>
        </p:txBody>
      </p:sp>
      <p:sp>
        <p:nvSpPr>
          <p:cNvPr id="18" name="TextBox 17"/>
          <p:cNvSpPr txBox="1"/>
          <p:nvPr/>
        </p:nvSpPr>
        <p:spPr>
          <a:xfrm>
            <a:off x="3977640" y="2907791"/>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1.37</a:t>
            </a:r>
          </a:p>
        </p:txBody>
      </p:sp>
      <p:sp>
        <p:nvSpPr>
          <p:cNvPr id="19" name="TextBox 18"/>
          <p:cNvSpPr txBox="1"/>
          <p:nvPr/>
        </p:nvSpPr>
        <p:spPr>
          <a:xfrm>
            <a:off x="5257800" y="2907791"/>
            <a:ext cx="15087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20" name="TextBox 19"/>
          <p:cNvSpPr txBox="1"/>
          <p:nvPr/>
        </p:nvSpPr>
        <p:spPr>
          <a:xfrm>
            <a:off x="6949440" y="2907791"/>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21" name="Rectangle 20"/>
          <p:cNvSpPr/>
          <p:nvPr/>
        </p:nvSpPr>
        <p:spPr>
          <a:xfrm>
            <a:off x="822960" y="3200399"/>
            <a:ext cx="73152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291839"/>
            <a:ext cx="109728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0.50</a:t>
            </a:r>
          </a:p>
        </p:txBody>
      </p:sp>
      <p:sp>
        <p:nvSpPr>
          <p:cNvPr id="23" name="TextBox 22"/>
          <p:cNvSpPr txBox="1"/>
          <p:nvPr/>
        </p:nvSpPr>
        <p:spPr>
          <a:xfrm>
            <a:off x="2194560" y="3291839"/>
            <a:ext cx="16002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49.01</a:t>
            </a:r>
          </a:p>
        </p:txBody>
      </p:sp>
      <p:sp>
        <p:nvSpPr>
          <p:cNvPr id="24" name="TextBox 23"/>
          <p:cNvSpPr txBox="1"/>
          <p:nvPr/>
        </p:nvSpPr>
        <p:spPr>
          <a:xfrm>
            <a:off x="3977640" y="3291839"/>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2.14</a:t>
            </a:r>
          </a:p>
        </p:txBody>
      </p:sp>
      <p:sp>
        <p:nvSpPr>
          <p:cNvPr id="25" name="TextBox 24"/>
          <p:cNvSpPr txBox="1"/>
          <p:nvPr/>
        </p:nvSpPr>
        <p:spPr>
          <a:xfrm>
            <a:off x="5257800" y="3291839"/>
            <a:ext cx="15087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26" name="TextBox 25"/>
          <p:cNvSpPr txBox="1"/>
          <p:nvPr/>
        </p:nvSpPr>
        <p:spPr>
          <a:xfrm>
            <a:off x="6949440" y="3291839"/>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27" name="Rectangle 26"/>
          <p:cNvSpPr/>
          <p:nvPr/>
        </p:nvSpPr>
        <p:spPr>
          <a:xfrm>
            <a:off x="822960" y="3584447"/>
            <a:ext cx="73152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675887"/>
            <a:ext cx="1097280" cy="310896"/>
          </a:xfrm>
          <a:prstGeom prst="rect">
            <a:avLst/>
          </a:prstGeom>
          <a:noFill/>
        </p:spPr>
        <p:txBody>
          <a:bodyPr wrap="square" anchor="t" lIns="0" rIns="0" tIns="0" bIns="0">
            <a:spAutoFit/>
          </a:bodyPr>
          <a:lstStyle/>
          <a:p>
            <a:pPr algn="l">
              <a:lnSpc>
                <a:spcPct val="100000"/>
              </a:lnSpc>
            </a:pPr>
            <a:r>
              <a:rPr sz="1350" b="0">
                <a:solidFill>
                  <a:srgbClr val="1A1D21"/>
                </a:solidFill>
                <a:latin typeface="Segoe UI"/>
              </a:rPr>
              <a:t>0.75</a:t>
            </a:r>
          </a:p>
        </p:txBody>
      </p:sp>
      <p:sp>
        <p:nvSpPr>
          <p:cNvPr id="29" name="TextBox 28"/>
          <p:cNvSpPr txBox="1"/>
          <p:nvPr/>
        </p:nvSpPr>
        <p:spPr>
          <a:xfrm>
            <a:off x="2194560" y="3675887"/>
            <a:ext cx="160020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81.82</a:t>
            </a:r>
          </a:p>
        </p:txBody>
      </p:sp>
      <p:sp>
        <p:nvSpPr>
          <p:cNvPr id="30" name="TextBox 29"/>
          <p:cNvSpPr txBox="1"/>
          <p:nvPr/>
        </p:nvSpPr>
        <p:spPr>
          <a:xfrm>
            <a:off x="3977640" y="3675887"/>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3.44</a:t>
            </a:r>
          </a:p>
        </p:txBody>
      </p:sp>
      <p:sp>
        <p:nvSpPr>
          <p:cNvPr id="31" name="TextBox 30"/>
          <p:cNvSpPr txBox="1"/>
          <p:nvPr/>
        </p:nvSpPr>
        <p:spPr>
          <a:xfrm>
            <a:off x="5257800" y="3675887"/>
            <a:ext cx="150876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32" name="TextBox 31"/>
          <p:cNvSpPr txBox="1"/>
          <p:nvPr/>
        </p:nvSpPr>
        <p:spPr>
          <a:xfrm>
            <a:off x="6949440" y="3675887"/>
            <a:ext cx="1097280" cy="310896"/>
          </a:xfrm>
          <a:prstGeom prst="rect">
            <a:avLst/>
          </a:prstGeom>
          <a:noFill/>
        </p:spPr>
        <p:txBody>
          <a:bodyPr wrap="square" anchor="t" lIns="0" rIns="0" tIns="0" bIns="0">
            <a:spAutoFit/>
          </a:bodyPr>
          <a:lstStyle/>
          <a:p>
            <a:pPr algn="r">
              <a:lnSpc>
                <a:spcPct val="100000"/>
              </a:lnSpc>
            </a:pPr>
            <a:r>
              <a:rPr sz="1350" b="0">
                <a:solidFill>
                  <a:srgbClr val="1A1D21"/>
                </a:solidFill>
                <a:latin typeface="Segoe UI"/>
              </a:rPr>
              <a:t>1.00</a:t>
            </a:r>
          </a:p>
        </p:txBody>
      </p:sp>
      <p:sp>
        <p:nvSpPr>
          <p:cNvPr id="33" name="Rectangle 32"/>
          <p:cNvSpPr/>
          <p:nvPr/>
        </p:nvSpPr>
        <p:spPr>
          <a:xfrm>
            <a:off x="822960" y="3968495"/>
            <a:ext cx="731520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059935"/>
            <a:ext cx="1097280" cy="310896"/>
          </a:xfrm>
          <a:prstGeom prst="rect">
            <a:avLst/>
          </a:prstGeom>
          <a:noFill/>
        </p:spPr>
        <p:txBody>
          <a:bodyPr wrap="square" anchor="t" lIns="0" rIns="0" tIns="0" bIns="0">
            <a:spAutoFit/>
          </a:bodyPr>
          <a:lstStyle/>
          <a:p>
            <a:pPr algn="l">
              <a:lnSpc>
                <a:spcPct val="100000"/>
              </a:lnSpc>
            </a:pPr>
            <a:r>
              <a:rPr sz="1350" b="1">
                <a:solidFill>
                  <a:srgbClr val="A8322A"/>
                </a:solidFill>
                <a:latin typeface="Segoe UI"/>
              </a:rPr>
              <a:t>1.00</a:t>
            </a:r>
          </a:p>
        </p:txBody>
      </p:sp>
      <p:sp>
        <p:nvSpPr>
          <p:cNvPr id="35" name="TextBox 34"/>
          <p:cNvSpPr txBox="1"/>
          <p:nvPr/>
        </p:nvSpPr>
        <p:spPr>
          <a:xfrm>
            <a:off x="2194560" y="4059935"/>
            <a:ext cx="1600200" cy="310896"/>
          </a:xfrm>
          <a:prstGeom prst="rect">
            <a:avLst/>
          </a:prstGeom>
          <a:noFill/>
        </p:spPr>
        <p:txBody>
          <a:bodyPr wrap="square" anchor="t" lIns="0" rIns="0" tIns="0" bIns="0">
            <a:spAutoFit/>
          </a:bodyPr>
          <a:lstStyle/>
          <a:p>
            <a:pPr algn="r">
              <a:lnSpc>
                <a:spcPct val="100000"/>
              </a:lnSpc>
            </a:pPr>
            <a:r>
              <a:rPr sz="1350" b="1">
                <a:solidFill>
                  <a:srgbClr val="A8322A"/>
                </a:solidFill>
                <a:latin typeface="Segoe UI"/>
              </a:rPr>
              <a:t>98.65</a:t>
            </a:r>
          </a:p>
        </p:txBody>
      </p:sp>
      <p:sp>
        <p:nvSpPr>
          <p:cNvPr id="36" name="TextBox 35"/>
          <p:cNvSpPr txBox="1"/>
          <p:nvPr/>
        </p:nvSpPr>
        <p:spPr>
          <a:xfrm>
            <a:off x="3977640" y="4059935"/>
            <a:ext cx="1097280" cy="310896"/>
          </a:xfrm>
          <a:prstGeom prst="rect">
            <a:avLst/>
          </a:prstGeom>
          <a:noFill/>
        </p:spPr>
        <p:txBody>
          <a:bodyPr wrap="square" anchor="t" lIns="0" rIns="0" tIns="0" bIns="0">
            <a:spAutoFit/>
          </a:bodyPr>
          <a:lstStyle/>
          <a:p>
            <a:pPr algn="r">
              <a:lnSpc>
                <a:spcPct val="100000"/>
              </a:lnSpc>
            </a:pPr>
            <a:r>
              <a:rPr sz="1350" b="1">
                <a:solidFill>
                  <a:srgbClr val="A8322A"/>
                </a:solidFill>
                <a:latin typeface="Segoe UI"/>
              </a:rPr>
              <a:t>98.00</a:t>
            </a:r>
          </a:p>
        </p:txBody>
      </p:sp>
      <p:sp>
        <p:nvSpPr>
          <p:cNvPr id="37" name="TextBox 36"/>
          <p:cNvSpPr txBox="1"/>
          <p:nvPr/>
        </p:nvSpPr>
        <p:spPr>
          <a:xfrm>
            <a:off x="5257800" y="4059935"/>
            <a:ext cx="1508760" cy="310896"/>
          </a:xfrm>
          <a:prstGeom prst="rect">
            <a:avLst/>
          </a:prstGeom>
          <a:noFill/>
        </p:spPr>
        <p:txBody>
          <a:bodyPr wrap="square" anchor="t" lIns="0" rIns="0" tIns="0" bIns="0">
            <a:spAutoFit/>
          </a:bodyPr>
          <a:lstStyle/>
          <a:p>
            <a:pPr algn="r">
              <a:lnSpc>
                <a:spcPct val="100000"/>
              </a:lnSpc>
            </a:pPr>
            <a:r>
              <a:rPr sz="1350" b="1">
                <a:solidFill>
                  <a:srgbClr val="A8322A"/>
                </a:solidFill>
                <a:latin typeface="Segoe UI"/>
              </a:rPr>
              <a:t>55.84</a:t>
            </a:r>
          </a:p>
        </p:txBody>
      </p:sp>
      <p:sp>
        <p:nvSpPr>
          <p:cNvPr id="38" name="TextBox 37"/>
          <p:cNvSpPr txBox="1"/>
          <p:nvPr/>
        </p:nvSpPr>
        <p:spPr>
          <a:xfrm>
            <a:off x="6949440" y="4059935"/>
            <a:ext cx="1097280" cy="310896"/>
          </a:xfrm>
          <a:prstGeom prst="rect">
            <a:avLst/>
          </a:prstGeom>
          <a:noFill/>
        </p:spPr>
        <p:txBody>
          <a:bodyPr wrap="square" anchor="t" lIns="0" rIns="0" tIns="0" bIns="0">
            <a:spAutoFit/>
          </a:bodyPr>
          <a:lstStyle/>
          <a:p>
            <a:pPr algn="r">
              <a:lnSpc>
                <a:spcPct val="100000"/>
              </a:lnSpc>
            </a:pPr>
            <a:r>
              <a:rPr sz="1350" b="1">
                <a:solidFill>
                  <a:srgbClr val="A8322A"/>
                </a:solidFill>
                <a:latin typeface="Segoe UI"/>
              </a:rPr>
              <a:t>1.00</a:t>
            </a:r>
          </a:p>
        </p:txBody>
      </p:sp>
      <p:sp>
        <p:nvSpPr>
          <p:cNvPr id="39" name="Rectangle 38"/>
          <p:cNvSpPr/>
          <p:nvPr/>
        </p:nvSpPr>
        <p:spPr>
          <a:xfrm>
            <a:off x="822960" y="4370831"/>
            <a:ext cx="731520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2960" y="4343400"/>
            <a:ext cx="832104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4663440"/>
            <a:ext cx="5577840" cy="1737360"/>
          </a:xfrm>
          <a:prstGeom prst="rect">
            <a:avLst/>
          </a:prstGeom>
          <a:noFill/>
        </p:spPr>
        <p:txBody>
          <a:bodyPr wrap="square" anchor="t" lIns="0" rIns="0" tIns="0" bIns="0">
            <a:spAutoFit/>
          </a:bodyPr>
          <a:lstStyle/>
          <a:p>
            <a:pPr algn="l">
              <a:lnSpc>
                <a:spcPct val="135000"/>
              </a:lnSpc>
            </a:pPr>
            <a:r>
              <a:rPr sz="1450" b="1">
                <a:solidFill>
                  <a:srgbClr val="1A1D21"/>
                </a:solidFill>
                <a:latin typeface="Segoe UI"/>
              </a:rPr>
              <a:t>The independent columns are the control.</a:t>
            </a:r>
            <a:r>
              <a:rPr sz="1450" b="0">
                <a:solidFill>
                  <a:srgbClr val="1A1D21"/>
                </a:solidFill>
                <a:latin typeface="Segoe UI"/>
              </a:rPr>
              <a:t>  Same queries, uncorrelated data. Both engines stay near 1.0, so the error tracks correlation rather than the query shape.</a:t>
            </a:r>
          </a:p>
        </p:txBody>
      </p:sp>
      <p:sp>
        <p:nvSpPr>
          <p:cNvPr id="42" name="TextBox 41"/>
          <p:cNvSpPr txBox="1"/>
          <p:nvPr/>
        </p:nvSpPr>
        <p:spPr>
          <a:xfrm>
            <a:off x="6766560" y="4663440"/>
            <a:ext cx="4572000" cy="1737360"/>
          </a:xfrm>
          <a:prstGeom prst="rect">
            <a:avLst/>
          </a:prstGeom>
          <a:noFill/>
        </p:spPr>
        <p:txBody>
          <a:bodyPr wrap="square" anchor="t" lIns="0" rIns="0" tIns="0" bIns="0">
            <a:spAutoFit/>
          </a:bodyPr>
          <a:lstStyle/>
          <a:p>
            <a:pPr algn="l">
              <a:lnSpc>
                <a:spcPct val="135000"/>
              </a:lnSpc>
            </a:pPr>
            <a:r>
              <a:rPr sz="1450" b="1">
                <a:solidFill>
                  <a:srgbClr val="A8322A"/>
                </a:solidFill>
                <a:latin typeface="Segoe UI"/>
              </a:rPr>
              <a:t>Both are accurate only while one index measures both columns directly. Once none does, both multiply two separate guesses and both get it wrong.</a:t>
            </a:r>
          </a:p>
        </p:txBody>
      </p:sp>
      <p:pic>
        <p:nvPicPr>
          <p:cNvPr id="43" name="Picture 42" descr="fig10_cross_conj.png"/>
          <p:cNvPicPr>
            <a:picLocks noChangeAspect="1"/>
          </p:cNvPicPr>
          <p:nvPr/>
        </p:nvPicPr>
        <p:blipFill>
          <a:blip r:embed="rId3"/>
          <a:stretch>
            <a:fillRect/>
          </a:stretch>
        </p:blipFill>
        <p:spPr>
          <a:xfrm>
            <a:off x="8549640" y="1874519"/>
            <a:ext cx="2788920" cy="1834080"/>
          </a:xfrm>
          <a:prstGeom prst="rect">
            <a:avLst/>
          </a:prstGeom>
        </p:spPr>
      </p:pic>
      <p:sp>
        <p:nvSpPr>
          <p:cNvPr id="44" name="TextBox 43"/>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92989E"/>
                </a:solidFill>
                <a:latin typeface="Segoe UI"/>
              </a:rPr>
              <a:t>THE CLASSIFICATION</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F2EFEA"/>
                </a:solidFill>
                <a:latin typeface="Georgia"/>
              </a:rPr>
              <a:t>What generalises, and what belongs to one product</a:t>
            </a:r>
          </a:p>
        </p:txBody>
      </p:sp>
      <p:sp>
        <p:nvSpPr>
          <p:cNvPr id="4" name="Rectangle 3"/>
          <p:cNvSpPr/>
          <p:nvPr/>
        </p:nvSpPr>
        <p:spPr>
          <a:xfrm>
            <a:off x="822960" y="192024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5212080" cy="365760"/>
          </a:xfrm>
          <a:prstGeom prst="rect">
            <a:avLst/>
          </a:prstGeom>
          <a:noFill/>
        </p:spPr>
        <p:txBody>
          <a:bodyPr wrap="square" anchor="t" lIns="0" rIns="0" tIns="0" bIns="0">
            <a:spAutoFit/>
          </a:bodyPr>
          <a:lstStyle/>
          <a:p>
            <a:pPr algn="l">
              <a:lnSpc>
                <a:spcPct val="125000"/>
              </a:lnSpc>
            </a:pPr>
            <a:r>
              <a:rPr sz="1500" b="1">
                <a:solidFill>
                  <a:srgbClr val="E27660"/>
                </a:solidFill>
                <a:latin typeface="Segoe UI"/>
              </a:rPr>
              <a:t>General to cost-based optimisers</a:t>
            </a:r>
          </a:p>
        </p:txBody>
      </p:sp>
      <p:sp>
        <p:nvSpPr>
          <p:cNvPr id="6" name="TextBox 5"/>
          <p:cNvSpPr txBox="1"/>
          <p:nvPr/>
        </p:nvSpPr>
        <p:spPr>
          <a:xfrm>
            <a:off x="822960" y="2743200"/>
            <a:ext cx="5212080" cy="914400"/>
          </a:xfrm>
          <a:prstGeom prst="rect">
            <a:avLst/>
          </a:prstGeom>
          <a:noFill/>
        </p:spPr>
        <p:txBody>
          <a:bodyPr wrap="square" anchor="t" lIns="0" rIns="0" tIns="0" bIns="0">
            <a:spAutoFit/>
          </a:bodyPr>
          <a:lstStyle/>
          <a:p>
            <a:pPr algn="l">
              <a:lnSpc>
                <a:spcPct val="130000"/>
              </a:lnSpc>
            </a:pPr>
            <a:r>
              <a:rPr sz="1450" b="1">
                <a:solidFill>
                  <a:srgbClr val="F2EFEA"/>
                </a:solidFill>
                <a:latin typeface="Segoe UI"/>
              </a:rPr>
              <a:t>Per-column composition fails under correlation</a:t>
            </a:r>
          </a:p>
          <a:p>
            <a:pPr algn="l">
              <a:lnSpc>
                <a:spcPct val="130000"/>
              </a:lnSpc>
            </a:pPr>
            <a:r>
              <a:rPr sz="1300" b="0">
                <a:solidFill>
                  <a:srgbClr val="92989E"/>
                </a:solidFill>
                <a:latin typeface="Segoe UI"/>
              </a:rPr>
              <a:t>Both engines accurate to 1.00 with one covering index, both wrong without one.</a:t>
            </a:r>
          </a:p>
        </p:txBody>
      </p:sp>
      <p:sp>
        <p:nvSpPr>
          <p:cNvPr id="7" name="TextBox 6"/>
          <p:cNvSpPr txBox="1"/>
          <p:nvPr/>
        </p:nvSpPr>
        <p:spPr>
          <a:xfrm>
            <a:off x="822960" y="3794760"/>
            <a:ext cx="5212080" cy="914400"/>
          </a:xfrm>
          <a:prstGeom prst="rect">
            <a:avLst/>
          </a:prstGeom>
          <a:noFill/>
        </p:spPr>
        <p:txBody>
          <a:bodyPr wrap="square" anchor="t" lIns="0" rIns="0" tIns="0" bIns="0">
            <a:spAutoFit/>
          </a:bodyPr>
          <a:lstStyle/>
          <a:p>
            <a:pPr algn="l">
              <a:lnSpc>
                <a:spcPct val="130000"/>
              </a:lnSpc>
            </a:pPr>
            <a:r>
              <a:rPr sz="1450" b="1">
                <a:solidFill>
                  <a:srgbClr val="F2EFEA"/>
                </a:solidFill>
                <a:latin typeface="Segoe UI"/>
              </a:rPr>
              <a:t>Estimation quality and plan quality come apart</a:t>
            </a:r>
          </a:p>
          <a:p>
            <a:pPr algn="l">
              <a:lnSpc>
                <a:spcPct val="130000"/>
              </a:lnSpc>
            </a:pPr>
            <a:r>
              <a:rPr sz="1300" b="0">
                <a:solidFill>
                  <a:srgbClr val="92989E"/>
                </a:solidFill>
                <a:latin typeface="Segoe UI"/>
              </a:rPr>
              <a:t>Correct row counts accompany 98.2% of PostgreSQL's bad choices.</a:t>
            </a:r>
          </a:p>
        </p:txBody>
      </p:sp>
      <p:sp>
        <p:nvSpPr>
          <p:cNvPr id="8" name="TextBox 7"/>
          <p:cNvSpPr txBox="1"/>
          <p:nvPr/>
        </p:nvSpPr>
        <p:spPr>
          <a:xfrm>
            <a:off x="822960" y="4846320"/>
            <a:ext cx="5212080" cy="914400"/>
          </a:xfrm>
          <a:prstGeom prst="rect">
            <a:avLst/>
          </a:prstGeom>
          <a:noFill/>
        </p:spPr>
        <p:txBody>
          <a:bodyPr wrap="square" anchor="t" lIns="0" rIns="0" tIns="0" bIns="0">
            <a:spAutoFit/>
          </a:bodyPr>
          <a:lstStyle/>
          <a:p>
            <a:pPr algn="l">
              <a:lnSpc>
                <a:spcPct val="130000"/>
              </a:lnSpc>
            </a:pPr>
            <a:r>
              <a:rPr sz="1450" b="1">
                <a:solidFill>
                  <a:srgbClr val="F2EFEA"/>
                </a:solidFill>
                <a:latin typeface="Segoe UI"/>
              </a:rPr>
              <a:t>Advice ships without its boundary</a:t>
            </a:r>
          </a:p>
          <a:p>
            <a:pPr algn="l">
              <a:lnSpc>
                <a:spcPct val="130000"/>
              </a:lnSpc>
            </a:pPr>
            <a:r>
              <a:rPr sz="1300" b="0">
                <a:solidFill>
                  <a:srgbClr val="92989E"/>
                </a:solidFill>
                <a:latin typeface="Segoe UI"/>
              </a:rPr>
              <a:t>All four practices tested help in one regime and harm in another.</a:t>
            </a:r>
          </a:p>
        </p:txBody>
      </p:sp>
      <p:sp>
        <p:nvSpPr>
          <p:cNvPr id="9" name="Rectangle 8"/>
          <p:cNvSpPr/>
          <p:nvPr/>
        </p:nvSpPr>
        <p:spPr>
          <a:xfrm>
            <a:off x="6172200" y="2286000"/>
            <a:ext cx="952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754880" cy="365760"/>
          </a:xfrm>
          <a:prstGeom prst="rect">
            <a:avLst/>
          </a:prstGeom>
          <a:noFill/>
        </p:spPr>
        <p:txBody>
          <a:bodyPr wrap="square" anchor="t" lIns="0" rIns="0" tIns="0" bIns="0">
            <a:spAutoFit/>
          </a:bodyPr>
          <a:lstStyle/>
          <a:p>
            <a:pPr algn="l">
              <a:lnSpc>
                <a:spcPct val="125000"/>
              </a:lnSpc>
            </a:pPr>
            <a:r>
              <a:rPr sz="1500" b="1">
                <a:solidFill>
                  <a:srgbClr val="F2EFEA"/>
                </a:solidFill>
                <a:latin typeface="Segoe UI"/>
              </a:rPr>
              <a:t>Specific to one implementation</a:t>
            </a:r>
          </a:p>
        </p:txBody>
      </p:sp>
      <p:sp>
        <p:nvSpPr>
          <p:cNvPr id="11" name="TextBox 10"/>
          <p:cNvSpPr txBox="1"/>
          <p:nvPr/>
        </p:nvSpPr>
        <p:spPr>
          <a:xfrm>
            <a:off x="6583680" y="2743200"/>
            <a:ext cx="4754880" cy="914400"/>
          </a:xfrm>
          <a:prstGeom prst="rect">
            <a:avLst/>
          </a:prstGeom>
          <a:noFill/>
        </p:spPr>
        <p:txBody>
          <a:bodyPr wrap="square" anchor="t" lIns="0" rIns="0" tIns="0" bIns="0">
            <a:spAutoFit/>
          </a:bodyPr>
          <a:lstStyle/>
          <a:p>
            <a:pPr algn="l">
              <a:lnSpc>
                <a:spcPct val="130000"/>
              </a:lnSpc>
            </a:pPr>
            <a:r>
              <a:rPr sz="1450" b="1">
                <a:solidFill>
                  <a:srgbClr val="F2EFEA"/>
                </a:solidFill>
                <a:latin typeface="Segoe UI"/>
              </a:rPr>
              <a:t>Good selection quality is PostgreSQL's, not the norm</a:t>
            </a:r>
          </a:p>
          <a:p>
            <a:pPr algn="l">
              <a:lnSpc>
                <a:spcPct val="130000"/>
              </a:lnSpc>
            </a:pPr>
            <a:r>
              <a:rPr sz="1300" b="0">
                <a:solidFill>
                  <a:srgbClr val="92989E"/>
                </a:solidFill>
                <a:latin typeface="Segoe UI"/>
              </a:rPr>
              <a:t>2.3% versus 66.0% on identical data. Not a property of relational optimisers.</a:t>
            </a:r>
          </a:p>
        </p:txBody>
      </p:sp>
      <p:sp>
        <p:nvSpPr>
          <p:cNvPr id="12" name="TextBox 11"/>
          <p:cNvSpPr txBox="1"/>
          <p:nvPr/>
        </p:nvSpPr>
        <p:spPr>
          <a:xfrm>
            <a:off x="6583680" y="3794760"/>
            <a:ext cx="4754880" cy="914400"/>
          </a:xfrm>
          <a:prstGeom prst="rect">
            <a:avLst/>
          </a:prstGeom>
          <a:noFill/>
        </p:spPr>
        <p:txBody>
          <a:bodyPr wrap="square" anchor="t" lIns="0" rIns="0" tIns="0" bIns="0">
            <a:spAutoFit/>
          </a:bodyPr>
          <a:lstStyle/>
          <a:p>
            <a:pPr algn="l">
              <a:lnSpc>
                <a:spcPct val="130000"/>
              </a:lnSpc>
            </a:pPr>
            <a:r>
              <a:rPr sz="1450" b="1">
                <a:solidFill>
                  <a:srgbClr val="F2EFEA"/>
                </a:solidFill>
                <a:latin typeface="Segoe UI"/>
              </a:rPr>
              <a:t>The damage ceiling comes from bitmap scans</a:t>
            </a:r>
          </a:p>
          <a:p>
            <a:pPr algn="l">
              <a:lnSpc>
                <a:spcPct val="130000"/>
              </a:lnSpc>
            </a:pPr>
            <a:r>
              <a:rPr sz="1300" b="0">
                <a:solidFill>
                  <a:srgbClr val="92989E"/>
                </a:solidFill>
                <a:latin typeface="Segoe UI"/>
              </a:rPr>
              <a:t>MariaDB has no equivalent enabled, so its worst case is unbounded by scale.</a:t>
            </a:r>
          </a:p>
        </p:txBody>
      </p:sp>
      <p:sp>
        <p:nvSpPr>
          <p:cNvPr id="13" name="TextBox 12"/>
          <p:cNvSpPr txBox="1"/>
          <p:nvPr/>
        </p:nvSpPr>
        <p:spPr>
          <a:xfrm>
            <a:off x="6583680" y="4846320"/>
            <a:ext cx="4754880" cy="914400"/>
          </a:xfrm>
          <a:prstGeom prst="rect">
            <a:avLst/>
          </a:prstGeom>
          <a:noFill/>
        </p:spPr>
        <p:txBody>
          <a:bodyPr wrap="square" anchor="t" lIns="0" rIns="0" tIns="0" bIns="0">
            <a:spAutoFit/>
          </a:bodyPr>
          <a:lstStyle/>
          <a:p>
            <a:pPr algn="l">
              <a:lnSpc>
                <a:spcPct val="130000"/>
              </a:lnSpc>
            </a:pPr>
            <a:r>
              <a:rPr sz="1450" b="1">
                <a:solidFill>
                  <a:srgbClr val="F2EFEA"/>
                </a:solidFill>
                <a:latin typeface="Segoe UI"/>
              </a:rPr>
              <a:t>The BRIN misselection is a PostgreSQL costing defect</a:t>
            </a:r>
          </a:p>
          <a:p>
            <a:pPr algn="l">
              <a:lnSpc>
                <a:spcPct val="130000"/>
              </a:lnSpc>
            </a:pPr>
            <a:r>
              <a:rPr sz="1300" b="0">
                <a:solidFill>
                  <a:srgbClr val="92989E"/>
                </a:solidFill>
                <a:latin typeface="Segoe UI"/>
              </a:rPr>
              <a:t>MariaDB cannot form the plan at all, so it cannot make this mistake.</a:t>
            </a:r>
          </a:p>
        </p:txBody>
      </p:sp>
      <p:sp>
        <p:nvSpPr>
          <p:cNvPr id="14" name="TextBox 13"/>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4A5056"/>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4</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The two engines degrade in opposite directions</a:t>
            </a:r>
          </a:p>
        </p:txBody>
      </p:sp>
      <p:sp>
        <p:nvSpPr>
          <p:cNvPr id="4" name="TextBox 3"/>
          <p:cNvSpPr txBox="1"/>
          <p:nvPr/>
        </p:nvSpPr>
        <p:spPr>
          <a:xfrm>
            <a:off x="914400" y="1828800"/>
            <a:ext cx="1280160" cy="512064"/>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Table size</a:t>
            </a:r>
          </a:p>
        </p:txBody>
      </p:sp>
      <p:sp>
        <p:nvSpPr>
          <p:cNvPr id="5" name="TextBox 4"/>
          <p:cNvSpPr txBox="1"/>
          <p:nvPr/>
        </p:nvSpPr>
        <p:spPr>
          <a:xfrm>
            <a:off x="2377440" y="1828800"/>
            <a:ext cx="100584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PostgreSQL wrong</a:t>
            </a:r>
          </a:p>
        </p:txBody>
      </p:sp>
      <p:sp>
        <p:nvSpPr>
          <p:cNvPr id="6" name="TextBox 5"/>
          <p:cNvSpPr txBox="1"/>
          <p:nvPr/>
        </p:nvSpPr>
        <p:spPr>
          <a:xfrm>
            <a:off x="3566160" y="1828800"/>
            <a:ext cx="82296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worst case</a:t>
            </a:r>
          </a:p>
        </p:txBody>
      </p:sp>
      <p:sp>
        <p:nvSpPr>
          <p:cNvPr id="7" name="TextBox 6"/>
          <p:cNvSpPr txBox="1"/>
          <p:nvPr/>
        </p:nvSpPr>
        <p:spPr>
          <a:xfrm>
            <a:off x="4572000" y="1828800"/>
            <a:ext cx="100584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MariaDB wrong</a:t>
            </a:r>
          </a:p>
        </p:txBody>
      </p:sp>
      <p:sp>
        <p:nvSpPr>
          <p:cNvPr id="8" name="TextBox 7"/>
          <p:cNvSpPr txBox="1"/>
          <p:nvPr/>
        </p:nvSpPr>
        <p:spPr>
          <a:xfrm>
            <a:off x="5760720" y="1828800"/>
            <a:ext cx="86868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worst case</a:t>
            </a:r>
          </a:p>
        </p:txBody>
      </p:sp>
      <p:sp>
        <p:nvSpPr>
          <p:cNvPr id="9" name="Rectangle 8"/>
          <p:cNvSpPr/>
          <p:nvPr/>
        </p:nvSpPr>
        <p:spPr>
          <a:xfrm>
            <a:off x="822960" y="2340864"/>
            <a:ext cx="58978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87168"/>
            <a:ext cx="12801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1,000,000</a:t>
            </a:r>
          </a:p>
        </p:txBody>
      </p:sp>
      <p:sp>
        <p:nvSpPr>
          <p:cNvPr id="11" name="TextBox 10"/>
          <p:cNvSpPr txBox="1"/>
          <p:nvPr/>
        </p:nvSpPr>
        <p:spPr>
          <a:xfrm>
            <a:off x="2377440" y="248716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0.0%</a:t>
            </a:r>
          </a:p>
        </p:txBody>
      </p:sp>
      <p:sp>
        <p:nvSpPr>
          <p:cNvPr id="12" name="TextBox 11"/>
          <p:cNvSpPr txBox="1"/>
          <p:nvPr/>
        </p:nvSpPr>
        <p:spPr>
          <a:xfrm>
            <a:off x="3566160" y="2487168"/>
            <a:ext cx="8229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1.1x</a:t>
            </a:r>
          </a:p>
        </p:txBody>
      </p:sp>
      <p:sp>
        <p:nvSpPr>
          <p:cNvPr id="13" name="TextBox 12"/>
          <p:cNvSpPr txBox="1"/>
          <p:nvPr/>
        </p:nvSpPr>
        <p:spPr>
          <a:xfrm>
            <a:off x="4572000" y="248716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52.9%</a:t>
            </a:r>
          </a:p>
        </p:txBody>
      </p:sp>
      <p:sp>
        <p:nvSpPr>
          <p:cNvPr id="14" name="TextBox 13"/>
          <p:cNvSpPr txBox="1"/>
          <p:nvPr/>
        </p:nvSpPr>
        <p:spPr>
          <a:xfrm>
            <a:off x="5760720" y="2487168"/>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3.3x</a:t>
            </a:r>
          </a:p>
        </p:txBody>
      </p:sp>
      <p:sp>
        <p:nvSpPr>
          <p:cNvPr id="15" name="Rectangle 14"/>
          <p:cNvSpPr/>
          <p:nvPr/>
        </p:nvSpPr>
        <p:spPr>
          <a:xfrm>
            <a:off x="822960" y="276148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852928"/>
            <a:ext cx="12801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1,250,000</a:t>
            </a:r>
          </a:p>
        </p:txBody>
      </p:sp>
      <p:sp>
        <p:nvSpPr>
          <p:cNvPr id="17" name="TextBox 16"/>
          <p:cNvSpPr txBox="1"/>
          <p:nvPr/>
        </p:nvSpPr>
        <p:spPr>
          <a:xfrm>
            <a:off x="2377440" y="285292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27.6%</a:t>
            </a:r>
          </a:p>
        </p:txBody>
      </p:sp>
      <p:sp>
        <p:nvSpPr>
          <p:cNvPr id="18" name="TextBox 17"/>
          <p:cNvSpPr txBox="1"/>
          <p:nvPr/>
        </p:nvSpPr>
        <p:spPr>
          <a:xfrm>
            <a:off x="3566160" y="2852928"/>
            <a:ext cx="8229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1.7x</a:t>
            </a:r>
          </a:p>
        </p:txBody>
      </p:sp>
      <p:sp>
        <p:nvSpPr>
          <p:cNvPr id="19" name="TextBox 18"/>
          <p:cNvSpPr txBox="1"/>
          <p:nvPr/>
        </p:nvSpPr>
        <p:spPr>
          <a:xfrm>
            <a:off x="4572000" y="285292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74.3%</a:t>
            </a:r>
          </a:p>
        </p:txBody>
      </p:sp>
      <p:sp>
        <p:nvSpPr>
          <p:cNvPr id="20" name="TextBox 19"/>
          <p:cNvSpPr txBox="1"/>
          <p:nvPr/>
        </p:nvSpPr>
        <p:spPr>
          <a:xfrm>
            <a:off x="5760720" y="2852928"/>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6.5x</a:t>
            </a:r>
          </a:p>
        </p:txBody>
      </p:sp>
      <p:sp>
        <p:nvSpPr>
          <p:cNvPr id="21" name="Rectangle 20"/>
          <p:cNvSpPr/>
          <p:nvPr/>
        </p:nvSpPr>
        <p:spPr>
          <a:xfrm>
            <a:off x="822960" y="312724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218688"/>
            <a:ext cx="12801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1,500,000</a:t>
            </a:r>
          </a:p>
        </p:txBody>
      </p:sp>
      <p:sp>
        <p:nvSpPr>
          <p:cNvPr id="23" name="TextBox 22"/>
          <p:cNvSpPr txBox="1"/>
          <p:nvPr/>
        </p:nvSpPr>
        <p:spPr>
          <a:xfrm>
            <a:off x="2377440" y="321868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6.9%</a:t>
            </a:r>
          </a:p>
        </p:txBody>
      </p:sp>
      <p:sp>
        <p:nvSpPr>
          <p:cNvPr id="24" name="TextBox 23"/>
          <p:cNvSpPr txBox="1"/>
          <p:nvPr/>
        </p:nvSpPr>
        <p:spPr>
          <a:xfrm>
            <a:off x="3566160" y="3218688"/>
            <a:ext cx="8229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1.8x</a:t>
            </a:r>
          </a:p>
        </p:txBody>
      </p:sp>
      <p:sp>
        <p:nvSpPr>
          <p:cNvPr id="25" name="TextBox 24"/>
          <p:cNvSpPr txBox="1"/>
          <p:nvPr/>
        </p:nvSpPr>
        <p:spPr>
          <a:xfrm>
            <a:off x="4572000" y="321868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77.8%</a:t>
            </a:r>
          </a:p>
        </p:txBody>
      </p:sp>
      <p:sp>
        <p:nvSpPr>
          <p:cNvPr id="26" name="TextBox 25"/>
          <p:cNvSpPr txBox="1"/>
          <p:nvPr/>
        </p:nvSpPr>
        <p:spPr>
          <a:xfrm>
            <a:off x="5760720" y="3218688"/>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10.9x</a:t>
            </a:r>
          </a:p>
        </p:txBody>
      </p:sp>
      <p:sp>
        <p:nvSpPr>
          <p:cNvPr id="27" name="Rectangle 26"/>
          <p:cNvSpPr/>
          <p:nvPr/>
        </p:nvSpPr>
        <p:spPr>
          <a:xfrm>
            <a:off x="822960" y="349300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584448"/>
            <a:ext cx="12801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2,000,000</a:t>
            </a:r>
          </a:p>
        </p:txBody>
      </p:sp>
      <p:sp>
        <p:nvSpPr>
          <p:cNvPr id="29" name="TextBox 28"/>
          <p:cNvSpPr txBox="1"/>
          <p:nvPr/>
        </p:nvSpPr>
        <p:spPr>
          <a:xfrm>
            <a:off x="2377440" y="358444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6.5%</a:t>
            </a:r>
          </a:p>
        </p:txBody>
      </p:sp>
      <p:sp>
        <p:nvSpPr>
          <p:cNvPr id="30" name="TextBox 29"/>
          <p:cNvSpPr txBox="1"/>
          <p:nvPr/>
        </p:nvSpPr>
        <p:spPr>
          <a:xfrm>
            <a:off x="3566160" y="3584448"/>
            <a:ext cx="8229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1.4x</a:t>
            </a:r>
          </a:p>
        </p:txBody>
      </p:sp>
      <p:sp>
        <p:nvSpPr>
          <p:cNvPr id="31" name="TextBox 30"/>
          <p:cNvSpPr txBox="1"/>
          <p:nvPr/>
        </p:nvSpPr>
        <p:spPr>
          <a:xfrm>
            <a:off x="4572000" y="358444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75.7%</a:t>
            </a:r>
          </a:p>
        </p:txBody>
      </p:sp>
      <p:sp>
        <p:nvSpPr>
          <p:cNvPr id="32" name="TextBox 31"/>
          <p:cNvSpPr txBox="1"/>
          <p:nvPr/>
        </p:nvSpPr>
        <p:spPr>
          <a:xfrm>
            <a:off x="5760720" y="3584448"/>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15.2x</a:t>
            </a:r>
          </a:p>
        </p:txBody>
      </p:sp>
      <p:sp>
        <p:nvSpPr>
          <p:cNvPr id="33" name="Rectangle 32"/>
          <p:cNvSpPr/>
          <p:nvPr/>
        </p:nvSpPr>
        <p:spPr>
          <a:xfrm>
            <a:off x="822960" y="385876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950208"/>
            <a:ext cx="12801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3,000,000</a:t>
            </a:r>
          </a:p>
        </p:txBody>
      </p:sp>
      <p:sp>
        <p:nvSpPr>
          <p:cNvPr id="35" name="TextBox 34"/>
          <p:cNvSpPr txBox="1"/>
          <p:nvPr/>
        </p:nvSpPr>
        <p:spPr>
          <a:xfrm>
            <a:off x="2377440" y="395020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6.1%</a:t>
            </a:r>
          </a:p>
        </p:txBody>
      </p:sp>
      <p:sp>
        <p:nvSpPr>
          <p:cNvPr id="36" name="TextBox 35"/>
          <p:cNvSpPr txBox="1"/>
          <p:nvPr/>
        </p:nvSpPr>
        <p:spPr>
          <a:xfrm>
            <a:off x="3566160" y="3950208"/>
            <a:ext cx="8229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1.7x</a:t>
            </a:r>
          </a:p>
        </p:txBody>
      </p:sp>
      <p:sp>
        <p:nvSpPr>
          <p:cNvPr id="37" name="TextBox 36"/>
          <p:cNvSpPr txBox="1"/>
          <p:nvPr/>
        </p:nvSpPr>
        <p:spPr>
          <a:xfrm>
            <a:off x="4572000" y="395020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36.1%</a:t>
            </a:r>
          </a:p>
        </p:txBody>
      </p:sp>
      <p:sp>
        <p:nvSpPr>
          <p:cNvPr id="38" name="TextBox 37"/>
          <p:cNvSpPr txBox="1"/>
          <p:nvPr/>
        </p:nvSpPr>
        <p:spPr>
          <a:xfrm>
            <a:off x="5760720" y="3950208"/>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18.8x</a:t>
            </a:r>
          </a:p>
        </p:txBody>
      </p:sp>
      <p:sp>
        <p:nvSpPr>
          <p:cNvPr id="39" name="Rectangle 38"/>
          <p:cNvSpPr/>
          <p:nvPr/>
        </p:nvSpPr>
        <p:spPr>
          <a:xfrm>
            <a:off x="822960" y="422452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315968"/>
            <a:ext cx="128016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5,000,000</a:t>
            </a:r>
          </a:p>
        </p:txBody>
      </p:sp>
      <p:sp>
        <p:nvSpPr>
          <p:cNvPr id="41" name="TextBox 40"/>
          <p:cNvSpPr txBox="1"/>
          <p:nvPr/>
        </p:nvSpPr>
        <p:spPr>
          <a:xfrm>
            <a:off x="2377440" y="431596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12.1%</a:t>
            </a:r>
          </a:p>
        </p:txBody>
      </p:sp>
      <p:sp>
        <p:nvSpPr>
          <p:cNvPr id="42" name="TextBox 41"/>
          <p:cNvSpPr txBox="1"/>
          <p:nvPr/>
        </p:nvSpPr>
        <p:spPr>
          <a:xfrm>
            <a:off x="3566160" y="4315968"/>
            <a:ext cx="8229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1.8x</a:t>
            </a:r>
          </a:p>
        </p:txBody>
      </p:sp>
      <p:sp>
        <p:nvSpPr>
          <p:cNvPr id="43" name="TextBox 42"/>
          <p:cNvSpPr txBox="1"/>
          <p:nvPr/>
        </p:nvSpPr>
        <p:spPr>
          <a:xfrm>
            <a:off x="4572000" y="4315968"/>
            <a:ext cx="10058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37.9%</a:t>
            </a:r>
          </a:p>
        </p:txBody>
      </p:sp>
      <p:sp>
        <p:nvSpPr>
          <p:cNvPr id="44" name="TextBox 43"/>
          <p:cNvSpPr txBox="1"/>
          <p:nvPr/>
        </p:nvSpPr>
        <p:spPr>
          <a:xfrm>
            <a:off x="5760720" y="4315968"/>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27.8x</a:t>
            </a:r>
          </a:p>
        </p:txBody>
      </p:sp>
      <p:sp>
        <p:nvSpPr>
          <p:cNvPr id="45" name="Rectangle 44"/>
          <p:cNvSpPr/>
          <p:nvPr/>
        </p:nvSpPr>
        <p:spPr>
          <a:xfrm>
            <a:off x="822960" y="4590288"/>
            <a:ext cx="58978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4681728"/>
            <a:ext cx="1280160" cy="310896"/>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10,000,000</a:t>
            </a:r>
          </a:p>
        </p:txBody>
      </p:sp>
      <p:sp>
        <p:nvSpPr>
          <p:cNvPr id="47" name="TextBox 46"/>
          <p:cNvSpPr txBox="1"/>
          <p:nvPr/>
        </p:nvSpPr>
        <p:spPr>
          <a:xfrm>
            <a:off x="2377440" y="4681728"/>
            <a:ext cx="100584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36.1%</a:t>
            </a:r>
          </a:p>
        </p:txBody>
      </p:sp>
      <p:sp>
        <p:nvSpPr>
          <p:cNvPr id="48" name="TextBox 47"/>
          <p:cNvSpPr txBox="1"/>
          <p:nvPr/>
        </p:nvSpPr>
        <p:spPr>
          <a:xfrm>
            <a:off x="3566160" y="4681728"/>
            <a:ext cx="82296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3.7x</a:t>
            </a:r>
          </a:p>
        </p:txBody>
      </p:sp>
      <p:sp>
        <p:nvSpPr>
          <p:cNvPr id="49" name="TextBox 48"/>
          <p:cNvSpPr txBox="1"/>
          <p:nvPr/>
        </p:nvSpPr>
        <p:spPr>
          <a:xfrm>
            <a:off x="4572000" y="4681728"/>
            <a:ext cx="100584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12.4%</a:t>
            </a:r>
          </a:p>
        </p:txBody>
      </p:sp>
      <p:sp>
        <p:nvSpPr>
          <p:cNvPr id="50" name="TextBox 49"/>
          <p:cNvSpPr txBox="1"/>
          <p:nvPr/>
        </p:nvSpPr>
        <p:spPr>
          <a:xfrm>
            <a:off x="5760720" y="4681728"/>
            <a:ext cx="86868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30.9x</a:t>
            </a:r>
          </a:p>
        </p:txBody>
      </p:sp>
      <p:sp>
        <p:nvSpPr>
          <p:cNvPr id="51" name="Rectangle 50"/>
          <p:cNvSpPr/>
          <p:nvPr/>
        </p:nvSpPr>
        <p:spPr>
          <a:xfrm>
            <a:off x="822960" y="4974336"/>
            <a:ext cx="58978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ig8_degradation_shape.png"/>
          <p:cNvPicPr>
            <a:picLocks noChangeAspect="1"/>
          </p:cNvPicPr>
          <p:nvPr/>
        </p:nvPicPr>
        <p:blipFill>
          <a:blip r:embed="rId3"/>
          <a:stretch>
            <a:fillRect/>
          </a:stretch>
        </p:blipFill>
        <p:spPr>
          <a:xfrm>
            <a:off x="6949440" y="1874519"/>
            <a:ext cx="4389120" cy="2148368"/>
          </a:xfrm>
          <a:prstGeom prst="rect">
            <a:avLst/>
          </a:prstGeom>
        </p:spPr>
      </p:pic>
      <p:sp>
        <p:nvSpPr>
          <p:cNvPr id="53" name="TextBox 52"/>
          <p:cNvSpPr txBox="1"/>
          <p:nvPr/>
        </p:nvSpPr>
        <p:spPr>
          <a:xfrm>
            <a:off x="6949440" y="4297680"/>
            <a:ext cx="4389120" cy="1828800"/>
          </a:xfrm>
          <a:prstGeom prst="rect">
            <a:avLst/>
          </a:prstGeom>
          <a:noFill/>
        </p:spPr>
        <p:txBody>
          <a:bodyPr wrap="square" anchor="t" lIns="0" rIns="0" tIns="0" bIns="0">
            <a:spAutoFit/>
          </a:bodyPr>
          <a:lstStyle/>
          <a:p>
            <a:pPr algn="l">
              <a:lnSpc>
                <a:spcPct val="132000"/>
              </a:lnSpc>
            </a:pPr>
            <a:r>
              <a:rPr sz="1450" b="1">
                <a:solidFill>
                  <a:srgbClr val="1A1D21"/>
                </a:solidFill>
                <a:latin typeface="Segoe UI"/>
              </a:rPr>
              <a:t>Wrong often but never badly is easier to operate than wrong rarely but catastrophically.</a:t>
            </a:r>
          </a:p>
          <a:p>
            <a:pPr algn="l">
              <a:lnSpc>
                <a:spcPct val="132000"/>
              </a:lnSpc>
            </a:pPr>
            <a:r>
              <a:rPr sz="600" b="0">
                <a:solidFill>
                  <a:srgbClr val="1A1D21"/>
                </a:solidFill>
                <a:latin typeface="Segoe UI"/>
              </a:rPr>
              <a:t/>
            </a:r>
          </a:p>
          <a:p>
            <a:pPr algn="l">
              <a:lnSpc>
                <a:spcPct val="132000"/>
              </a:lnSpc>
            </a:pPr>
            <a:r>
              <a:rPr sz="1350" b="0">
                <a:solidFill>
                  <a:srgbClr val="70757A"/>
                </a:solidFill>
                <a:latin typeface="Segoe UI"/>
              </a:rPr>
              <a:t>Frequency and severity are separate questions, and here they do not even move in the same direction.</a:t>
            </a:r>
          </a:p>
        </p:txBody>
      </p:sp>
      <p:sp>
        <p:nvSpPr>
          <p:cNvPr id="54" name="TextBox 53"/>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Both engines judged only against plans the other could also have formed, so neither is held to a stricter standard.</a:t>
            </a:r>
          </a:p>
        </p:txBody>
      </p:sp>
      <p:sp>
        <p:nvSpPr>
          <p:cNvPr id="55" name="TextBox 54"/>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5</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Which cost dominates is a property of the engine</a:t>
            </a:r>
          </a:p>
        </p:txBody>
      </p:sp>
      <p:sp>
        <p:nvSpPr>
          <p:cNvPr id="4" name="TextBox 3"/>
          <p:cNvSpPr txBox="1"/>
          <p:nvPr/>
        </p:nvSpPr>
        <p:spPr>
          <a:xfrm>
            <a:off x="914400" y="1965960"/>
            <a:ext cx="210312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
            </a:r>
          </a:p>
        </p:txBody>
      </p:sp>
      <p:sp>
        <p:nvSpPr>
          <p:cNvPr id="5" name="TextBox 4"/>
          <p:cNvSpPr txBox="1"/>
          <p:nvPr/>
        </p:nvSpPr>
        <p:spPr>
          <a:xfrm>
            <a:off x="3200400" y="1965960"/>
            <a:ext cx="178308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Time running queries</a:t>
            </a:r>
          </a:p>
        </p:txBody>
      </p:sp>
      <p:sp>
        <p:nvSpPr>
          <p:cNvPr id="6" name="TextBox 5"/>
          <p:cNvSpPr txBox="1"/>
          <p:nvPr/>
        </p:nvSpPr>
        <p:spPr>
          <a:xfrm>
            <a:off x="5166360" y="1965960"/>
            <a:ext cx="178308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Time building indexes</a:t>
            </a:r>
          </a:p>
        </p:txBody>
      </p:sp>
      <p:sp>
        <p:nvSpPr>
          <p:cNvPr id="7" name="Rectangle 6"/>
          <p:cNvSpPr/>
          <p:nvPr/>
        </p:nvSpPr>
        <p:spPr>
          <a:xfrm>
            <a:off x="822960" y="2267712"/>
            <a:ext cx="62179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14016"/>
            <a:ext cx="2103120" cy="310896"/>
          </a:xfrm>
          <a:prstGeom prst="rect">
            <a:avLst/>
          </a:prstGeom>
          <a:noFill/>
        </p:spPr>
        <p:txBody>
          <a:bodyPr wrap="square" anchor="t" lIns="0" rIns="0" tIns="0" bIns="0">
            <a:spAutoFit/>
          </a:bodyPr>
          <a:lstStyle/>
          <a:p>
            <a:pPr algn="l">
              <a:lnSpc>
                <a:spcPct val="100000"/>
              </a:lnSpc>
            </a:pPr>
            <a:r>
              <a:rPr sz="1450" b="0">
                <a:solidFill>
                  <a:srgbClr val="1A1D21"/>
                </a:solidFill>
                <a:latin typeface="Segoe UI"/>
              </a:rPr>
              <a:t>PostgreSQL 17.1</a:t>
            </a:r>
          </a:p>
        </p:txBody>
      </p:sp>
      <p:sp>
        <p:nvSpPr>
          <p:cNvPr id="9" name="TextBox 8"/>
          <p:cNvSpPr txBox="1"/>
          <p:nvPr/>
        </p:nvSpPr>
        <p:spPr>
          <a:xfrm>
            <a:off x="3200400" y="2414016"/>
            <a:ext cx="178308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50.8 min</a:t>
            </a:r>
          </a:p>
        </p:txBody>
      </p:sp>
      <p:sp>
        <p:nvSpPr>
          <p:cNvPr id="10" name="TextBox 9"/>
          <p:cNvSpPr txBox="1"/>
          <p:nvPr/>
        </p:nvSpPr>
        <p:spPr>
          <a:xfrm>
            <a:off x="5166360" y="2414016"/>
            <a:ext cx="178308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45.6 min</a:t>
            </a:r>
          </a:p>
        </p:txBody>
      </p:sp>
      <p:sp>
        <p:nvSpPr>
          <p:cNvPr id="11" name="Rectangle 10"/>
          <p:cNvSpPr/>
          <p:nvPr/>
        </p:nvSpPr>
        <p:spPr>
          <a:xfrm>
            <a:off x="822960" y="2779776"/>
            <a:ext cx="62179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71216"/>
            <a:ext cx="2103120" cy="310896"/>
          </a:xfrm>
          <a:prstGeom prst="rect">
            <a:avLst/>
          </a:prstGeom>
          <a:noFill/>
        </p:spPr>
        <p:txBody>
          <a:bodyPr wrap="square" anchor="t" lIns="0" rIns="0" tIns="0" bIns="0">
            <a:spAutoFit/>
          </a:bodyPr>
          <a:lstStyle/>
          <a:p>
            <a:pPr algn="l">
              <a:lnSpc>
                <a:spcPct val="100000"/>
              </a:lnSpc>
            </a:pPr>
            <a:r>
              <a:rPr sz="1450" b="0">
                <a:solidFill>
                  <a:srgbClr val="1A1D21"/>
                </a:solidFill>
                <a:latin typeface="Segoe UI"/>
              </a:rPr>
              <a:t>MariaDB 10.4.28</a:t>
            </a:r>
          </a:p>
        </p:txBody>
      </p:sp>
      <p:sp>
        <p:nvSpPr>
          <p:cNvPr id="13" name="TextBox 12"/>
          <p:cNvSpPr txBox="1"/>
          <p:nvPr/>
        </p:nvSpPr>
        <p:spPr>
          <a:xfrm>
            <a:off x="3200400" y="2871216"/>
            <a:ext cx="178308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781.8 min</a:t>
            </a:r>
          </a:p>
        </p:txBody>
      </p:sp>
      <p:sp>
        <p:nvSpPr>
          <p:cNvPr id="14" name="TextBox 13"/>
          <p:cNvSpPr txBox="1"/>
          <p:nvPr/>
        </p:nvSpPr>
        <p:spPr>
          <a:xfrm>
            <a:off x="5166360" y="2871216"/>
            <a:ext cx="1783080" cy="310896"/>
          </a:xfrm>
          <a:prstGeom prst="rect">
            <a:avLst/>
          </a:prstGeom>
          <a:noFill/>
        </p:spPr>
        <p:txBody>
          <a:bodyPr wrap="square" anchor="t" lIns="0" rIns="0" tIns="0" bIns="0">
            <a:spAutoFit/>
          </a:bodyPr>
          <a:lstStyle/>
          <a:p>
            <a:pPr algn="r">
              <a:lnSpc>
                <a:spcPct val="100000"/>
              </a:lnSpc>
            </a:pPr>
            <a:r>
              <a:rPr sz="1450" b="0">
                <a:solidFill>
                  <a:srgbClr val="1A1D21"/>
                </a:solidFill>
                <a:latin typeface="Segoe UI"/>
              </a:rPr>
              <a:t>19.3 min</a:t>
            </a:r>
          </a:p>
        </p:txBody>
      </p:sp>
      <p:sp>
        <p:nvSpPr>
          <p:cNvPr id="15" name="Rectangle 14"/>
          <p:cNvSpPr/>
          <p:nvPr/>
        </p:nvSpPr>
        <p:spPr>
          <a:xfrm>
            <a:off x="822960" y="3236976"/>
            <a:ext cx="62179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328416"/>
            <a:ext cx="2103120" cy="310896"/>
          </a:xfrm>
          <a:prstGeom prst="rect">
            <a:avLst/>
          </a:prstGeom>
          <a:noFill/>
        </p:spPr>
        <p:txBody>
          <a:bodyPr wrap="square" anchor="t" lIns="0" rIns="0" tIns="0" bIns="0">
            <a:spAutoFit/>
          </a:bodyPr>
          <a:lstStyle/>
          <a:p>
            <a:pPr algn="l">
              <a:lnSpc>
                <a:spcPct val="100000"/>
              </a:lnSpc>
            </a:pPr>
            <a:r>
              <a:rPr sz="1450" b="1">
                <a:solidFill>
                  <a:srgbClr val="A8322A"/>
                </a:solidFill>
                <a:latin typeface="Segoe UI"/>
              </a:rPr>
              <a:t>Ratio</a:t>
            </a:r>
          </a:p>
        </p:txBody>
      </p:sp>
      <p:sp>
        <p:nvSpPr>
          <p:cNvPr id="17" name="TextBox 16"/>
          <p:cNvSpPr txBox="1"/>
          <p:nvPr/>
        </p:nvSpPr>
        <p:spPr>
          <a:xfrm>
            <a:off x="3200400" y="3328416"/>
            <a:ext cx="1783080" cy="310896"/>
          </a:xfrm>
          <a:prstGeom prst="rect">
            <a:avLst/>
          </a:prstGeom>
          <a:noFill/>
        </p:spPr>
        <p:txBody>
          <a:bodyPr wrap="square" anchor="t" lIns="0" rIns="0" tIns="0" bIns="0">
            <a:spAutoFit/>
          </a:bodyPr>
          <a:lstStyle/>
          <a:p>
            <a:pPr algn="r">
              <a:lnSpc>
                <a:spcPct val="100000"/>
              </a:lnSpc>
            </a:pPr>
            <a:r>
              <a:rPr sz="1450" b="1">
                <a:solidFill>
                  <a:srgbClr val="A8322A"/>
                </a:solidFill>
                <a:latin typeface="Segoe UI"/>
              </a:rPr>
              <a:t>15.4x slower</a:t>
            </a:r>
          </a:p>
        </p:txBody>
      </p:sp>
      <p:sp>
        <p:nvSpPr>
          <p:cNvPr id="18" name="TextBox 17"/>
          <p:cNvSpPr txBox="1"/>
          <p:nvPr/>
        </p:nvSpPr>
        <p:spPr>
          <a:xfrm>
            <a:off x="5166360" y="3328416"/>
            <a:ext cx="1783080" cy="310896"/>
          </a:xfrm>
          <a:prstGeom prst="rect">
            <a:avLst/>
          </a:prstGeom>
          <a:noFill/>
        </p:spPr>
        <p:txBody>
          <a:bodyPr wrap="square" anchor="t" lIns="0" rIns="0" tIns="0" bIns="0">
            <a:spAutoFit/>
          </a:bodyPr>
          <a:lstStyle/>
          <a:p>
            <a:pPr algn="r">
              <a:lnSpc>
                <a:spcPct val="100000"/>
              </a:lnSpc>
            </a:pPr>
            <a:r>
              <a:rPr sz="1450" b="1">
                <a:solidFill>
                  <a:srgbClr val="A8322A"/>
                </a:solidFill>
                <a:latin typeface="Segoe UI"/>
              </a:rPr>
              <a:t>2.4x faster</a:t>
            </a:r>
          </a:p>
        </p:txBody>
      </p:sp>
      <p:sp>
        <p:nvSpPr>
          <p:cNvPr id="19" name="Rectangle 18"/>
          <p:cNvSpPr/>
          <p:nvPr/>
        </p:nvSpPr>
        <p:spPr>
          <a:xfrm>
            <a:off x="822960" y="3712464"/>
            <a:ext cx="62179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886200"/>
            <a:ext cx="630936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206240"/>
            <a:ext cx="6309360" cy="1737360"/>
          </a:xfrm>
          <a:prstGeom prst="rect">
            <a:avLst/>
          </a:prstGeom>
          <a:noFill/>
        </p:spPr>
        <p:txBody>
          <a:bodyPr wrap="square" anchor="t" lIns="0" rIns="0" tIns="0" bIns="0">
            <a:spAutoFit/>
          </a:bodyPr>
          <a:lstStyle/>
          <a:p>
            <a:pPr algn="l">
              <a:lnSpc>
                <a:spcPct val="135000"/>
              </a:lnSpc>
            </a:pPr>
            <a:r>
              <a:rPr sz="1700" b="0">
                <a:solidFill>
                  <a:srgbClr val="1A1D21"/>
                </a:solidFill>
                <a:latin typeface="Georgia"/>
              </a:rPr>
              <a:t>A study measuring only build time and a study measuring only query time would rank these two engines in opposite orders.</a:t>
            </a:r>
          </a:p>
          <a:p>
            <a:pPr algn="l">
              <a:lnSpc>
                <a:spcPct val="135000"/>
              </a:lnSpc>
            </a:pPr>
            <a:r>
              <a:rPr sz="800" b="0">
                <a:solidFill>
                  <a:srgbClr val="1A1D21"/>
                </a:solidFill>
                <a:latin typeface="Segoe UI"/>
              </a:rPr>
              <a:t/>
            </a:r>
          </a:p>
          <a:p>
            <a:pPr algn="l">
              <a:lnSpc>
                <a:spcPct val="135000"/>
              </a:lnSpc>
            </a:pPr>
            <a:r>
              <a:rPr sz="1350" b="0">
                <a:solidFill>
                  <a:srgbClr val="70757A"/>
                </a:solidFill>
                <a:latin typeface="Segoe UI"/>
              </a:rPr>
              <a:t>Measured at 10,000,000 rows, matched 128 MB pools, counting only index types both engines support.</a:t>
            </a:r>
          </a:p>
        </p:txBody>
      </p:sp>
      <p:pic>
        <p:nvPicPr>
          <p:cNvPr id="22" name="Picture 21" descr="fig9_resource_cost.png"/>
          <p:cNvPicPr>
            <a:picLocks noChangeAspect="1"/>
          </p:cNvPicPr>
          <p:nvPr/>
        </p:nvPicPr>
        <p:blipFill>
          <a:blip r:embed="rId3"/>
          <a:stretch>
            <a:fillRect/>
          </a:stretch>
        </p:blipFill>
        <p:spPr>
          <a:xfrm>
            <a:off x="7452360" y="2011680"/>
            <a:ext cx="3886200" cy="2364253"/>
          </a:xfrm>
          <a:prstGeom prst="rect">
            <a:avLst/>
          </a:prstGeom>
        </p:spPr>
      </p:pic>
      <p:sp>
        <p:nvSpPr>
          <p:cNvPr id="23" name="TextBox 22"/>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6  /  RULING OUT THE OBVIOUS OBJECTION</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The deficit cannot be configured away</a:t>
            </a:r>
          </a:p>
        </p:txBody>
      </p:sp>
      <p:sp>
        <p:nvSpPr>
          <p:cNvPr id="4" name="TextBox 3"/>
          <p:cNvSpPr txBox="1"/>
          <p:nvPr/>
        </p:nvSpPr>
        <p:spPr>
          <a:xfrm>
            <a:off x="914400" y="1874519"/>
            <a:ext cx="2514600" cy="301752"/>
          </a:xfrm>
          <a:prstGeom prst="rect">
            <a:avLst/>
          </a:prstGeom>
          <a:noFill/>
        </p:spPr>
        <p:txBody>
          <a:bodyPr wrap="square" anchor="b" lIns="0" rIns="0" tIns="0" bIns="0">
            <a:spAutoFit/>
          </a:bodyPr>
          <a:lstStyle/>
          <a:p>
            <a:pPr algn="l">
              <a:lnSpc>
                <a:spcPct val="110000"/>
              </a:lnSpc>
            </a:pPr>
            <a:r>
              <a:rPr sz="1050" b="1">
                <a:solidFill>
                  <a:srgbClr val="70757A"/>
                </a:solidFill>
                <a:latin typeface="Segoe UI"/>
              </a:rPr>
              <a:t>MariaDB configuration</a:t>
            </a:r>
          </a:p>
        </p:txBody>
      </p:sp>
      <p:sp>
        <p:nvSpPr>
          <p:cNvPr id="5" name="TextBox 4"/>
          <p:cNvSpPr txBox="1"/>
          <p:nvPr/>
        </p:nvSpPr>
        <p:spPr>
          <a:xfrm>
            <a:off x="3611880" y="1874519"/>
            <a:ext cx="1051560" cy="301752"/>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Total time</a:t>
            </a:r>
          </a:p>
        </p:txBody>
      </p:sp>
      <p:sp>
        <p:nvSpPr>
          <p:cNvPr id="6" name="TextBox 5"/>
          <p:cNvSpPr txBox="1"/>
          <p:nvPr/>
        </p:nvSpPr>
        <p:spPr>
          <a:xfrm>
            <a:off x="4846320" y="1874519"/>
            <a:ext cx="960120" cy="301752"/>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vs default</a:t>
            </a:r>
          </a:p>
        </p:txBody>
      </p:sp>
      <p:sp>
        <p:nvSpPr>
          <p:cNvPr id="7" name="TextBox 6"/>
          <p:cNvSpPr txBox="1"/>
          <p:nvPr/>
        </p:nvSpPr>
        <p:spPr>
          <a:xfrm>
            <a:off x="5989320" y="1874519"/>
            <a:ext cx="1417320" cy="301752"/>
          </a:xfrm>
          <a:prstGeom prst="rect">
            <a:avLst/>
          </a:prstGeom>
          <a:noFill/>
        </p:spPr>
        <p:txBody>
          <a:bodyPr wrap="square" anchor="b" lIns="0" rIns="0" tIns="0" bIns="0">
            <a:spAutoFit/>
          </a:bodyPr>
          <a:lstStyle/>
          <a:p>
            <a:pPr algn="r">
              <a:lnSpc>
                <a:spcPct val="110000"/>
              </a:lnSpc>
            </a:pPr>
            <a:r>
              <a:rPr sz="1050" b="1">
                <a:solidFill>
                  <a:srgbClr val="70757A"/>
                </a:solidFill>
                <a:latin typeface="Segoe UI"/>
              </a:rPr>
              <a:t>Conjunction q-error</a:t>
            </a:r>
          </a:p>
        </p:txBody>
      </p:sp>
      <p:sp>
        <p:nvSpPr>
          <p:cNvPr id="8" name="Rectangle 7"/>
          <p:cNvSpPr/>
          <p:nvPr/>
        </p:nvSpPr>
        <p:spPr>
          <a:xfrm>
            <a:off x="822960" y="2176271"/>
            <a:ext cx="66751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22575"/>
            <a:ext cx="25146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ucs3  (statistics depth)</a:t>
            </a:r>
          </a:p>
        </p:txBody>
      </p:sp>
      <p:sp>
        <p:nvSpPr>
          <p:cNvPr id="10" name="TextBox 9"/>
          <p:cNvSpPr txBox="1"/>
          <p:nvPr/>
        </p:nvSpPr>
        <p:spPr>
          <a:xfrm>
            <a:off x="3611880" y="2322575"/>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100.7 s</a:t>
            </a:r>
          </a:p>
        </p:txBody>
      </p:sp>
      <p:sp>
        <p:nvSpPr>
          <p:cNvPr id="11" name="TextBox 10"/>
          <p:cNvSpPr txBox="1"/>
          <p:nvPr/>
        </p:nvSpPr>
        <p:spPr>
          <a:xfrm>
            <a:off x="4846320" y="2322575"/>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0.87</a:t>
            </a:r>
          </a:p>
        </p:txBody>
      </p:sp>
      <p:sp>
        <p:nvSpPr>
          <p:cNvPr id="12" name="TextBox 11"/>
          <p:cNvSpPr txBox="1"/>
          <p:nvPr/>
        </p:nvSpPr>
        <p:spPr>
          <a:xfrm>
            <a:off x="5989320" y="2322575"/>
            <a:ext cx="14173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55.84</a:t>
            </a:r>
          </a:p>
        </p:txBody>
      </p:sp>
      <p:sp>
        <p:nvSpPr>
          <p:cNvPr id="13" name="Rectangle 12"/>
          <p:cNvSpPr/>
          <p:nvPr/>
        </p:nvSpPr>
        <p:spPr>
          <a:xfrm>
            <a:off x="822960" y="2596895"/>
            <a:ext cx="66751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688335"/>
            <a:ext cx="25146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ucs5</a:t>
            </a:r>
          </a:p>
        </p:txBody>
      </p:sp>
      <p:sp>
        <p:nvSpPr>
          <p:cNvPr id="15" name="TextBox 14"/>
          <p:cNvSpPr txBox="1"/>
          <p:nvPr/>
        </p:nvSpPr>
        <p:spPr>
          <a:xfrm>
            <a:off x="3611880" y="2688335"/>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102.1 s</a:t>
            </a:r>
          </a:p>
        </p:txBody>
      </p:sp>
      <p:sp>
        <p:nvSpPr>
          <p:cNvPr id="16" name="TextBox 15"/>
          <p:cNvSpPr txBox="1"/>
          <p:nvPr/>
        </p:nvSpPr>
        <p:spPr>
          <a:xfrm>
            <a:off x="4846320" y="2688335"/>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0.88</a:t>
            </a:r>
          </a:p>
        </p:txBody>
      </p:sp>
      <p:sp>
        <p:nvSpPr>
          <p:cNvPr id="17" name="TextBox 16"/>
          <p:cNvSpPr txBox="1"/>
          <p:nvPr/>
        </p:nvSpPr>
        <p:spPr>
          <a:xfrm>
            <a:off x="5989320" y="2688335"/>
            <a:ext cx="14173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55.84</a:t>
            </a:r>
          </a:p>
        </p:txBody>
      </p:sp>
      <p:sp>
        <p:nvSpPr>
          <p:cNvPr id="18" name="Rectangle 17"/>
          <p:cNvSpPr/>
          <p:nvPr/>
        </p:nvSpPr>
        <p:spPr>
          <a:xfrm>
            <a:off x="822960" y="2962655"/>
            <a:ext cx="66751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054095"/>
            <a:ext cx="25146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no_index_merge</a:t>
            </a:r>
          </a:p>
        </p:txBody>
      </p:sp>
      <p:sp>
        <p:nvSpPr>
          <p:cNvPr id="20" name="TextBox 19"/>
          <p:cNvSpPr txBox="1"/>
          <p:nvPr/>
        </p:nvSpPr>
        <p:spPr>
          <a:xfrm>
            <a:off x="3611880" y="3054095"/>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107.0 s</a:t>
            </a:r>
          </a:p>
        </p:txBody>
      </p:sp>
      <p:sp>
        <p:nvSpPr>
          <p:cNvPr id="21" name="TextBox 20"/>
          <p:cNvSpPr txBox="1"/>
          <p:nvPr/>
        </p:nvSpPr>
        <p:spPr>
          <a:xfrm>
            <a:off x="4846320" y="3054095"/>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0.92</a:t>
            </a:r>
          </a:p>
        </p:txBody>
      </p:sp>
      <p:sp>
        <p:nvSpPr>
          <p:cNvPr id="22" name="TextBox 21"/>
          <p:cNvSpPr txBox="1"/>
          <p:nvPr/>
        </p:nvSpPr>
        <p:spPr>
          <a:xfrm>
            <a:off x="5989320" y="3054095"/>
            <a:ext cx="14173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55.59</a:t>
            </a:r>
          </a:p>
        </p:txBody>
      </p:sp>
      <p:sp>
        <p:nvSpPr>
          <p:cNvPr id="23" name="Rectangle 22"/>
          <p:cNvSpPr/>
          <p:nvPr/>
        </p:nvSpPr>
        <p:spPr>
          <a:xfrm>
            <a:off x="822960" y="3328415"/>
            <a:ext cx="66751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419855"/>
            <a:ext cx="25146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mrr_on_costbased</a:t>
            </a:r>
          </a:p>
        </p:txBody>
      </p:sp>
      <p:sp>
        <p:nvSpPr>
          <p:cNvPr id="25" name="TextBox 24"/>
          <p:cNvSpPr txBox="1"/>
          <p:nvPr/>
        </p:nvSpPr>
        <p:spPr>
          <a:xfrm>
            <a:off x="3611880" y="3419855"/>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108.4 s</a:t>
            </a:r>
          </a:p>
        </p:txBody>
      </p:sp>
      <p:sp>
        <p:nvSpPr>
          <p:cNvPr id="26" name="TextBox 25"/>
          <p:cNvSpPr txBox="1"/>
          <p:nvPr/>
        </p:nvSpPr>
        <p:spPr>
          <a:xfrm>
            <a:off x="4846320" y="3419855"/>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0.93</a:t>
            </a:r>
          </a:p>
        </p:txBody>
      </p:sp>
      <p:sp>
        <p:nvSpPr>
          <p:cNvPr id="27" name="TextBox 26"/>
          <p:cNvSpPr txBox="1"/>
          <p:nvPr/>
        </p:nvSpPr>
        <p:spPr>
          <a:xfrm>
            <a:off x="5989320" y="3419855"/>
            <a:ext cx="14173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55.84</a:t>
            </a:r>
          </a:p>
        </p:txBody>
      </p:sp>
      <p:sp>
        <p:nvSpPr>
          <p:cNvPr id="28" name="Rectangle 27"/>
          <p:cNvSpPr/>
          <p:nvPr/>
        </p:nvSpPr>
        <p:spPr>
          <a:xfrm>
            <a:off x="822960" y="3694175"/>
            <a:ext cx="66751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785615"/>
            <a:ext cx="2514600" cy="310896"/>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default</a:t>
            </a:r>
          </a:p>
        </p:txBody>
      </p:sp>
      <p:sp>
        <p:nvSpPr>
          <p:cNvPr id="30" name="TextBox 29"/>
          <p:cNvSpPr txBox="1"/>
          <p:nvPr/>
        </p:nvSpPr>
        <p:spPr>
          <a:xfrm>
            <a:off x="3611880" y="3785615"/>
            <a:ext cx="105156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116.1 s</a:t>
            </a:r>
          </a:p>
        </p:txBody>
      </p:sp>
      <p:sp>
        <p:nvSpPr>
          <p:cNvPr id="31" name="TextBox 30"/>
          <p:cNvSpPr txBox="1"/>
          <p:nvPr/>
        </p:nvSpPr>
        <p:spPr>
          <a:xfrm>
            <a:off x="4846320" y="3785615"/>
            <a:ext cx="96012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1.00</a:t>
            </a:r>
          </a:p>
        </p:txBody>
      </p:sp>
      <p:sp>
        <p:nvSpPr>
          <p:cNvPr id="32" name="TextBox 31"/>
          <p:cNvSpPr txBox="1"/>
          <p:nvPr/>
        </p:nvSpPr>
        <p:spPr>
          <a:xfrm>
            <a:off x="5989320" y="3785615"/>
            <a:ext cx="141732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55.84</a:t>
            </a:r>
          </a:p>
        </p:txBody>
      </p:sp>
      <p:sp>
        <p:nvSpPr>
          <p:cNvPr id="33" name="Rectangle 32"/>
          <p:cNvSpPr/>
          <p:nvPr/>
        </p:nvSpPr>
        <p:spPr>
          <a:xfrm>
            <a:off x="822960" y="4059935"/>
            <a:ext cx="66751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151375"/>
            <a:ext cx="251460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mrr_on_sorted</a:t>
            </a:r>
          </a:p>
        </p:txBody>
      </p:sp>
      <p:sp>
        <p:nvSpPr>
          <p:cNvPr id="35" name="TextBox 34"/>
          <p:cNvSpPr txBox="1"/>
          <p:nvPr/>
        </p:nvSpPr>
        <p:spPr>
          <a:xfrm>
            <a:off x="3611880" y="4151375"/>
            <a:ext cx="105156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121.9 s</a:t>
            </a:r>
          </a:p>
        </p:txBody>
      </p:sp>
      <p:sp>
        <p:nvSpPr>
          <p:cNvPr id="36" name="TextBox 35"/>
          <p:cNvSpPr txBox="1"/>
          <p:nvPr/>
        </p:nvSpPr>
        <p:spPr>
          <a:xfrm>
            <a:off x="4846320" y="4151375"/>
            <a:ext cx="9601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1.05</a:t>
            </a:r>
          </a:p>
        </p:txBody>
      </p:sp>
      <p:sp>
        <p:nvSpPr>
          <p:cNvPr id="37" name="TextBox 36"/>
          <p:cNvSpPr txBox="1"/>
          <p:nvPr/>
        </p:nvSpPr>
        <p:spPr>
          <a:xfrm>
            <a:off x="5989320" y="4151375"/>
            <a:ext cx="141732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55.84</a:t>
            </a:r>
          </a:p>
        </p:txBody>
      </p:sp>
      <p:sp>
        <p:nvSpPr>
          <p:cNvPr id="38" name="Rectangle 37"/>
          <p:cNvSpPr/>
          <p:nvPr/>
        </p:nvSpPr>
        <p:spPr>
          <a:xfrm>
            <a:off x="822960" y="4425695"/>
            <a:ext cx="66751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4517135"/>
            <a:ext cx="2514600" cy="310896"/>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mrr_on</a:t>
            </a:r>
          </a:p>
        </p:txBody>
      </p:sp>
      <p:sp>
        <p:nvSpPr>
          <p:cNvPr id="40" name="TextBox 39"/>
          <p:cNvSpPr txBox="1"/>
          <p:nvPr/>
        </p:nvSpPr>
        <p:spPr>
          <a:xfrm>
            <a:off x="3611880" y="4517135"/>
            <a:ext cx="105156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123.8 s</a:t>
            </a:r>
          </a:p>
        </p:txBody>
      </p:sp>
      <p:sp>
        <p:nvSpPr>
          <p:cNvPr id="41" name="TextBox 40"/>
          <p:cNvSpPr txBox="1"/>
          <p:nvPr/>
        </p:nvSpPr>
        <p:spPr>
          <a:xfrm>
            <a:off x="4846320" y="4517135"/>
            <a:ext cx="96012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1.07</a:t>
            </a:r>
          </a:p>
        </p:txBody>
      </p:sp>
      <p:sp>
        <p:nvSpPr>
          <p:cNvPr id="42" name="TextBox 41"/>
          <p:cNvSpPr txBox="1"/>
          <p:nvPr/>
        </p:nvSpPr>
        <p:spPr>
          <a:xfrm>
            <a:off x="5989320" y="4517135"/>
            <a:ext cx="141732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55.84</a:t>
            </a:r>
          </a:p>
        </p:txBody>
      </p:sp>
      <p:sp>
        <p:nvSpPr>
          <p:cNvPr id="43" name="Rectangle 42"/>
          <p:cNvSpPr/>
          <p:nvPr/>
        </p:nvSpPr>
        <p:spPr>
          <a:xfrm>
            <a:off x="822960" y="4809743"/>
            <a:ext cx="66751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0" y="1965960"/>
            <a:ext cx="3566160" cy="3840480"/>
          </a:xfrm>
          <a:prstGeom prst="rect">
            <a:avLst/>
          </a:prstGeom>
          <a:noFill/>
        </p:spPr>
        <p:txBody>
          <a:bodyPr wrap="square" anchor="t" lIns="0" rIns="0" tIns="0" bIns="0">
            <a:spAutoFit/>
          </a:bodyPr>
          <a:lstStyle/>
          <a:p>
            <a:pPr algn="l">
              <a:lnSpc>
                <a:spcPct val="132000"/>
              </a:lnSpc>
            </a:pPr>
            <a:r>
              <a:rPr sz="1500" b="1">
                <a:solidFill>
                  <a:srgbClr val="A8322A"/>
                </a:solidFill>
                <a:latin typeface="Segoe UI"/>
              </a:rPr>
              <a:t>Enabling MRR makes the workload 7% slower.</a:t>
            </a:r>
          </a:p>
          <a:p>
            <a:pPr algn="l">
              <a:lnSpc>
                <a:spcPct val="132000"/>
              </a:lnSpc>
            </a:pPr>
            <a:r>
              <a:rPr sz="800" b="0">
                <a:solidFill>
                  <a:srgbClr val="1A1D21"/>
                </a:solidFill>
                <a:latin typeface="Segoe UI"/>
              </a:rPr>
              <a:t/>
            </a:r>
          </a:p>
          <a:p>
            <a:pPr algn="l">
              <a:lnSpc>
                <a:spcPct val="132000"/>
              </a:lnSpc>
            </a:pPr>
            <a:r>
              <a:rPr sz="1350" b="0">
                <a:solidFill>
                  <a:srgbClr val="70757A"/>
                </a:solidFill>
                <a:latin typeface="Segoe UI"/>
              </a:rPr>
              <a:t>Verified that it genuinely engaged rather than being ignored: EXPLAIN reports a rowid-ordered scan and the plan JSON carries the marker, neither of which appears with MRR off.</a:t>
            </a:r>
          </a:p>
          <a:p>
            <a:pPr algn="l">
              <a:lnSpc>
                <a:spcPct val="132000"/>
              </a:lnSpc>
            </a:pPr>
            <a:r>
              <a:rPr sz="800" b="0">
                <a:solidFill>
                  <a:srgbClr val="1A1D21"/>
                </a:solidFill>
                <a:latin typeface="Segoe UI"/>
              </a:rPr>
              <a:t/>
            </a:r>
          </a:p>
          <a:p>
            <a:pPr algn="l">
              <a:lnSpc>
                <a:spcPct val="132000"/>
              </a:lnSpc>
            </a:pPr>
            <a:r>
              <a:rPr sz="1350" b="0">
                <a:solidFill>
                  <a:srgbClr val="70757A"/>
                </a:solidFill>
                <a:latin typeface="Segoe UI"/>
              </a:rPr>
              <a:t>Statistics depth changes total time by at most 13% and leaves the conjunction error untouched. MariaDB's accuracy there comes from index dives, not from the statistical machinery.</a:t>
            </a:r>
          </a:p>
        </p:txBody>
      </p:sp>
      <p:sp>
        <p:nvSpPr>
          <p:cNvPr id="45" name="TextBox 44"/>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1,000,000 rows, five datasets, 5,040 measurements. No configuration closes the gap with PostgreSQL.</a:t>
            </a:r>
          </a:p>
        </p:txBody>
      </p:sp>
      <p:sp>
        <p:nvSpPr>
          <p:cNvPr id="46" name="TextBox 45"/>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6, CONTINUED</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Why it cannot close it: the buffer is bounded</a:t>
            </a:r>
          </a:p>
        </p:txBody>
      </p:sp>
      <p:sp>
        <p:nvSpPr>
          <p:cNvPr id="4" name="TextBox 3"/>
          <p:cNvSpPr txBox="1"/>
          <p:nvPr/>
        </p:nvSpPr>
        <p:spPr>
          <a:xfrm>
            <a:off x="914400" y="1965960"/>
            <a:ext cx="265176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mrr_buffer_size</a:t>
            </a:r>
          </a:p>
        </p:txBody>
      </p:sp>
      <p:sp>
        <p:nvSpPr>
          <p:cNvPr id="5" name="TextBox 4"/>
          <p:cNvSpPr txBox="1"/>
          <p:nvPr/>
        </p:nvSpPr>
        <p:spPr>
          <a:xfrm>
            <a:off x="3749040" y="1965960"/>
            <a:ext cx="137160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1% selectivity</a:t>
            </a:r>
          </a:p>
        </p:txBody>
      </p:sp>
      <p:sp>
        <p:nvSpPr>
          <p:cNvPr id="6" name="TextBox 5"/>
          <p:cNvSpPr txBox="1"/>
          <p:nvPr/>
        </p:nvSpPr>
        <p:spPr>
          <a:xfrm>
            <a:off x="5303520" y="1965960"/>
            <a:ext cx="91440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5%</a:t>
            </a:r>
          </a:p>
        </p:txBody>
      </p:sp>
      <p:sp>
        <p:nvSpPr>
          <p:cNvPr id="7" name="TextBox 6"/>
          <p:cNvSpPr txBox="1"/>
          <p:nvPr/>
        </p:nvSpPr>
        <p:spPr>
          <a:xfrm>
            <a:off x="6400800" y="1965960"/>
            <a:ext cx="91440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10%</a:t>
            </a:r>
          </a:p>
        </p:txBody>
      </p:sp>
      <p:sp>
        <p:nvSpPr>
          <p:cNvPr id="8" name="Rectangle 7"/>
          <p:cNvSpPr/>
          <p:nvPr/>
        </p:nvSpPr>
        <p:spPr>
          <a:xfrm>
            <a:off x="822960" y="2267712"/>
            <a:ext cx="65836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14016"/>
            <a:ext cx="2651760" cy="310896"/>
          </a:xfrm>
          <a:prstGeom prst="rect">
            <a:avLst/>
          </a:prstGeom>
          <a:noFill/>
        </p:spPr>
        <p:txBody>
          <a:bodyPr wrap="square" anchor="t" lIns="0" rIns="0" tIns="0" bIns="0">
            <a:spAutoFit/>
          </a:bodyPr>
          <a:lstStyle/>
          <a:p>
            <a:pPr algn="l">
              <a:lnSpc>
                <a:spcPct val="100000"/>
              </a:lnSpc>
            </a:pPr>
            <a:r>
              <a:rPr sz="1400" b="0">
                <a:solidFill>
                  <a:srgbClr val="1A1D21"/>
                </a:solidFill>
                <a:latin typeface="Segoe UI"/>
              </a:rPr>
              <a:t>MRR disabled</a:t>
            </a:r>
          </a:p>
        </p:txBody>
      </p:sp>
      <p:sp>
        <p:nvSpPr>
          <p:cNvPr id="10" name="TextBox 9"/>
          <p:cNvSpPr txBox="1"/>
          <p:nvPr/>
        </p:nvSpPr>
        <p:spPr>
          <a:xfrm>
            <a:off x="3749040" y="2414016"/>
            <a:ext cx="13716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1.00</a:t>
            </a:r>
          </a:p>
        </p:txBody>
      </p:sp>
      <p:sp>
        <p:nvSpPr>
          <p:cNvPr id="11" name="TextBox 10"/>
          <p:cNvSpPr txBox="1"/>
          <p:nvPr/>
        </p:nvSpPr>
        <p:spPr>
          <a:xfrm>
            <a:off x="5303520" y="2414016"/>
            <a:ext cx="9144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1.00</a:t>
            </a:r>
          </a:p>
        </p:txBody>
      </p:sp>
      <p:sp>
        <p:nvSpPr>
          <p:cNvPr id="12" name="TextBox 11"/>
          <p:cNvSpPr txBox="1"/>
          <p:nvPr/>
        </p:nvSpPr>
        <p:spPr>
          <a:xfrm>
            <a:off x="6400800" y="2414016"/>
            <a:ext cx="9144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1.00</a:t>
            </a:r>
          </a:p>
        </p:txBody>
      </p:sp>
      <p:sp>
        <p:nvSpPr>
          <p:cNvPr id="13" name="Rectangle 12"/>
          <p:cNvSpPr/>
          <p:nvPr/>
        </p:nvSpPr>
        <p:spPr>
          <a:xfrm>
            <a:off x="822960" y="2743200"/>
            <a:ext cx="65836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34640"/>
            <a:ext cx="2651760" cy="310896"/>
          </a:xfrm>
          <a:prstGeom prst="rect">
            <a:avLst/>
          </a:prstGeom>
          <a:noFill/>
        </p:spPr>
        <p:txBody>
          <a:bodyPr wrap="square" anchor="t" lIns="0" rIns="0" tIns="0" bIns="0">
            <a:spAutoFit/>
          </a:bodyPr>
          <a:lstStyle/>
          <a:p>
            <a:pPr algn="l">
              <a:lnSpc>
                <a:spcPct val="100000"/>
              </a:lnSpc>
            </a:pPr>
            <a:r>
              <a:rPr sz="1400" b="1">
                <a:solidFill>
                  <a:srgbClr val="A8322A"/>
                </a:solidFill>
                <a:latin typeface="Segoe UI"/>
              </a:rPr>
              <a:t>256 KB  (shipped default)</a:t>
            </a:r>
          </a:p>
        </p:txBody>
      </p:sp>
      <p:sp>
        <p:nvSpPr>
          <p:cNvPr id="15" name="TextBox 14"/>
          <p:cNvSpPr txBox="1"/>
          <p:nvPr/>
        </p:nvSpPr>
        <p:spPr>
          <a:xfrm>
            <a:off x="3749040" y="2834640"/>
            <a:ext cx="1371600" cy="310896"/>
          </a:xfrm>
          <a:prstGeom prst="rect">
            <a:avLst/>
          </a:prstGeom>
          <a:noFill/>
        </p:spPr>
        <p:txBody>
          <a:bodyPr wrap="square" anchor="t" lIns="0" rIns="0" tIns="0" bIns="0">
            <a:spAutoFit/>
          </a:bodyPr>
          <a:lstStyle/>
          <a:p>
            <a:pPr algn="r">
              <a:lnSpc>
                <a:spcPct val="100000"/>
              </a:lnSpc>
            </a:pPr>
            <a:r>
              <a:rPr sz="1400" b="1">
                <a:solidFill>
                  <a:srgbClr val="A8322A"/>
                </a:solidFill>
                <a:latin typeface="Segoe UI"/>
              </a:rPr>
              <a:t>1.44</a:t>
            </a:r>
          </a:p>
        </p:txBody>
      </p:sp>
      <p:sp>
        <p:nvSpPr>
          <p:cNvPr id="16" name="TextBox 15"/>
          <p:cNvSpPr txBox="1"/>
          <p:nvPr/>
        </p:nvSpPr>
        <p:spPr>
          <a:xfrm>
            <a:off x="5303520" y="2834640"/>
            <a:ext cx="914400" cy="310896"/>
          </a:xfrm>
          <a:prstGeom prst="rect">
            <a:avLst/>
          </a:prstGeom>
          <a:noFill/>
        </p:spPr>
        <p:txBody>
          <a:bodyPr wrap="square" anchor="t" lIns="0" rIns="0" tIns="0" bIns="0">
            <a:spAutoFit/>
          </a:bodyPr>
          <a:lstStyle/>
          <a:p>
            <a:pPr algn="r">
              <a:lnSpc>
                <a:spcPct val="100000"/>
              </a:lnSpc>
            </a:pPr>
            <a:r>
              <a:rPr sz="1400" b="1">
                <a:solidFill>
                  <a:srgbClr val="A8322A"/>
                </a:solidFill>
                <a:latin typeface="Segoe UI"/>
              </a:rPr>
              <a:t>1.27</a:t>
            </a:r>
          </a:p>
        </p:txBody>
      </p:sp>
      <p:sp>
        <p:nvSpPr>
          <p:cNvPr id="17" name="TextBox 16"/>
          <p:cNvSpPr txBox="1"/>
          <p:nvPr/>
        </p:nvSpPr>
        <p:spPr>
          <a:xfrm>
            <a:off x="6400800" y="2834640"/>
            <a:ext cx="914400" cy="310896"/>
          </a:xfrm>
          <a:prstGeom prst="rect">
            <a:avLst/>
          </a:prstGeom>
          <a:noFill/>
        </p:spPr>
        <p:txBody>
          <a:bodyPr wrap="square" anchor="t" lIns="0" rIns="0" tIns="0" bIns="0">
            <a:spAutoFit/>
          </a:bodyPr>
          <a:lstStyle/>
          <a:p>
            <a:pPr algn="r">
              <a:lnSpc>
                <a:spcPct val="100000"/>
              </a:lnSpc>
            </a:pPr>
            <a:r>
              <a:rPr sz="1400" b="1">
                <a:solidFill>
                  <a:srgbClr val="A8322A"/>
                </a:solidFill>
                <a:latin typeface="Segoe UI"/>
              </a:rPr>
              <a:t>1.02</a:t>
            </a:r>
          </a:p>
        </p:txBody>
      </p:sp>
      <p:sp>
        <p:nvSpPr>
          <p:cNvPr id="18" name="Rectangle 17"/>
          <p:cNvSpPr/>
          <p:nvPr/>
        </p:nvSpPr>
        <p:spPr>
          <a:xfrm>
            <a:off x="822960" y="3163824"/>
            <a:ext cx="65836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255264"/>
            <a:ext cx="2651760" cy="310896"/>
          </a:xfrm>
          <a:prstGeom prst="rect">
            <a:avLst/>
          </a:prstGeom>
          <a:noFill/>
        </p:spPr>
        <p:txBody>
          <a:bodyPr wrap="square" anchor="t" lIns="0" rIns="0" tIns="0" bIns="0">
            <a:spAutoFit/>
          </a:bodyPr>
          <a:lstStyle/>
          <a:p>
            <a:pPr algn="l">
              <a:lnSpc>
                <a:spcPct val="100000"/>
              </a:lnSpc>
            </a:pPr>
            <a:r>
              <a:rPr sz="1400" b="0">
                <a:solidFill>
                  <a:srgbClr val="1A1D21"/>
                </a:solidFill>
                <a:latin typeface="Segoe UI"/>
              </a:rPr>
              <a:t>8 MB</a:t>
            </a:r>
          </a:p>
        </p:txBody>
      </p:sp>
      <p:sp>
        <p:nvSpPr>
          <p:cNvPr id="20" name="TextBox 19"/>
          <p:cNvSpPr txBox="1"/>
          <p:nvPr/>
        </p:nvSpPr>
        <p:spPr>
          <a:xfrm>
            <a:off x="3749040" y="3255264"/>
            <a:ext cx="13716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0.65</a:t>
            </a:r>
          </a:p>
        </p:txBody>
      </p:sp>
      <p:sp>
        <p:nvSpPr>
          <p:cNvPr id="21" name="TextBox 20"/>
          <p:cNvSpPr txBox="1"/>
          <p:nvPr/>
        </p:nvSpPr>
        <p:spPr>
          <a:xfrm>
            <a:off x="5303520" y="3255264"/>
            <a:ext cx="9144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1.48</a:t>
            </a:r>
          </a:p>
        </p:txBody>
      </p:sp>
      <p:sp>
        <p:nvSpPr>
          <p:cNvPr id="22" name="TextBox 21"/>
          <p:cNvSpPr txBox="1"/>
          <p:nvPr/>
        </p:nvSpPr>
        <p:spPr>
          <a:xfrm>
            <a:off x="6400800" y="3255264"/>
            <a:ext cx="9144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1.05</a:t>
            </a:r>
          </a:p>
        </p:txBody>
      </p:sp>
      <p:sp>
        <p:nvSpPr>
          <p:cNvPr id="23" name="Rectangle 22"/>
          <p:cNvSpPr/>
          <p:nvPr/>
        </p:nvSpPr>
        <p:spPr>
          <a:xfrm>
            <a:off x="822960" y="3584448"/>
            <a:ext cx="658368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3675888"/>
            <a:ext cx="2651760" cy="310896"/>
          </a:xfrm>
          <a:prstGeom prst="rect">
            <a:avLst/>
          </a:prstGeom>
          <a:noFill/>
        </p:spPr>
        <p:txBody>
          <a:bodyPr wrap="square" anchor="t" lIns="0" rIns="0" tIns="0" bIns="0">
            <a:spAutoFit/>
          </a:bodyPr>
          <a:lstStyle/>
          <a:p>
            <a:pPr algn="l">
              <a:lnSpc>
                <a:spcPct val="100000"/>
              </a:lnSpc>
            </a:pPr>
            <a:r>
              <a:rPr sz="1400" b="0">
                <a:solidFill>
                  <a:srgbClr val="1A1D21"/>
                </a:solidFill>
                <a:latin typeface="Segoe UI"/>
              </a:rPr>
              <a:t>64 MB</a:t>
            </a:r>
          </a:p>
        </p:txBody>
      </p:sp>
      <p:sp>
        <p:nvSpPr>
          <p:cNvPr id="25" name="TextBox 24"/>
          <p:cNvSpPr txBox="1"/>
          <p:nvPr/>
        </p:nvSpPr>
        <p:spPr>
          <a:xfrm>
            <a:off x="3749040" y="3675888"/>
            <a:ext cx="13716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0.66</a:t>
            </a:r>
          </a:p>
        </p:txBody>
      </p:sp>
      <p:sp>
        <p:nvSpPr>
          <p:cNvPr id="26" name="TextBox 25"/>
          <p:cNvSpPr txBox="1"/>
          <p:nvPr/>
        </p:nvSpPr>
        <p:spPr>
          <a:xfrm>
            <a:off x="5303520" y="3675888"/>
            <a:ext cx="9144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0.97</a:t>
            </a:r>
          </a:p>
        </p:txBody>
      </p:sp>
      <p:sp>
        <p:nvSpPr>
          <p:cNvPr id="27" name="TextBox 26"/>
          <p:cNvSpPr txBox="1"/>
          <p:nvPr/>
        </p:nvSpPr>
        <p:spPr>
          <a:xfrm>
            <a:off x="6400800" y="3675888"/>
            <a:ext cx="91440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1.00</a:t>
            </a:r>
          </a:p>
        </p:txBody>
      </p:sp>
      <p:sp>
        <p:nvSpPr>
          <p:cNvPr id="28" name="Rectangle 27"/>
          <p:cNvSpPr/>
          <p:nvPr/>
        </p:nvSpPr>
        <p:spPr>
          <a:xfrm>
            <a:off x="822960" y="4023360"/>
            <a:ext cx="658368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4023360"/>
            <a:ext cx="65836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343400"/>
            <a:ext cx="6583680" cy="1828800"/>
          </a:xfrm>
          <a:prstGeom prst="rect">
            <a:avLst/>
          </a:prstGeom>
          <a:noFill/>
        </p:spPr>
        <p:txBody>
          <a:bodyPr wrap="square" anchor="t" lIns="0" rIns="0" tIns="0" bIns="0">
            <a:spAutoFit/>
          </a:bodyPr>
          <a:lstStyle/>
          <a:p>
            <a:pPr algn="l">
              <a:lnSpc>
                <a:spcPct val="135000"/>
              </a:lnSpc>
            </a:pPr>
            <a:r>
              <a:rPr sz="1500" b="0">
                <a:solidFill>
                  <a:srgbClr val="1A1D21"/>
                </a:solidFill>
                <a:latin typeface="Segoe UI"/>
              </a:rPr>
              <a:t>MRR orders identifiers inside a fixed buffer. A bitmap scan materialises the whole qualifying set before touching the heap, so it has no such bound.</a:t>
            </a:r>
          </a:p>
          <a:p>
            <a:pPr algn="l">
              <a:lnSpc>
                <a:spcPct val="135000"/>
              </a:lnSpc>
            </a:pPr>
            <a:r>
              <a:rPr sz="700" b="0">
                <a:solidFill>
                  <a:srgbClr val="1A1D21"/>
                </a:solidFill>
                <a:latin typeface="Segoe UI"/>
              </a:rPr>
              <a:t/>
            </a:r>
          </a:p>
          <a:p>
            <a:pPr algn="l">
              <a:lnSpc>
                <a:spcPct val="135000"/>
              </a:lnSpc>
            </a:pPr>
            <a:r>
              <a:rPr sz="1500" b="1">
                <a:solidFill>
                  <a:srgbClr val="1A1D21"/>
                </a:solidFill>
                <a:latin typeface="Segoe UI"/>
              </a:rPr>
              <a:t>At its best, on the one query class where it helps, MRR recovers about a third of one query's runtime against a cross-system gap of 15.4x.</a:t>
            </a:r>
          </a:p>
        </p:txBody>
      </p:sp>
      <p:sp>
        <p:nvSpPr>
          <p:cNvPr id="31" name="TextBox 30"/>
          <p:cNvSpPr txBox="1"/>
          <p:nvPr/>
        </p:nvSpPr>
        <p:spPr>
          <a:xfrm>
            <a:off x="7955279" y="2103120"/>
            <a:ext cx="3383280" cy="3108960"/>
          </a:xfrm>
          <a:prstGeom prst="rect">
            <a:avLst/>
          </a:prstGeom>
          <a:noFill/>
        </p:spPr>
        <p:txBody>
          <a:bodyPr wrap="square" anchor="t" lIns="0" rIns="0" tIns="0" bIns="0">
            <a:spAutoFit/>
          </a:bodyPr>
          <a:lstStyle/>
          <a:p>
            <a:pPr algn="l">
              <a:lnSpc>
                <a:spcPct val="132000"/>
              </a:lnSpc>
            </a:pPr>
            <a:r>
              <a:rPr sz="1400" b="1">
                <a:solidFill>
                  <a:srgbClr val="A8322A"/>
                </a:solidFill>
                <a:latin typeface="Segoe UI"/>
              </a:rPr>
              <a:t>A fourth backfiring practice</a:t>
            </a:r>
          </a:p>
          <a:p>
            <a:pPr algn="l">
              <a:lnSpc>
                <a:spcPct val="132000"/>
              </a:lnSpc>
            </a:pPr>
            <a:r>
              <a:rPr sz="700" b="0">
                <a:solidFill>
                  <a:srgbClr val="1A1D21"/>
                </a:solidFill>
                <a:latin typeface="Segoe UI"/>
              </a:rPr>
              <a:t/>
            </a:r>
          </a:p>
          <a:p>
            <a:pPr algn="l">
              <a:lnSpc>
                <a:spcPct val="132000"/>
              </a:lnSpc>
            </a:pPr>
            <a:r>
              <a:rPr sz="1350" b="0">
                <a:solidFill>
                  <a:srgbClr val="70757A"/>
                </a:solidFill>
                <a:latin typeface="Segoe UI"/>
              </a:rPr>
              <a:t>"Enable MRR" is reasonable advice on the same grounds as the other three: the mechanism is real and the reasoning sound. At the shipped buffer size it makes the workload slower, and the second setting that would help is not mentioned alongside it.</a:t>
            </a:r>
          </a:p>
        </p:txBody>
      </p:sp>
      <p:sp>
        <p:nvSpPr>
          <p:cNvPr id="32" name="TextBox 31"/>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92989E"/>
                </a:solidFill>
                <a:latin typeface="Segoe UI"/>
              </a:rPr>
              <a:t>RESULT 7  /  POSTGRESQL-SPECIFIC</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F2EFEA"/>
                </a:solidFill>
                <a:latin typeface="Georgia"/>
              </a:rPr>
              <a:t>Adding an index makes the plan worse</a:t>
            </a:r>
          </a:p>
        </p:txBody>
      </p:sp>
      <p:sp>
        <p:nvSpPr>
          <p:cNvPr id="4" name="TextBox 3"/>
          <p:cNvSpPr txBox="1"/>
          <p:nvPr/>
        </p:nvSpPr>
        <p:spPr>
          <a:xfrm>
            <a:off x="822960" y="2194560"/>
            <a:ext cx="5577840" cy="1280160"/>
          </a:xfrm>
          <a:prstGeom prst="rect">
            <a:avLst/>
          </a:prstGeom>
          <a:noFill/>
        </p:spPr>
        <p:txBody>
          <a:bodyPr wrap="square" anchor="t" lIns="0" rIns="0" tIns="0" bIns="0">
            <a:spAutoFit/>
          </a:bodyPr>
          <a:lstStyle/>
          <a:p>
            <a:pPr algn="l">
              <a:lnSpc>
                <a:spcPct val="95000"/>
              </a:lnSpc>
            </a:pPr>
            <a:r>
              <a:rPr sz="9600" b="0">
                <a:solidFill>
                  <a:srgbClr val="E27660"/>
                </a:solidFill>
                <a:latin typeface="Georgia"/>
              </a:rPr>
              <a:t>194x</a:t>
            </a:r>
          </a:p>
        </p:txBody>
      </p:sp>
      <p:sp>
        <p:nvSpPr>
          <p:cNvPr id="5" name="TextBox 4"/>
          <p:cNvSpPr txBox="1"/>
          <p:nvPr/>
        </p:nvSpPr>
        <p:spPr>
          <a:xfrm>
            <a:off x="822960" y="3557016"/>
            <a:ext cx="5577840" cy="731520"/>
          </a:xfrm>
          <a:prstGeom prst="rect">
            <a:avLst/>
          </a:prstGeom>
          <a:noFill/>
        </p:spPr>
        <p:txBody>
          <a:bodyPr wrap="square" anchor="t" lIns="0" rIns="0" tIns="0" bIns="0">
            <a:spAutoFit/>
          </a:bodyPr>
          <a:lstStyle/>
          <a:p>
            <a:pPr algn="l">
              <a:lnSpc>
                <a:spcPct val="125000"/>
              </a:lnSpc>
            </a:pPr>
            <a:r>
              <a:rPr sz="1250" b="0">
                <a:solidFill>
                  <a:srgbClr val="92989E"/>
                </a:solidFill>
                <a:latin typeface="Segoe UI"/>
              </a:rPr>
              <a:t>slower on a controlled test where the only change
was that a BRIN index existed alongside the B-tree</a:t>
            </a:r>
          </a:p>
        </p:txBody>
      </p:sp>
      <p:sp>
        <p:nvSpPr>
          <p:cNvPr id="6" name="TextBox 5"/>
          <p:cNvSpPr txBox="1"/>
          <p:nvPr/>
        </p:nvSpPr>
        <p:spPr>
          <a:xfrm>
            <a:off x="822960" y="4617720"/>
            <a:ext cx="5577840" cy="548640"/>
          </a:xfrm>
          <a:prstGeom prst="rect">
            <a:avLst/>
          </a:prstGeom>
          <a:noFill/>
        </p:spPr>
        <p:txBody>
          <a:bodyPr wrap="square" anchor="t" lIns="0" rIns="0" tIns="0" bIns="0">
            <a:spAutoFit/>
          </a:bodyPr>
          <a:lstStyle/>
          <a:p>
            <a:pPr algn="l">
              <a:lnSpc>
                <a:spcPct val="120000"/>
              </a:lnSpc>
            </a:pPr>
            <a:r>
              <a:rPr sz="2200" b="0">
                <a:solidFill>
                  <a:srgbClr val="F2EFEA"/>
                </a:solidFill>
                <a:latin typeface="Georgia"/>
              </a:rPr>
              <a:t>0.34 ms  becomes  65.95 ms</a:t>
            </a:r>
          </a:p>
        </p:txBody>
      </p:sp>
      <p:sp>
        <p:nvSpPr>
          <p:cNvPr id="7" name="TextBox 6"/>
          <p:cNvSpPr txBox="1"/>
          <p:nvPr/>
        </p:nvSpPr>
        <p:spPr>
          <a:xfrm>
            <a:off x="6766560" y="2286000"/>
            <a:ext cx="1554480" cy="301752"/>
          </a:xfrm>
          <a:prstGeom prst="rect">
            <a:avLst/>
          </a:prstGeom>
          <a:noFill/>
        </p:spPr>
        <p:txBody>
          <a:bodyPr wrap="square" anchor="b" lIns="0" rIns="0" tIns="0" bIns="0">
            <a:spAutoFit/>
          </a:bodyPr>
          <a:lstStyle/>
          <a:p>
            <a:pPr algn="l">
              <a:lnSpc>
                <a:spcPct val="110000"/>
              </a:lnSpc>
            </a:pPr>
            <a:r>
              <a:rPr sz="1100" b="1">
                <a:solidFill>
                  <a:srgbClr val="92989E"/>
                </a:solidFill>
                <a:latin typeface="Segoe UI"/>
              </a:rPr>
              <a:t>Table size</a:t>
            </a:r>
          </a:p>
        </p:txBody>
      </p:sp>
      <p:sp>
        <p:nvSpPr>
          <p:cNvPr id="8" name="TextBox 7"/>
          <p:cNvSpPr txBox="1"/>
          <p:nvPr/>
        </p:nvSpPr>
        <p:spPr>
          <a:xfrm>
            <a:off x="8503920" y="2286000"/>
            <a:ext cx="960120" cy="301752"/>
          </a:xfrm>
          <a:prstGeom prst="rect">
            <a:avLst/>
          </a:prstGeom>
          <a:noFill/>
        </p:spPr>
        <p:txBody>
          <a:bodyPr wrap="square" anchor="b" lIns="0" rIns="0" tIns="0" bIns="0">
            <a:spAutoFit/>
          </a:bodyPr>
          <a:lstStyle/>
          <a:p>
            <a:pPr algn="r">
              <a:lnSpc>
                <a:spcPct val="110000"/>
              </a:lnSpc>
            </a:pPr>
            <a:r>
              <a:rPr sz="1100" b="1">
                <a:solidFill>
                  <a:srgbClr val="92989E"/>
                </a:solidFill>
                <a:latin typeface="Segoe UI"/>
              </a:rPr>
              <a:t>With BRIN</a:t>
            </a:r>
          </a:p>
        </p:txBody>
      </p:sp>
      <p:sp>
        <p:nvSpPr>
          <p:cNvPr id="9" name="TextBox 8"/>
          <p:cNvSpPr txBox="1"/>
          <p:nvPr/>
        </p:nvSpPr>
        <p:spPr>
          <a:xfrm>
            <a:off x="9646920" y="2286000"/>
            <a:ext cx="777240" cy="301752"/>
          </a:xfrm>
          <a:prstGeom prst="rect">
            <a:avLst/>
          </a:prstGeom>
          <a:noFill/>
        </p:spPr>
        <p:txBody>
          <a:bodyPr wrap="square" anchor="b" lIns="0" rIns="0" tIns="0" bIns="0">
            <a:spAutoFit/>
          </a:bodyPr>
          <a:lstStyle/>
          <a:p>
            <a:pPr algn="r">
              <a:lnSpc>
                <a:spcPct val="110000"/>
              </a:lnSpc>
            </a:pPr>
            <a:r>
              <a:rPr sz="1100" b="1">
                <a:solidFill>
                  <a:srgbClr val="92989E"/>
                </a:solidFill>
                <a:latin typeface="Segoe UI"/>
              </a:rPr>
              <a:t>Without</a:t>
            </a:r>
          </a:p>
        </p:txBody>
      </p:sp>
      <p:sp>
        <p:nvSpPr>
          <p:cNvPr id="10" name="TextBox 9"/>
          <p:cNvSpPr txBox="1"/>
          <p:nvPr/>
        </p:nvSpPr>
        <p:spPr>
          <a:xfrm>
            <a:off x="10607040" y="2286000"/>
            <a:ext cx="868680" cy="301752"/>
          </a:xfrm>
          <a:prstGeom prst="rect">
            <a:avLst/>
          </a:prstGeom>
          <a:noFill/>
        </p:spPr>
        <p:txBody>
          <a:bodyPr wrap="square" anchor="b" lIns="0" rIns="0" tIns="0" bIns="0">
            <a:spAutoFit/>
          </a:bodyPr>
          <a:lstStyle/>
          <a:p>
            <a:pPr algn="r">
              <a:lnSpc>
                <a:spcPct val="110000"/>
              </a:lnSpc>
            </a:pPr>
            <a:r>
              <a:rPr sz="1100" b="1">
                <a:solidFill>
                  <a:srgbClr val="92989E"/>
                </a:solidFill>
                <a:latin typeface="Segoe UI"/>
              </a:rPr>
              <a:t>Worst case</a:t>
            </a:r>
          </a:p>
        </p:txBody>
      </p:sp>
      <p:sp>
        <p:nvSpPr>
          <p:cNvPr id="11" name="Rectangle 10"/>
          <p:cNvSpPr/>
          <p:nvPr/>
        </p:nvSpPr>
        <p:spPr>
          <a:xfrm>
            <a:off x="6675120" y="2587752"/>
            <a:ext cx="489204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0" y="2734056"/>
            <a:ext cx="1554480" cy="310896"/>
          </a:xfrm>
          <a:prstGeom prst="rect">
            <a:avLst/>
          </a:prstGeom>
          <a:noFill/>
        </p:spPr>
        <p:txBody>
          <a:bodyPr wrap="square" anchor="t" lIns="0" rIns="0" tIns="0" bIns="0">
            <a:spAutoFit/>
          </a:bodyPr>
          <a:lstStyle/>
          <a:p>
            <a:pPr algn="l">
              <a:lnSpc>
                <a:spcPct val="100000"/>
              </a:lnSpc>
            </a:pPr>
            <a:r>
              <a:rPr sz="1400" b="0">
                <a:solidFill>
                  <a:srgbClr val="F2EFEA"/>
                </a:solidFill>
                <a:latin typeface="Segoe UI"/>
              </a:rPr>
              <a:t>1,000,000</a:t>
            </a:r>
          </a:p>
        </p:txBody>
      </p:sp>
      <p:sp>
        <p:nvSpPr>
          <p:cNvPr id="13" name="TextBox 12"/>
          <p:cNvSpPr txBox="1"/>
          <p:nvPr/>
        </p:nvSpPr>
        <p:spPr>
          <a:xfrm>
            <a:off x="8503920" y="2734056"/>
            <a:ext cx="960120" cy="310896"/>
          </a:xfrm>
          <a:prstGeom prst="rect">
            <a:avLst/>
          </a:prstGeom>
          <a:noFill/>
        </p:spPr>
        <p:txBody>
          <a:bodyPr wrap="square" anchor="t" lIns="0" rIns="0" tIns="0" bIns="0">
            <a:spAutoFit/>
          </a:bodyPr>
          <a:lstStyle/>
          <a:p>
            <a:pPr algn="r">
              <a:lnSpc>
                <a:spcPct val="100000"/>
              </a:lnSpc>
            </a:pPr>
            <a:r>
              <a:rPr sz="1400" b="0">
                <a:solidFill>
                  <a:srgbClr val="F2EFEA"/>
                </a:solidFill>
                <a:latin typeface="Segoe UI"/>
              </a:rPr>
              <a:t>73.3%</a:t>
            </a:r>
          </a:p>
        </p:txBody>
      </p:sp>
      <p:sp>
        <p:nvSpPr>
          <p:cNvPr id="14" name="TextBox 13"/>
          <p:cNvSpPr txBox="1"/>
          <p:nvPr/>
        </p:nvSpPr>
        <p:spPr>
          <a:xfrm>
            <a:off x="9646920" y="2734056"/>
            <a:ext cx="777240" cy="310896"/>
          </a:xfrm>
          <a:prstGeom prst="rect">
            <a:avLst/>
          </a:prstGeom>
          <a:noFill/>
        </p:spPr>
        <p:txBody>
          <a:bodyPr wrap="square" anchor="t" lIns="0" rIns="0" tIns="0" bIns="0">
            <a:spAutoFit/>
          </a:bodyPr>
          <a:lstStyle/>
          <a:p>
            <a:pPr algn="r">
              <a:lnSpc>
                <a:spcPct val="100000"/>
              </a:lnSpc>
            </a:pPr>
            <a:r>
              <a:rPr sz="1400" b="0">
                <a:solidFill>
                  <a:srgbClr val="F2EFEA"/>
                </a:solidFill>
                <a:latin typeface="Segoe UI"/>
              </a:rPr>
              <a:t>2.3%</a:t>
            </a:r>
          </a:p>
        </p:txBody>
      </p:sp>
      <p:sp>
        <p:nvSpPr>
          <p:cNvPr id="15" name="TextBox 14"/>
          <p:cNvSpPr txBox="1"/>
          <p:nvPr/>
        </p:nvSpPr>
        <p:spPr>
          <a:xfrm>
            <a:off x="10607040" y="2734056"/>
            <a:ext cx="868680" cy="310896"/>
          </a:xfrm>
          <a:prstGeom prst="rect">
            <a:avLst/>
          </a:prstGeom>
          <a:noFill/>
        </p:spPr>
        <p:txBody>
          <a:bodyPr wrap="square" anchor="t" lIns="0" rIns="0" tIns="0" bIns="0">
            <a:spAutoFit/>
          </a:bodyPr>
          <a:lstStyle/>
          <a:p>
            <a:pPr algn="r">
              <a:lnSpc>
                <a:spcPct val="100000"/>
              </a:lnSpc>
            </a:pPr>
            <a:r>
              <a:rPr sz="1400" b="0">
                <a:solidFill>
                  <a:srgbClr val="F2EFEA"/>
                </a:solidFill>
                <a:latin typeface="Segoe UI"/>
              </a:rPr>
              <a:t>18.8x</a:t>
            </a:r>
          </a:p>
        </p:txBody>
      </p:sp>
      <p:sp>
        <p:nvSpPr>
          <p:cNvPr id="16" name="Rectangle 15"/>
          <p:cNvSpPr/>
          <p:nvPr/>
        </p:nvSpPr>
        <p:spPr>
          <a:xfrm>
            <a:off x="6675120" y="3099816"/>
            <a:ext cx="489204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3191256"/>
            <a:ext cx="1554480" cy="310896"/>
          </a:xfrm>
          <a:prstGeom prst="rect">
            <a:avLst/>
          </a:prstGeom>
          <a:noFill/>
        </p:spPr>
        <p:txBody>
          <a:bodyPr wrap="square" anchor="t" lIns="0" rIns="0" tIns="0" bIns="0">
            <a:spAutoFit/>
          </a:bodyPr>
          <a:lstStyle/>
          <a:p>
            <a:pPr algn="l">
              <a:lnSpc>
                <a:spcPct val="100000"/>
              </a:lnSpc>
            </a:pPr>
            <a:r>
              <a:rPr sz="1400" b="0">
                <a:solidFill>
                  <a:srgbClr val="F2EFEA"/>
                </a:solidFill>
                <a:latin typeface="Segoe UI"/>
              </a:rPr>
              <a:t>10,000,000</a:t>
            </a:r>
          </a:p>
        </p:txBody>
      </p:sp>
      <p:sp>
        <p:nvSpPr>
          <p:cNvPr id="18" name="TextBox 17"/>
          <p:cNvSpPr txBox="1"/>
          <p:nvPr/>
        </p:nvSpPr>
        <p:spPr>
          <a:xfrm>
            <a:off x="8503920" y="3191256"/>
            <a:ext cx="960120" cy="310896"/>
          </a:xfrm>
          <a:prstGeom prst="rect">
            <a:avLst/>
          </a:prstGeom>
          <a:noFill/>
        </p:spPr>
        <p:txBody>
          <a:bodyPr wrap="square" anchor="t" lIns="0" rIns="0" tIns="0" bIns="0">
            <a:spAutoFit/>
          </a:bodyPr>
          <a:lstStyle/>
          <a:p>
            <a:pPr algn="r">
              <a:lnSpc>
                <a:spcPct val="100000"/>
              </a:lnSpc>
            </a:pPr>
            <a:r>
              <a:rPr sz="1400" b="0">
                <a:solidFill>
                  <a:srgbClr val="F2EFEA"/>
                </a:solidFill>
                <a:latin typeface="Segoe UI"/>
              </a:rPr>
              <a:t>30.1%</a:t>
            </a:r>
          </a:p>
        </p:txBody>
      </p:sp>
      <p:sp>
        <p:nvSpPr>
          <p:cNvPr id="19" name="TextBox 18"/>
          <p:cNvSpPr txBox="1"/>
          <p:nvPr/>
        </p:nvSpPr>
        <p:spPr>
          <a:xfrm>
            <a:off x="9646920" y="3191256"/>
            <a:ext cx="777240" cy="310896"/>
          </a:xfrm>
          <a:prstGeom prst="rect">
            <a:avLst/>
          </a:prstGeom>
          <a:noFill/>
        </p:spPr>
        <p:txBody>
          <a:bodyPr wrap="square" anchor="t" lIns="0" rIns="0" tIns="0" bIns="0">
            <a:spAutoFit/>
          </a:bodyPr>
          <a:lstStyle/>
          <a:p>
            <a:pPr algn="r">
              <a:lnSpc>
                <a:spcPct val="100000"/>
              </a:lnSpc>
            </a:pPr>
            <a:r>
              <a:rPr sz="1400" b="0">
                <a:solidFill>
                  <a:srgbClr val="F2EFEA"/>
                </a:solidFill>
                <a:latin typeface="Segoe UI"/>
              </a:rPr>
              <a:t>32.3%</a:t>
            </a:r>
          </a:p>
        </p:txBody>
      </p:sp>
      <p:sp>
        <p:nvSpPr>
          <p:cNvPr id="20" name="TextBox 19"/>
          <p:cNvSpPr txBox="1"/>
          <p:nvPr/>
        </p:nvSpPr>
        <p:spPr>
          <a:xfrm>
            <a:off x="10607040" y="3191256"/>
            <a:ext cx="868680" cy="310896"/>
          </a:xfrm>
          <a:prstGeom prst="rect">
            <a:avLst/>
          </a:prstGeom>
          <a:noFill/>
        </p:spPr>
        <p:txBody>
          <a:bodyPr wrap="square" anchor="t" lIns="0" rIns="0" tIns="0" bIns="0">
            <a:spAutoFit/>
          </a:bodyPr>
          <a:lstStyle/>
          <a:p>
            <a:pPr algn="r">
              <a:lnSpc>
                <a:spcPct val="100000"/>
              </a:lnSpc>
            </a:pPr>
            <a:r>
              <a:rPr sz="1400" b="0">
                <a:solidFill>
                  <a:srgbClr val="F2EFEA"/>
                </a:solidFill>
                <a:latin typeface="Segoe UI"/>
              </a:rPr>
              <a:t>2.6x</a:t>
            </a:r>
          </a:p>
        </p:txBody>
      </p:sp>
      <p:sp>
        <p:nvSpPr>
          <p:cNvPr id="21" name="Rectangle 20"/>
          <p:cNvSpPr/>
          <p:nvPr/>
        </p:nvSpPr>
        <p:spPr>
          <a:xfrm>
            <a:off x="6675120" y="3575304"/>
            <a:ext cx="489204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3977639"/>
            <a:ext cx="4480560" cy="2011680"/>
          </a:xfrm>
          <a:prstGeom prst="rect">
            <a:avLst/>
          </a:prstGeom>
          <a:noFill/>
        </p:spPr>
        <p:txBody>
          <a:bodyPr wrap="square" anchor="t" lIns="0" rIns="0" tIns="0" bIns="0">
            <a:spAutoFit/>
          </a:bodyPr>
          <a:lstStyle/>
          <a:p>
            <a:pPr algn="l">
              <a:lnSpc>
                <a:spcPct val="135000"/>
              </a:lnSpc>
            </a:pPr>
            <a:r>
              <a:rPr sz="1500" b="0">
                <a:solidFill>
                  <a:srgbClr val="F2EFEA"/>
                </a:solidFill>
                <a:latin typeface="Segoe UI"/>
              </a:rPr>
              <a:t>MariaDB cannot form this plan at all, which is how we know it is a costing defect rather than something inherent to having two usable indexes.</a:t>
            </a:r>
          </a:p>
          <a:p>
            <a:pPr algn="l">
              <a:lnSpc>
                <a:spcPct val="135000"/>
              </a:lnSpc>
            </a:pPr>
            <a:r>
              <a:rPr sz="800" b="0">
                <a:solidFill>
                  <a:srgbClr val="F2EFEA"/>
                </a:solidFill>
                <a:latin typeface="Segoe UI"/>
              </a:rPr>
              <a:t/>
            </a:r>
          </a:p>
          <a:p>
            <a:pPr algn="l">
              <a:lnSpc>
                <a:spcPct val="135000"/>
              </a:lnSpc>
            </a:pPr>
            <a:r>
              <a:rPr sz="1400" b="0">
                <a:solidFill>
                  <a:srgbClr val="92989E"/>
                </a:solidFill>
                <a:latin typeface="Segoe UI"/>
              </a:rPr>
              <a:t>Confined to tables that still fit in the buffer pool, which is exactly the size at which BRIN is recommended as a free addition.</a:t>
            </a:r>
          </a:p>
        </p:txBody>
      </p:sp>
      <p:sp>
        <p:nvSpPr>
          <p:cNvPr id="23" name="TextBox 22"/>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4A5056"/>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7, THE MECHANISM</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Located in the source, not inferred</a:t>
            </a:r>
          </a:p>
        </p:txBody>
      </p:sp>
      <p:sp>
        <p:nvSpPr>
          <p:cNvPr id="4" name="TextBox 3"/>
          <p:cNvSpPr txBox="1"/>
          <p:nvPr/>
        </p:nvSpPr>
        <p:spPr>
          <a:xfrm>
            <a:off x="822960" y="1874519"/>
            <a:ext cx="5760720" cy="457200"/>
          </a:xfrm>
          <a:prstGeom prst="rect">
            <a:avLst/>
          </a:prstGeom>
          <a:noFill/>
        </p:spPr>
        <p:txBody>
          <a:bodyPr wrap="square" anchor="t" lIns="0" rIns="0" tIns="0" bIns="0">
            <a:spAutoFit/>
          </a:bodyPr>
          <a:lstStyle/>
          <a:p>
            <a:pPr algn="l">
              <a:lnSpc>
                <a:spcPct val="120000"/>
              </a:lnSpc>
            </a:pPr>
            <a:r>
              <a:rPr sz="1500" b="0">
                <a:solidFill>
                  <a:srgbClr val="1F4E5F"/>
                </a:solidFill>
                <a:latin typeface="Consolas"/>
              </a:rPr>
              <a:t>choose_bitmap_and()   in   optimizer/path/indxpath.c</a:t>
            </a:r>
          </a:p>
        </p:txBody>
      </p:sp>
      <p:sp>
        <p:nvSpPr>
          <p:cNvPr id="5" name="TextBox 4"/>
          <p:cNvSpPr txBox="1"/>
          <p:nvPr/>
        </p:nvSpPr>
        <p:spPr>
          <a:xfrm>
            <a:off x="822960" y="2468880"/>
            <a:ext cx="5760720" cy="2377440"/>
          </a:xfrm>
          <a:prstGeom prst="rect">
            <a:avLst/>
          </a:prstGeom>
          <a:noFill/>
        </p:spPr>
        <p:txBody>
          <a:bodyPr wrap="square" anchor="t" lIns="0" rIns="0" tIns="0" bIns="0">
            <a:spAutoFit/>
          </a:bodyPr>
          <a:lstStyle/>
          <a:p>
            <a:pPr algn="l">
              <a:lnSpc>
                <a:spcPct val="138000"/>
              </a:lnSpc>
            </a:pPr>
            <a:r>
              <a:rPr sz="1550" b="0">
                <a:solidFill>
                  <a:srgbClr val="1A1D21"/>
                </a:solidFill>
                <a:latin typeface="Segoe UI"/>
              </a:rPr>
              <a:t>When two indexes can answer the same predicate, PostgreSQL keeps one and discards the other, choosing whichever is cheaper to scan.</a:t>
            </a:r>
          </a:p>
          <a:p>
            <a:pPr algn="l">
              <a:lnSpc>
                <a:spcPct val="138000"/>
              </a:lnSpc>
            </a:pPr>
            <a:r>
              <a:rPr sz="700" b="0">
                <a:solidFill>
                  <a:srgbClr val="1A1D21"/>
                </a:solidFill>
                <a:latin typeface="Segoe UI"/>
              </a:rPr>
              <a:t/>
            </a:r>
          </a:p>
          <a:p>
            <a:pPr algn="l">
              <a:lnSpc>
                <a:spcPct val="138000"/>
              </a:lnSpc>
            </a:pPr>
            <a:r>
              <a:rPr sz="1550" b="0">
                <a:solidFill>
                  <a:srgbClr val="70757A"/>
                </a:solidFill>
                <a:latin typeface="Segoe UI"/>
              </a:rPr>
              <a:t>That cost is indextotalcost, the cost of reading the index alone. It excludes the heap fetches the query must then perform.</a:t>
            </a:r>
          </a:p>
          <a:p>
            <a:pPr algn="l">
              <a:lnSpc>
                <a:spcPct val="138000"/>
              </a:lnSpc>
            </a:pPr>
            <a:r>
              <a:rPr sz="700" b="0">
                <a:solidFill>
                  <a:srgbClr val="1A1D21"/>
                </a:solidFill>
                <a:latin typeface="Segoe UI"/>
              </a:rPr>
              <a:t/>
            </a:r>
          </a:p>
          <a:p>
            <a:pPr algn="l">
              <a:lnSpc>
                <a:spcPct val="138000"/>
              </a:lnSpc>
            </a:pPr>
            <a:r>
              <a:rPr sz="1550" b="1">
                <a:solidFill>
                  <a:srgbClr val="1A1D21"/>
                </a:solidFill>
                <a:latin typeface="Segoe UI"/>
              </a:rPr>
              <a:t>A BRIN index is small by design, so it wins that comparison almost always, and the index thrown away is the faster one.</a:t>
            </a:r>
          </a:p>
        </p:txBody>
      </p:sp>
      <p:sp>
        <p:nvSpPr>
          <p:cNvPr id="6" name="TextBox 5"/>
          <p:cNvSpPr txBox="1"/>
          <p:nvPr/>
        </p:nvSpPr>
        <p:spPr>
          <a:xfrm>
            <a:off x="6858000" y="2377440"/>
            <a:ext cx="100584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Index</a:t>
            </a:r>
          </a:p>
        </p:txBody>
      </p:sp>
      <p:sp>
        <p:nvSpPr>
          <p:cNvPr id="7" name="TextBox 6"/>
          <p:cNvSpPr txBox="1"/>
          <p:nvPr/>
        </p:nvSpPr>
        <p:spPr>
          <a:xfrm>
            <a:off x="8046720" y="2377440"/>
            <a:ext cx="192024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Cost used to decide</a:t>
            </a:r>
          </a:p>
        </p:txBody>
      </p:sp>
      <p:sp>
        <p:nvSpPr>
          <p:cNvPr id="8" name="TextBox 7"/>
          <p:cNvSpPr txBox="1"/>
          <p:nvPr/>
        </p:nvSpPr>
        <p:spPr>
          <a:xfrm>
            <a:off x="10149840" y="2377440"/>
            <a:ext cx="141732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Actual query time</a:t>
            </a:r>
          </a:p>
        </p:txBody>
      </p:sp>
      <p:sp>
        <p:nvSpPr>
          <p:cNvPr id="9" name="Rectangle 8"/>
          <p:cNvSpPr/>
          <p:nvPr/>
        </p:nvSpPr>
        <p:spPr>
          <a:xfrm>
            <a:off x="6766560" y="2679192"/>
            <a:ext cx="48920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2825496"/>
            <a:ext cx="1005840" cy="310896"/>
          </a:xfrm>
          <a:prstGeom prst="rect">
            <a:avLst/>
          </a:prstGeom>
          <a:noFill/>
        </p:spPr>
        <p:txBody>
          <a:bodyPr wrap="square" anchor="t" lIns="0" rIns="0" tIns="0" bIns="0">
            <a:spAutoFit/>
          </a:bodyPr>
          <a:lstStyle/>
          <a:p>
            <a:pPr algn="l">
              <a:lnSpc>
                <a:spcPct val="100000"/>
              </a:lnSpc>
            </a:pPr>
            <a:r>
              <a:rPr sz="1400" b="0">
                <a:solidFill>
                  <a:srgbClr val="1A1D21"/>
                </a:solidFill>
                <a:latin typeface="Segoe UI"/>
              </a:rPr>
              <a:t>BRIN</a:t>
            </a:r>
          </a:p>
        </p:txBody>
      </p:sp>
      <p:sp>
        <p:nvSpPr>
          <p:cNvPr id="11" name="TextBox 10"/>
          <p:cNvSpPr txBox="1"/>
          <p:nvPr/>
        </p:nvSpPr>
        <p:spPr>
          <a:xfrm>
            <a:off x="8046720" y="2825496"/>
            <a:ext cx="192024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12.13   (kept)</a:t>
            </a:r>
          </a:p>
        </p:txBody>
      </p:sp>
      <p:sp>
        <p:nvSpPr>
          <p:cNvPr id="12" name="TextBox 11"/>
          <p:cNvSpPr txBox="1"/>
          <p:nvPr/>
        </p:nvSpPr>
        <p:spPr>
          <a:xfrm>
            <a:off x="10149840" y="2825496"/>
            <a:ext cx="141732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65.95 ms</a:t>
            </a:r>
          </a:p>
        </p:txBody>
      </p:sp>
      <p:sp>
        <p:nvSpPr>
          <p:cNvPr id="13" name="Rectangle 12"/>
          <p:cNvSpPr/>
          <p:nvPr/>
        </p:nvSpPr>
        <p:spPr>
          <a:xfrm>
            <a:off x="6766560" y="3209544"/>
            <a:ext cx="48920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3300984"/>
            <a:ext cx="1005840" cy="310896"/>
          </a:xfrm>
          <a:prstGeom prst="rect">
            <a:avLst/>
          </a:prstGeom>
          <a:noFill/>
        </p:spPr>
        <p:txBody>
          <a:bodyPr wrap="square" anchor="t" lIns="0" rIns="0" tIns="0" bIns="0">
            <a:spAutoFit/>
          </a:bodyPr>
          <a:lstStyle/>
          <a:p>
            <a:pPr algn="l">
              <a:lnSpc>
                <a:spcPct val="100000"/>
              </a:lnSpc>
            </a:pPr>
            <a:r>
              <a:rPr sz="1400" b="0">
                <a:solidFill>
                  <a:srgbClr val="1A1D21"/>
                </a:solidFill>
                <a:latin typeface="Segoe UI"/>
              </a:rPr>
              <a:t>B-tree</a:t>
            </a:r>
          </a:p>
        </p:txBody>
      </p:sp>
      <p:sp>
        <p:nvSpPr>
          <p:cNvPr id="15" name="TextBox 14"/>
          <p:cNvSpPr txBox="1"/>
          <p:nvPr/>
        </p:nvSpPr>
        <p:spPr>
          <a:xfrm>
            <a:off x="8046720" y="3300984"/>
            <a:ext cx="192024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213.35   (discarded)</a:t>
            </a:r>
          </a:p>
        </p:txBody>
      </p:sp>
      <p:sp>
        <p:nvSpPr>
          <p:cNvPr id="16" name="TextBox 15"/>
          <p:cNvSpPr txBox="1"/>
          <p:nvPr/>
        </p:nvSpPr>
        <p:spPr>
          <a:xfrm>
            <a:off x="10149840" y="3300984"/>
            <a:ext cx="1417320" cy="310896"/>
          </a:xfrm>
          <a:prstGeom prst="rect">
            <a:avLst/>
          </a:prstGeom>
          <a:noFill/>
        </p:spPr>
        <p:txBody>
          <a:bodyPr wrap="square" anchor="t" lIns="0" rIns="0" tIns="0" bIns="0">
            <a:spAutoFit/>
          </a:bodyPr>
          <a:lstStyle/>
          <a:p>
            <a:pPr algn="r">
              <a:lnSpc>
                <a:spcPct val="100000"/>
              </a:lnSpc>
            </a:pPr>
            <a:r>
              <a:rPr sz="1400" b="0">
                <a:solidFill>
                  <a:srgbClr val="1A1D21"/>
                </a:solidFill>
                <a:latin typeface="Segoe UI"/>
              </a:rPr>
              <a:t>0.34 ms</a:t>
            </a:r>
          </a:p>
        </p:txBody>
      </p:sp>
      <p:sp>
        <p:nvSpPr>
          <p:cNvPr id="17" name="Rectangle 16"/>
          <p:cNvSpPr/>
          <p:nvPr/>
        </p:nvSpPr>
        <p:spPr>
          <a:xfrm>
            <a:off x="6766560" y="3703320"/>
            <a:ext cx="48920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66560" y="4114800"/>
            <a:ext cx="4572000" cy="914400"/>
          </a:xfrm>
          <a:prstGeom prst="rect">
            <a:avLst/>
          </a:prstGeom>
          <a:noFill/>
        </p:spPr>
        <p:txBody>
          <a:bodyPr wrap="square" anchor="t" lIns="0" rIns="0" tIns="0" bIns="0">
            <a:spAutoFit/>
          </a:bodyPr>
          <a:lstStyle/>
          <a:p>
            <a:pPr algn="l">
              <a:lnSpc>
                <a:spcPct val="130000"/>
              </a:lnSpc>
            </a:pPr>
            <a:r>
              <a:rPr sz="1500" b="1">
                <a:solidFill>
                  <a:srgbClr val="A8322A"/>
                </a:solidFill>
                <a:latin typeface="Segoe UI"/>
              </a:rPr>
              <a:t>The index that costs 17x less to read is the one that runs 194x slower.</a:t>
            </a:r>
          </a:p>
        </p:txBody>
      </p:sp>
      <p:sp>
        <p:nvSpPr>
          <p:cNvPr id="19" name="TextBox 18"/>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A design consequence of comparing index scan costs in isolation, which is why no setting removes it.</a:t>
            </a:r>
          </a:p>
        </p:txBody>
      </p:sp>
      <p:sp>
        <p:nvSpPr>
          <p:cNvPr id="20" name="TextBox 19"/>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RESULT 8  /  REPORTING BOUNDARIES</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Frequency and severity move in opposite directions</a:t>
            </a:r>
          </a:p>
        </p:txBody>
      </p:sp>
      <p:sp>
        <p:nvSpPr>
          <p:cNvPr id="4" name="TextBox 3"/>
          <p:cNvSpPr txBox="1"/>
          <p:nvPr/>
        </p:nvSpPr>
        <p:spPr>
          <a:xfrm>
            <a:off x="914400" y="1755648"/>
            <a:ext cx="1417320" cy="512064"/>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Table size</a:t>
            </a:r>
          </a:p>
        </p:txBody>
      </p:sp>
      <p:sp>
        <p:nvSpPr>
          <p:cNvPr id="5" name="TextBox 4"/>
          <p:cNvSpPr txBox="1"/>
          <p:nvPr/>
        </p:nvSpPr>
        <p:spPr>
          <a:xfrm>
            <a:off x="2514600" y="1755648"/>
            <a:ext cx="86868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Heap</a:t>
            </a:r>
          </a:p>
        </p:txBody>
      </p:sp>
      <p:sp>
        <p:nvSpPr>
          <p:cNvPr id="6" name="TextBox 5"/>
          <p:cNvSpPr txBox="1"/>
          <p:nvPr/>
        </p:nvSpPr>
        <p:spPr>
          <a:xfrm>
            <a:off x="3566160" y="1755648"/>
            <a:ext cx="77724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In pool</a:t>
            </a:r>
          </a:p>
        </p:txBody>
      </p:sp>
      <p:sp>
        <p:nvSpPr>
          <p:cNvPr id="7" name="TextBox 6"/>
          <p:cNvSpPr txBox="1"/>
          <p:nvPr/>
        </p:nvSpPr>
        <p:spPr>
          <a:xfrm>
            <a:off x="4526280" y="1755648"/>
            <a:ext cx="91440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Chose badly</a:t>
            </a:r>
          </a:p>
        </p:txBody>
      </p:sp>
      <p:sp>
        <p:nvSpPr>
          <p:cNvPr id="8" name="TextBox 7"/>
          <p:cNvSpPr txBox="1"/>
          <p:nvPr/>
        </p:nvSpPr>
        <p:spPr>
          <a:xfrm>
            <a:off x="5623560" y="1755648"/>
            <a:ext cx="868680" cy="512064"/>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Worst case</a:t>
            </a:r>
          </a:p>
        </p:txBody>
      </p:sp>
      <p:sp>
        <p:nvSpPr>
          <p:cNvPr id="9" name="Rectangle 8"/>
          <p:cNvSpPr/>
          <p:nvPr/>
        </p:nvSpPr>
        <p:spPr>
          <a:xfrm>
            <a:off x="822960" y="2267712"/>
            <a:ext cx="57607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14016"/>
            <a:ext cx="1417320" cy="310896"/>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1,000,000</a:t>
            </a:r>
          </a:p>
        </p:txBody>
      </p:sp>
      <p:sp>
        <p:nvSpPr>
          <p:cNvPr id="11" name="TextBox 10"/>
          <p:cNvSpPr txBox="1"/>
          <p:nvPr/>
        </p:nvSpPr>
        <p:spPr>
          <a:xfrm>
            <a:off x="2514600" y="2414016"/>
            <a:ext cx="86868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112 MB</a:t>
            </a:r>
          </a:p>
        </p:txBody>
      </p:sp>
      <p:sp>
        <p:nvSpPr>
          <p:cNvPr id="12" name="TextBox 11"/>
          <p:cNvSpPr txBox="1"/>
          <p:nvPr/>
        </p:nvSpPr>
        <p:spPr>
          <a:xfrm>
            <a:off x="3566160" y="2414016"/>
            <a:ext cx="77724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yes</a:t>
            </a:r>
          </a:p>
        </p:txBody>
      </p:sp>
      <p:sp>
        <p:nvSpPr>
          <p:cNvPr id="13" name="TextBox 12"/>
          <p:cNvSpPr txBox="1"/>
          <p:nvPr/>
        </p:nvSpPr>
        <p:spPr>
          <a:xfrm>
            <a:off x="4526280" y="2414016"/>
            <a:ext cx="91440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71.4%</a:t>
            </a:r>
          </a:p>
        </p:txBody>
      </p:sp>
      <p:sp>
        <p:nvSpPr>
          <p:cNvPr id="14" name="TextBox 13"/>
          <p:cNvSpPr txBox="1"/>
          <p:nvPr/>
        </p:nvSpPr>
        <p:spPr>
          <a:xfrm>
            <a:off x="5623560" y="2414016"/>
            <a:ext cx="86868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18.8x</a:t>
            </a:r>
          </a:p>
        </p:txBody>
      </p:sp>
      <p:sp>
        <p:nvSpPr>
          <p:cNvPr id="15" name="Rectangle 14"/>
          <p:cNvSpPr/>
          <p:nvPr/>
        </p:nvSpPr>
        <p:spPr>
          <a:xfrm>
            <a:off x="822960" y="268833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779776"/>
            <a:ext cx="141732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1,250,000</a:t>
            </a:r>
          </a:p>
        </p:txBody>
      </p:sp>
      <p:sp>
        <p:nvSpPr>
          <p:cNvPr id="17" name="TextBox 16"/>
          <p:cNvSpPr txBox="1"/>
          <p:nvPr/>
        </p:nvSpPr>
        <p:spPr>
          <a:xfrm>
            <a:off x="2514600" y="277977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140 MB</a:t>
            </a:r>
          </a:p>
        </p:txBody>
      </p:sp>
      <p:sp>
        <p:nvSpPr>
          <p:cNvPr id="18" name="TextBox 17"/>
          <p:cNvSpPr txBox="1"/>
          <p:nvPr/>
        </p:nvSpPr>
        <p:spPr>
          <a:xfrm>
            <a:off x="3566160" y="2779776"/>
            <a:ext cx="7772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no</a:t>
            </a:r>
          </a:p>
        </p:txBody>
      </p:sp>
      <p:sp>
        <p:nvSpPr>
          <p:cNvPr id="19" name="TextBox 18"/>
          <p:cNvSpPr txBox="1"/>
          <p:nvPr/>
        </p:nvSpPr>
        <p:spPr>
          <a:xfrm>
            <a:off x="4526280" y="2779776"/>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37.9%</a:t>
            </a:r>
          </a:p>
        </p:txBody>
      </p:sp>
      <p:sp>
        <p:nvSpPr>
          <p:cNvPr id="20" name="TextBox 19"/>
          <p:cNvSpPr txBox="1"/>
          <p:nvPr/>
        </p:nvSpPr>
        <p:spPr>
          <a:xfrm>
            <a:off x="5623560" y="277977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38.8x</a:t>
            </a:r>
          </a:p>
        </p:txBody>
      </p:sp>
      <p:sp>
        <p:nvSpPr>
          <p:cNvPr id="21" name="Rectangle 20"/>
          <p:cNvSpPr/>
          <p:nvPr/>
        </p:nvSpPr>
        <p:spPr>
          <a:xfrm>
            <a:off x="822960" y="305409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145536"/>
            <a:ext cx="141732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1,500,000</a:t>
            </a:r>
          </a:p>
        </p:txBody>
      </p:sp>
      <p:sp>
        <p:nvSpPr>
          <p:cNvPr id="23" name="TextBox 22"/>
          <p:cNvSpPr txBox="1"/>
          <p:nvPr/>
        </p:nvSpPr>
        <p:spPr>
          <a:xfrm>
            <a:off x="2514600" y="314553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168 MB</a:t>
            </a:r>
          </a:p>
        </p:txBody>
      </p:sp>
      <p:sp>
        <p:nvSpPr>
          <p:cNvPr id="24" name="TextBox 23"/>
          <p:cNvSpPr txBox="1"/>
          <p:nvPr/>
        </p:nvSpPr>
        <p:spPr>
          <a:xfrm>
            <a:off x="3566160" y="3145536"/>
            <a:ext cx="7772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no</a:t>
            </a:r>
          </a:p>
        </p:txBody>
      </p:sp>
      <p:sp>
        <p:nvSpPr>
          <p:cNvPr id="25" name="TextBox 24"/>
          <p:cNvSpPr txBox="1"/>
          <p:nvPr/>
        </p:nvSpPr>
        <p:spPr>
          <a:xfrm>
            <a:off x="4526280" y="3145536"/>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31.0%</a:t>
            </a:r>
          </a:p>
        </p:txBody>
      </p:sp>
      <p:sp>
        <p:nvSpPr>
          <p:cNvPr id="26" name="TextBox 25"/>
          <p:cNvSpPr txBox="1"/>
          <p:nvPr/>
        </p:nvSpPr>
        <p:spPr>
          <a:xfrm>
            <a:off x="5623560" y="314553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40.3x</a:t>
            </a:r>
          </a:p>
        </p:txBody>
      </p:sp>
      <p:sp>
        <p:nvSpPr>
          <p:cNvPr id="27" name="Rectangle 26"/>
          <p:cNvSpPr/>
          <p:nvPr/>
        </p:nvSpPr>
        <p:spPr>
          <a:xfrm>
            <a:off x="822960" y="341985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3511296"/>
            <a:ext cx="141732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2,000,000</a:t>
            </a:r>
          </a:p>
        </p:txBody>
      </p:sp>
      <p:sp>
        <p:nvSpPr>
          <p:cNvPr id="29" name="TextBox 28"/>
          <p:cNvSpPr txBox="1"/>
          <p:nvPr/>
        </p:nvSpPr>
        <p:spPr>
          <a:xfrm>
            <a:off x="2514600" y="351129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223 MB</a:t>
            </a:r>
          </a:p>
        </p:txBody>
      </p:sp>
      <p:sp>
        <p:nvSpPr>
          <p:cNvPr id="30" name="TextBox 29"/>
          <p:cNvSpPr txBox="1"/>
          <p:nvPr/>
        </p:nvSpPr>
        <p:spPr>
          <a:xfrm>
            <a:off x="3566160" y="3511296"/>
            <a:ext cx="7772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no</a:t>
            </a:r>
          </a:p>
        </p:txBody>
      </p:sp>
      <p:sp>
        <p:nvSpPr>
          <p:cNvPr id="31" name="TextBox 30"/>
          <p:cNvSpPr txBox="1"/>
          <p:nvPr/>
        </p:nvSpPr>
        <p:spPr>
          <a:xfrm>
            <a:off x="4526280" y="3511296"/>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25.8%</a:t>
            </a:r>
          </a:p>
        </p:txBody>
      </p:sp>
      <p:sp>
        <p:nvSpPr>
          <p:cNvPr id="32" name="TextBox 31"/>
          <p:cNvSpPr txBox="1"/>
          <p:nvPr/>
        </p:nvSpPr>
        <p:spPr>
          <a:xfrm>
            <a:off x="5623560" y="351129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38.3x</a:t>
            </a:r>
          </a:p>
        </p:txBody>
      </p:sp>
      <p:sp>
        <p:nvSpPr>
          <p:cNvPr id="33" name="Rectangle 32"/>
          <p:cNvSpPr/>
          <p:nvPr/>
        </p:nvSpPr>
        <p:spPr>
          <a:xfrm>
            <a:off x="822960" y="378561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3877056"/>
            <a:ext cx="1417320" cy="310896"/>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3,000,000</a:t>
            </a:r>
          </a:p>
        </p:txBody>
      </p:sp>
      <p:sp>
        <p:nvSpPr>
          <p:cNvPr id="35" name="TextBox 34"/>
          <p:cNvSpPr txBox="1"/>
          <p:nvPr/>
        </p:nvSpPr>
        <p:spPr>
          <a:xfrm>
            <a:off x="2514600" y="3877056"/>
            <a:ext cx="86868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335 MB</a:t>
            </a:r>
          </a:p>
        </p:txBody>
      </p:sp>
      <p:sp>
        <p:nvSpPr>
          <p:cNvPr id="36" name="TextBox 35"/>
          <p:cNvSpPr txBox="1"/>
          <p:nvPr/>
        </p:nvSpPr>
        <p:spPr>
          <a:xfrm>
            <a:off x="3566160" y="3877056"/>
            <a:ext cx="77724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no</a:t>
            </a:r>
          </a:p>
        </p:txBody>
      </p:sp>
      <p:sp>
        <p:nvSpPr>
          <p:cNvPr id="37" name="TextBox 36"/>
          <p:cNvSpPr txBox="1"/>
          <p:nvPr/>
        </p:nvSpPr>
        <p:spPr>
          <a:xfrm>
            <a:off x="4526280" y="3877056"/>
            <a:ext cx="91440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30.3%</a:t>
            </a:r>
          </a:p>
        </p:txBody>
      </p:sp>
      <p:sp>
        <p:nvSpPr>
          <p:cNvPr id="38" name="TextBox 37"/>
          <p:cNvSpPr txBox="1"/>
          <p:nvPr/>
        </p:nvSpPr>
        <p:spPr>
          <a:xfrm>
            <a:off x="5623560" y="3877056"/>
            <a:ext cx="868680" cy="310896"/>
          </a:xfrm>
          <a:prstGeom prst="rect">
            <a:avLst/>
          </a:prstGeom>
          <a:noFill/>
        </p:spPr>
        <p:txBody>
          <a:bodyPr wrap="square" anchor="t" lIns="0" rIns="0" tIns="0" bIns="0">
            <a:spAutoFit/>
          </a:bodyPr>
          <a:lstStyle/>
          <a:p>
            <a:pPr algn="r">
              <a:lnSpc>
                <a:spcPct val="100000"/>
              </a:lnSpc>
            </a:pPr>
            <a:r>
              <a:rPr sz="1300" b="1">
                <a:solidFill>
                  <a:srgbClr val="A8322A"/>
                </a:solidFill>
                <a:latin typeface="Segoe UI"/>
              </a:rPr>
              <a:t>41.5x</a:t>
            </a:r>
          </a:p>
        </p:txBody>
      </p:sp>
      <p:sp>
        <p:nvSpPr>
          <p:cNvPr id="39" name="Rectangle 38"/>
          <p:cNvSpPr/>
          <p:nvPr/>
        </p:nvSpPr>
        <p:spPr>
          <a:xfrm>
            <a:off x="822960" y="415137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242816"/>
            <a:ext cx="141732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5,000,000</a:t>
            </a:r>
          </a:p>
        </p:txBody>
      </p:sp>
      <p:sp>
        <p:nvSpPr>
          <p:cNvPr id="41" name="TextBox 40"/>
          <p:cNvSpPr txBox="1"/>
          <p:nvPr/>
        </p:nvSpPr>
        <p:spPr>
          <a:xfrm>
            <a:off x="2514600" y="424281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558 MB</a:t>
            </a:r>
          </a:p>
        </p:txBody>
      </p:sp>
      <p:sp>
        <p:nvSpPr>
          <p:cNvPr id="42" name="TextBox 41"/>
          <p:cNvSpPr txBox="1"/>
          <p:nvPr/>
        </p:nvSpPr>
        <p:spPr>
          <a:xfrm>
            <a:off x="3566160" y="4242816"/>
            <a:ext cx="7772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no</a:t>
            </a:r>
          </a:p>
        </p:txBody>
      </p:sp>
      <p:sp>
        <p:nvSpPr>
          <p:cNvPr id="43" name="TextBox 42"/>
          <p:cNvSpPr txBox="1"/>
          <p:nvPr/>
        </p:nvSpPr>
        <p:spPr>
          <a:xfrm>
            <a:off x="4526280" y="4242816"/>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36.4%</a:t>
            </a:r>
          </a:p>
        </p:txBody>
      </p:sp>
      <p:sp>
        <p:nvSpPr>
          <p:cNvPr id="44" name="TextBox 43"/>
          <p:cNvSpPr txBox="1"/>
          <p:nvPr/>
        </p:nvSpPr>
        <p:spPr>
          <a:xfrm>
            <a:off x="5623560" y="424281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7.0x</a:t>
            </a:r>
          </a:p>
        </p:txBody>
      </p:sp>
      <p:sp>
        <p:nvSpPr>
          <p:cNvPr id="45" name="Rectangle 44"/>
          <p:cNvSpPr/>
          <p:nvPr/>
        </p:nvSpPr>
        <p:spPr>
          <a:xfrm>
            <a:off x="822960" y="4517136"/>
            <a:ext cx="57607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4400" y="4608576"/>
            <a:ext cx="1417320" cy="310896"/>
          </a:xfrm>
          <a:prstGeom prst="rect">
            <a:avLst/>
          </a:prstGeom>
          <a:noFill/>
        </p:spPr>
        <p:txBody>
          <a:bodyPr wrap="square" anchor="t" lIns="0" rIns="0" tIns="0" bIns="0">
            <a:spAutoFit/>
          </a:bodyPr>
          <a:lstStyle/>
          <a:p>
            <a:pPr algn="l">
              <a:lnSpc>
                <a:spcPct val="100000"/>
              </a:lnSpc>
            </a:pPr>
            <a:r>
              <a:rPr sz="1300" b="0">
                <a:solidFill>
                  <a:srgbClr val="1A1D21"/>
                </a:solidFill>
                <a:latin typeface="Segoe UI"/>
              </a:rPr>
              <a:t>10,000,000</a:t>
            </a:r>
          </a:p>
        </p:txBody>
      </p:sp>
      <p:sp>
        <p:nvSpPr>
          <p:cNvPr id="47" name="TextBox 46"/>
          <p:cNvSpPr txBox="1"/>
          <p:nvPr/>
        </p:nvSpPr>
        <p:spPr>
          <a:xfrm>
            <a:off x="2514600" y="460857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1,116 MB</a:t>
            </a:r>
          </a:p>
        </p:txBody>
      </p:sp>
      <p:sp>
        <p:nvSpPr>
          <p:cNvPr id="48" name="TextBox 47"/>
          <p:cNvSpPr txBox="1"/>
          <p:nvPr/>
        </p:nvSpPr>
        <p:spPr>
          <a:xfrm>
            <a:off x="3566160" y="4608576"/>
            <a:ext cx="77724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no</a:t>
            </a:r>
          </a:p>
        </p:txBody>
      </p:sp>
      <p:sp>
        <p:nvSpPr>
          <p:cNvPr id="49" name="TextBox 48"/>
          <p:cNvSpPr txBox="1"/>
          <p:nvPr/>
        </p:nvSpPr>
        <p:spPr>
          <a:xfrm>
            <a:off x="4526280" y="4608576"/>
            <a:ext cx="91440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38.2%</a:t>
            </a:r>
          </a:p>
        </p:txBody>
      </p:sp>
      <p:sp>
        <p:nvSpPr>
          <p:cNvPr id="50" name="TextBox 49"/>
          <p:cNvSpPr txBox="1"/>
          <p:nvPr/>
        </p:nvSpPr>
        <p:spPr>
          <a:xfrm>
            <a:off x="5623560" y="4608576"/>
            <a:ext cx="868680" cy="310896"/>
          </a:xfrm>
          <a:prstGeom prst="rect">
            <a:avLst/>
          </a:prstGeom>
          <a:noFill/>
        </p:spPr>
        <p:txBody>
          <a:bodyPr wrap="square" anchor="t" lIns="0" rIns="0" tIns="0" bIns="0">
            <a:spAutoFit/>
          </a:bodyPr>
          <a:lstStyle/>
          <a:p>
            <a:pPr algn="r">
              <a:lnSpc>
                <a:spcPct val="100000"/>
              </a:lnSpc>
            </a:pPr>
            <a:r>
              <a:rPr sz="1300" b="0">
                <a:solidFill>
                  <a:srgbClr val="1A1D21"/>
                </a:solidFill>
                <a:latin typeface="Segoe UI"/>
              </a:rPr>
              <a:t>1.9x</a:t>
            </a:r>
          </a:p>
        </p:txBody>
      </p:sp>
      <p:sp>
        <p:nvSpPr>
          <p:cNvPr id="51" name="Rectangle 50"/>
          <p:cNvSpPr/>
          <p:nvPr/>
        </p:nvSpPr>
        <p:spPr>
          <a:xfrm>
            <a:off x="822960" y="4901184"/>
            <a:ext cx="57607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fig7_scale_transition.png"/>
          <p:cNvPicPr>
            <a:picLocks noChangeAspect="1"/>
          </p:cNvPicPr>
          <p:nvPr/>
        </p:nvPicPr>
        <p:blipFill>
          <a:blip r:embed="rId3"/>
          <a:stretch>
            <a:fillRect/>
          </a:stretch>
        </p:blipFill>
        <p:spPr>
          <a:xfrm>
            <a:off x="6720840" y="1874519"/>
            <a:ext cx="4617720" cy="2167538"/>
          </a:xfrm>
          <a:prstGeom prst="rect">
            <a:avLst/>
          </a:prstGeom>
        </p:spPr>
      </p:pic>
      <p:sp>
        <p:nvSpPr>
          <p:cNvPr id="53" name="TextBox 52"/>
          <p:cNvSpPr txBox="1"/>
          <p:nvPr/>
        </p:nvSpPr>
        <p:spPr>
          <a:xfrm>
            <a:off x="6720840" y="4343400"/>
            <a:ext cx="4617720" cy="1737360"/>
          </a:xfrm>
          <a:prstGeom prst="rect">
            <a:avLst/>
          </a:prstGeom>
          <a:noFill/>
        </p:spPr>
        <p:txBody>
          <a:bodyPr wrap="square" anchor="t" lIns="0" rIns="0" tIns="0" bIns="0">
            <a:spAutoFit/>
          </a:bodyPr>
          <a:lstStyle/>
          <a:p>
            <a:pPr algn="l">
              <a:lnSpc>
                <a:spcPct val="130000"/>
              </a:lnSpc>
            </a:pPr>
            <a:r>
              <a:rPr sz="1450" b="1">
                <a:solidFill>
                  <a:srgbClr val="A8322A"/>
                </a:solidFill>
                <a:latin typeface="Segoe UI"/>
              </a:rPr>
              <a:t>A two-point scale test would have reversed this conclusion.</a:t>
            </a:r>
          </a:p>
          <a:p>
            <a:pPr algn="l">
              <a:lnSpc>
                <a:spcPct val="130000"/>
              </a:lnSpc>
            </a:pPr>
            <a:r>
              <a:rPr sz="600" b="0">
                <a:solidFill>
                  <a:srgbClr val="1A1D21"/>
                </a:solidFill>
                <a:latin typeface="Segoe UI"/>
              </a:rPr>
              <a:t/>
            </a:r>
          </a:p>
          <a:p>
            <a:pPr algn="l">
              <a:lnSpc>
                <a:spcPct val="130000"/>
              </a:lnSpc>
            </a:pPr>
            <a:r>
              <a:rPr sz="1350" b="0">
                <a:solidFill>
                  <a:srgbClr val="70757A"/>
                </a:solidFill>
                <a:latin typeface="Segoe UI"/>
              </a:rPr>
              <a:t>Frequency collapses at the memory boundary; severity doubles there and only subsides much later. The worst damage lands on databases sized two to three times their memory.</a:t>
            </a:r>
          </a:p>
        </p:txBody>
      </p:sp>
      <p:sp>
        <p:nvSpPr>
          <p:cNvPr id="54" name="TextBox 53"/>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THE PATTERN</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Four practices, each sound, each with an unstated boundary</a:t>
            </a:r>
          </a:p>
        </p:txBody>
      </p:sp>
      <p:sp>
        <p:nvSpPr>
          <p:cNvPr id="4" name="Rectangle 3"/>
          <p:cNvSpPr/>
          <p:nvPr/>
        </p:nvSpPr>
        <p:spPr>
          <a:xfrm>
            <a:off x="822960" y="1874519"/>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40280"/>
            <a:ext cx="320040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Extended statistics</a:t>
            </a:r>
          </a:p>
          <a:p>
            <a:pPr algn="l">
              <a:lnSpc>
                <a:spcPct val="130000"/>
              </a:lnSpc>
            </a:pPr>
            <a:r>
              <a:rPr sz="1250" b="0">
                <a:solidFill>
                  <a:srgbClr val="70757A"/>
                </a:solidFill>
                <a:latin typeface="Segoe UI"/>
              </a:rPr>
              <a:t>for correlated columns</a:t>
            </a:r>
          </a:p>
        </p:txBody>
      </p:sp>
      <p:sp>
        <p:nvSpPr>
          <p:cNvPr id="6" name="TextBox 5"/>
          <p:cNvSpPr txBox="1"/>
          <p:nvPr/>
        </p:nvSpPr>
        <p:spPr>
          <a:xfrm>
            <a:off x="4297680" y="229514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Fixes the estimate 108x</a:t>
            </a:r>
          </a:p>
        </p:txBody>
      </p:sp>
      <p:sp>
        <p:nvSpPr>
          <p:cNvPr id="7" name="TextBox 6"/>
          <p:cNvSpPr txBox="1"/>
          <p:nvPr/>
        </p:nvSpPr>
        <p:spPr>
          <a:xfrm>
            <a:off x="7863840" y="229514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Query 2.7x slower</a:t>
            </a:r>
          </a:p>
        </p:txBody>
      </p:sp>
      <p:sp>
        <p:nvSpPr>
          <p:cNvPr id="8" name="Rectangle 7"/>
          <p:cNvSpPr/>
          <p:nvPr/>
        </p:nvSpPr>
        <p:spPr>
          <a:xfrm>
            <a:off x="822960" y="3026664"/>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172968"/>
            <a:ext cx="320040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Lower random_page_cost</a:t>
            </a:r>
          </a:p>
          <a:p>
            <a:pPr algn="l">
              <a:lnSpc>
                <a:spcPct val="130000"/>
              </a:lnSpc>
            </a:pPr>
            <a:r>
              <a:rPr sz="1250" b="0">
                <a:solidFill>
                  <a:srgbClr val="70757A"/>
                </a:solidFill>
                <a:latin typeface="Segoe UI"/>
              </a:rPr>
              <a:t>because the disk is an SSD</a:t>
            </a:r>
          </a:p>
        </p:txBody>
      </p:sp>
      <p:sp>
        <p:nvSpPr>
          <p:cNvPr id="10" name="TextBox 9"/>
          <p:cNvSpPr txBox="1"/>
          <p:nvPr/>
        </p:nvSpPr>
        <p:spPr>
          <a:xfrm>
            <a:off x="4297680" y="3227832"/>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Default already within 6% of optimal</a:t>
            </a:r>
          </a:p>
        </p:txBody>
      </p:sp>
      <p:sp>
        <p:nvSpPr>
          <p:cNvPr id="11" name="TextBox 10"/>
          <p:cNvSpPr txBox="1"/>
          <p:nvPr/>
        </p:nvSpPr>
        <p:spPr>
          <a:xfrm>
            <a:off x="7863840" y="3227832"/>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Lowering it 2.3x worse</a:t>
            </a:r>
          </a:p>
        </p:txBody>
      </p:sp>
      <p:sp>
        <p:nvSpPr>
          <p:cNvPr id="12" name="Rectangle 11"/>
          <p:cNvSpPr/>
          <p:nvPr/>
        </p:nvSpPr>
        <p:spPr>
          <a:xfrm>
            <a:off x="822960" y="3959352"/>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105656"/>
            <a:ext cx="320040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Add a BRIN index</a:t>
            </a:r>
          </a:p>
          <a:p>
            <a:pPr algn="l">
              <a:lnSpc>
                <a:spcPct val="130000"/>
              </a:lnSpc>
            </a:pPr>
            <a:r>
              <a:rPr sz="1250" b="0">
                <a:solidFill>
                  <a:srgbClr val="70757A"/>
                </a:solidFill>
                <a:latin typeface="Segoe UI"/>
              </a:rPr>
              <a:t>it is small and cheap</a:t>
            </a:r>
          </a:p>
        </p:txBody>
      </p:sp>
      <p:sp>
        <p:nvSpPr>
          <p:cNvPr id="14" name="TextBox 13"/>
          <p:cNvSpPr txBox="1"/>
          <p:nvPr/>
        </p:nvSpPr>
        <p:spPr>
          <a:xfrm>
            <a:off x="4297680" y="4160520"/>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Bad choices 2.3% to 73.3%</a:t>
            </a:r>
          </a:p>
        </p:txBody>
      </p:sp>
      <p:sp>
        <p:nvSpPr>
          <p:cNvPr id="15" name="TextBox 14"/>
          <p:cNvSpPr txBox="1"/>
          <p:nvPr/>
        </p:nvSpPr>
        <p:spPr>
          <a:xfrm>
            <a:off x="7863840" y="4160520"/>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Worst case 194x</a:t>
            </a:r>
          </a:p>
        </p:txBody>
      </p:sp>
      <p:sp>
        <p:nvSpPr>
          <p:cNvPr id="16" name="Rectangle 15"/>
          <p:cNvSpPr/>
          <p:nvPr/>
        </p:nvSpPr>
        <p:spPr>
          <a:xfrm>
            <a:off x="822960" y="489204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5038344"/>
            <a:ext cx="320040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Enable Multi-Range Read</a:t>
            </a:r>
          </a:p>
          <a:p>
            <a:pPr algn="l">
              <a:lnSpc>
                <a:spcPct val="130000"/>
              </a:lnSpc>
            </a:pPr>
            <a:r>
              <a:rPr sz="1250" b="0">
                <a:solidFill>
                  <a:srgbClr val="70757A"/>
                </a:solidFill>
                <a:latin typeface="Segoe UI"/>
              </a:rPr>
              <a:t>MariaDB, ships switched off</a:t>
            </a:r>
          </a:p>
        </p:txBody>
      </p:sp>
      <p:sp>
        <p:nvSpPr>
          <p:cNvPr id="18" name="TextBox 17"/>
          <p:cNvSpPr txBox="1"/>
          <p:nvPr/>
        </p:nvSpPr>
        <p:spPr>
          <a:xfrm>
            <a:off x="4297680" y="5093208"/>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Mechanism genuinely engages</a:t>
            </a:r>
          </a:p>
        </p:txBody>
      </p:sp>
      <p:sp>
        <p:nvSpPr>
          <p:cNvPr id="19" name="TextBox 18"/>
          <p:cNvSpPr txBox="1"/>
          <p:nvPr/>
        </p:nvSpPr>
        <p:spPr>
          <a:xfrm>
            <a:off x="7863840" y="5093208"/>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Workload 7% slower</a:t>
            </a:r>
          </a:p>
        </p:txBody>
      </p:sp>
      <p:sp>
        <p:nvSpPr>
          <p:cNvPr id="20" name="TextBox 19"/>
          <p:cNvSpPr txBox="1"/>
          <p:nvPr/>
        </p:nvSpPr>
        <p:spPr>
          <a:xfrm>
            <a:off x="822960" y="5989320"/>
            <a:ext cx="10545775" cy="457200"/>
          </a:xfrm>
          <a:prstGeom prst="rect">
            <a:avLst/>
          </a:prstGeom>
          <a:noFill/>
        </p:spPr>
        <p:txBody>
          <a:bodyPr wrap="square" anchor="t" lIns="0" rIns="0" tIns="0" bIns="0">
            <a:spAutoFit/>
          </a:bodyPr>
          <a:lstStyle/>
          <a:p>
            <a:pPr algn="l">
              <a:lnSpc>
                <a:spcPct val="125000"/>
              </a:lnSpc>
            </a:pPr>
            <a:r>
              <a:rPr sz="1450" b="1">
                <a:solidFill>
                  <a:srgbClr val="1A1D21"/>
                </a:solidFill>
                <a:latin typeface="Segoe UI"/>
              </a:rPr>
              <a:t>In three of four the advice delivers exactly what it promises, and the plan gets worse anyway.</a:t>
            </a:r>
          </a:p>
        </p:txBody>
      </p:sp>
      <p:sp>
        <p:nvSpPr>
          <p:cNvPr id="21" name="TextBox 20"/>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VALIDITY</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Including one explanation I had to withdraw</a:t>
            </a:r>
          </a:p>
        </p:txBody>
      </p:sp>
      <p:sp>
        <p:nvSpPr>
          <p:cNvPr id="4" name="Rectangle 3"/>
          <p:cNvSpPr/>
          <p:nvPr/>
        </p:nvSpPr>
        <p:spPr>
          <a:xfrm>
            <a:off x="822960" y="1874519"/>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40280"/>
            <a:ext cx="3291840" cy="3291840"/>
          </a:xfrm>
          <a:prstGeom prst="rect">
            <a:avLst/>
          </a:prstGeom>
          <a:noFill/>
        </p:spPr>
        <p:txBody>
          <a:bodyPr wrap="square" anchor="t" lIns="0" rIns="0" tIns="0" bIns="0">
            <a:spAutoFit/>
          </a:bodyPr>
          <a:lstStyle/>
          <a:p>
            <a:pPr algn="l">
              <a:lnSpc>
                <a:spcPct val="130000"/>
              </a:lnSpc>
            </a:pPr>
            <a:r>
              <a:rPr sz="4400" b="0">
                <a:solidFill>
                  <a:srgbClr val="1F4E5F"/>
                </a:solidFill>
                <a:latin typeface="Georgia"/>
              </a:rPr>
              <a:t>19</a:t>
            </a:r>
          </a:p>
          <a:p>
            <a:pPr algn="l">
              <a:lnSpc>
                <a:spcPct val="130000"/>
              </a:lnSpc>
            </a:pPr>
            <a:r>
              <a:rPr sz="1300" b="1">
                <a:solidFill>
                  <a:srgbClr val="1A1D21"/>
                </a:solidFill>
                <a:latin typeface="Segoe UI"/>
              </a:rPr>
              <a:t>automated checks before any measurement is accepted</a:t>
            </a:r>
          </a:p>
          <a:p>
            <a:pPr algn="l">
              <a:lnSpc>
                <a:spcPct val="130000"/>
              </a:lnSpc>
            </a:pPr>
            <a:r>
              <a:rPr sz="600" b="0">
                <a:solidFill>
                  <a:srgbClr val="1A1D21"/>
                </a:solidFill>
                <a:latin typeface="Segoe UI"/>
              </a:rPr>
              <a:t/>
            </a:r>
          </a:p>
          <a:p>
            <a:pPr algn="l">
              <a:lnSpc>
                <a:spcPct val="130000"/>
              </a:lnSpc>
            </a:pPr>
            <a:r>
              <a:rPr sz="1300" b="0">
                <a:solidFill>
                  <a:srgbClr val="70757A"/>
                </a:solidFill>
                <a:latin typeface="Segoe UI"/>
              </a:rPr>
              <a:t>Generated data validated against PostgreSQL's own pg_stats, so the generator is checked against something outside my control.</a:t>
            </a:r>
          </a:p>
        </p:txBody>
      </p:sp>
      <p:sp>
        <p:nvSpPr>
          <p:cNvPr id="6" name="TextBox 5"/>
          <p:cNvSpPr txBox="1"/>
          <p:nvPr/>
        </p:nvSpPr>
        <p:spPr>
          <a:xfrm>
            <a:off x="4480560" y="2240280"/>
            <a:ext cx="3108960" cy="3291840"/>
          </a:xfrm>
          <a:prstGeom prst="rect">
            <a:avLst/>
          </a:prstGeom>
          <a:noFill/>
        </p:spPr>
        <p:txBody>
          <a:bodyPr wrap="square" anchor="t" lIns="0" rIns="0" tIns="0" bIns="0">
            <a:spAutoFit/>
          </a:bodyPr>
          <a:lstStyle/>
          <a:p>
            <a:pPr algn="l">
              <a:lnSpc>
                <a:spcPct val="130000"/>
              </a:lnSpc>
            </a:pPr>
            <a:r>
              <a:rPr sz="4400" b="0">
                <a:solidFill>
                  <a:srgbClr val="1F4E5F"/>
                </a:solidFill>
                <a:latin typeface="Georgia"/>
              </a:rPr>
              <a:t>1.79%</a:t>
            </a:r>
          </a:p>
          <a:p>
            <a:pPr algn="l">
              <a:lnSpc>
                <a:spcPct val="130000"/>
              </a:lnSpc>
            </a:pPr>
            <a:r>
              <a:rPr sz="1300" b="1">
                <a:solidFill>
                  <a:srgbClr val="1A1D21"/>
                </a:solidFill>
                <a:latin typeface="Segoe UI"/>
              </a:rPr>
              <a:t>median coefficient of variation above the 1 ms floor</a:t>
            </a:r>
          </a:p>
          <a:p>
            <a:pPr algn="l">
              <a:lnSpc>
                <a:spcPct val="130000"/>
              </a:lnSpc>
            </a:pPr>
            <a:r>
              <a:rPr sz="600" b="0">
                <a:solidFill>
                  <a:srgbClr val="1A1D21"/>
                </a:solidFill>
                <a:latin typeface="Segoe UI"/>
              </a:rPr>
              <a:t/>
            </a:r>
          </a:p>
          <a:p>
            <a:pPr algn="l">
              <a:lnSpc>
                <a:spcPct val="130000"/>
              </a:lnSpc>
            </a:pPr>
            <a:r>
              <a:rPr sz="1300" b="0">
                <a:solidFill>
                  <a:srgbClr val="70757A"/>
                </a:solidFill>
                <a:latin typeface="Segoe UI"/>
              </a:rPr>
              <a:t>24.47% below it, which is why that floor exists. Outlying runs are retained, not deleted; the median absorbs up to two in six.</a:t>
            </a:r>
          </a:p>
        </p:txBody>
      </p:sp>
      <p:sp>
        <p:nvSpPr>
          <p:cNvPr id="7" name="TextBox 6"/>
          <p:cNvSpPr txBox="1"/>
          <p:nvPr/>
        </p:nvSpPr>
        <p:spPr>
          <a:xfrm>
            <a:off x="8229600" y="2240280"/>
            <a:ext cx="3108960" cy="3291840"/>
          </a:xfrm>
          <a:prstGeom prst="rect">
            <a:avLst/>
          </a:prstGeom>
          <a:noFill/>
        </p:spPr>
        <p:txBody>
          <a:bodyPr wrap="square" anchor="t" lIns="0" rIns="0" tIns="0" bIns="0">
            <a:spAutoFit/>
          </a:bodyPr>
          <a:lstStyle/>
          <a:p>
            <a:pPr algn="l">
              <a:lnSpc>
                <a:spcPct val="130000"/>
              </a:lnSpc>
            </a:pPr>
            <a:r>
              <a:rPr sz="4400" b="0">
                <a:solidFill>
                  <a:srgbClr val="A8322A"/>
                </a:solidFill>
                <a:latin typeface="Georgia"/>
              </a:rPr>
              <a:t>3</a:t>
            </a:r>
          </a:p>
          <a:p>
            <a:pPr algn="l">
              <a:lnSpc>
                <a:spcPct val="130000"/>
              </a:lnSpc>
            </a:pPr>
            <a:r>
              <a:rPr sz="1300" b="1">
                <a:solidFill>
                  <a:srgbClr val="1A1D21"/>
                </a:solidFill>
                <a:latin typeface="Segoe UI"/>
              </a:rPr>
              <a:t>of my own errors found, corrected and reported</a:t>
            </a:r>
          </a:p>
          <a:p>
            <a:pPr algn="l">
              <a:lnSpc>
                <a:spcPct val="130000"/>
              </a:lnSpc>
            </a:pPr>
            <a:r>
              <a:rPr sz="600" b="0">
                <a:solidFill>
                  <a:srgbClr val="1A1D21"/>
                </a:solidFill>
                <a:latin typeface="Segoe UI"/>
              </a:rPr>
              <a:t/>
            </a:r>
          </a:p>
          <a:p>
            <a:pPr algn="l">
              <a:lnSpc>
                <a:spcPct val="130000"/>
              </a:lnSpc>
            </a:pPr>
            <a:r>
              <a:rPr sz="1300" b="0">
                <a:solidFill>
                  <a:srgbClr val="70757A"/>
                </a:solidFill>
                <a:latin typeface="Segoe UI"/>
              </a:rPr>
              <a:t>Including a claim I refuted myself: disabling the merge plan left the error at 55.84 against 55.59, so the merge shows the error rather than causing it.</a:t>
            </a:r>
          </a:p>
        </p:txBody>
      </p:sp>
      <p:sp>
        <p:nvSpPr>
          <p:cNvPr id="8" name="TextBox 7"/>
          <p:cNvSpPr txBox="1"/>
          <p:nvPr/>
        </p:nvSpPr>
        <p:spPr>
          <a:xfrm>
            <a:off x="822960" y="6108192"/>
            <a:ext cx="10545775"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All 23,480 raw measurements, seeded generators and the analysis notebook are public and re-run with one command.</a:t>
            </a:r>
          </a:p>
        </p:txBody>
      </p:sp>
      <p:sp>
        <p:nvSpPr>
          <p:cNvPr id="9" name="TextBox 8"/>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5775"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WHAT THE STUDY IDENTIFIES</a:t>
            </a:r>
          </a:p>
        </p:txBody>
      </p:sp>
      <p:sp>
        <p:nvSpPr>
          <p:cNvPr id="3" name="TextBox 2"/>
          <p:cNvSpPr txBox="1"/>
          <p:nvPr/>
        </p:nvSpPr>
        <p:spPr>
          <a:xfrm>
            <a:off x="822960" y="914400"/>
            <a:ext cx="10545775" cy="1005840"/>
          </a:xfrm>
          <a:prstGeom prst="rect">
            <a:avLst/>
          </a:prstGeom>
          <a:noFill/>
        </p:spPr>
        <p:txBody>
          <a:bodyPr wrap="square" anchor="t" lIns="0" rIns="0" tIns="0" bIns="0">
            <a:spAutoFit/>
          </a:bodyPr>
          <a:lstStyle/>
          <a:p>
            <a:pPr algn="l">
              <a:lnSpc>
                <a:spcPct val="112000"/>
              </a:lnSpc>
            </a:pPr>
            <a:r>
              <a:rPr sz="2900" b="0">
                <a:solidFill>
                  <a:srgbClr val="1A1D21"/>
                </a:solidFill>
                <a:latin typeface="Georgia"/>
              </a:rPr>
              <a:t>Four claims</a:t>
            </a:r>
          </a:p>
        </p:txBody>
      </p:sp>
      <p:sp>
        <p:nvSpPr>
          <p:cNvPr id="4" name="Rectangle 3"/>
          <p:cNvSpPr/>
          <p:nvPr/>
        </p:nvSpPr>
        <p:spPr>
          <a:xfrm>
            <a:off x="822960" y="1874519"/>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94560"/>
            <a:ext cx="45720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Georgia"/>
              </a:rPr>
              <a:t>1</a:t>
            </a:r>
          </a:p>
        </p:txBody>
      </p:sp>
      <p:sp>
        <p:nvSpPr>
          <p:cNvPr id="6" name="TextBox 5"/>
          <p:cNvSpPr txBox="1"/>
          <p:nvPr/>
        </p:nvSpPr>
        <p:spPr>
          <a:xfrm>
            <a:off x="1325880" y="2176272"/>
            <a:ext cx="10058400" cy="914400"/>
          </a:xfrm>
          <a:prstGeom prst="rect">
            <a:avLst/>
          </a:prstGeom>
          <a:noFill/>
        </p:spPr>
        <p:txBody>
          <a:bodyPr wrap="square" anchor="t" lIns="0" rIns="0" tIns="0" bIns="0">
            <a:spAutoFit/>
          </a:bodyPr>
          <a:lstStyle/>
          <a:p>
            <a:pPr algn="l">
              <a:lnSpc>
                <a:spcPct val="130000"/>
              </a:lnSpc>
            </a:pPr>
            <a:r>
              <a:rPr sz="1650" b="1">
                <a:solidFill>
                  <a:srgbClr val="1A1D21"/>
                </a:solidFill>
                <a:latin typeface="Segoe UI"/>
              </a:rPr>
              <a:t>The cause is the cost model, not the statistics</a:t>
            </a:r>
          </a:p>
          <a:p>
            <a:pPr algn="l">
              <a:lnSpc>
                <a:spcPct val="130000"/>
              </a:lnSpc>
            </a:pPr>
            <a:r>
              <a:rPr sz="1400" b="0">
                <a:solidFill>
                  <a:srgbClr val="70757A"/>
                </a:solidFill>
                <a:latin typeface="Segoe UI"/>
              </a:rPr>
              <a:t>98.2% of bad choices carried correct row estimates. Better statistics cannot repair a comparison that omits heap work, so the fix belongs in costing.</a:t>
            </a:r>
          </a:p>
        </p:txBody>
      </p:sp>
      <p:sp>
        <p:nvSpPr>
          <p:cNvPr id="7" name="TextBox 6"/>
          <p:cNvSpPr txBox="1"/>
          <p:nvPr/>
        </p:nvSpPr>
        <p:spPr>
          <a:xfrm>
            <a:off x="822960" y="3218688"/>
            <a:ext cx="45720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Georgia"/>
              </a:rPr>
              <a:t>2</a:t>
            </a:r>
          </a:p>
        </p:txBody>
      </p:sp>
      <p:sp>
        <p:nvSpPr>
          <p:cNvPr id="8" name="TextBox 7"/>
          <p:cNvSpPr txBox="1"/>
          <p:nvPr/>
        </p:nvSpPr>
        <p:spPr>
          <a:xfrm>
            <a:off x="1325880" y="3200400"/>
            <a:ext cx="10058400" cy="914400"/>
          </a:xfrm>
          <a:prstGeom prst="rect">
            <a:avLst/>
          </a:prstGeom>
          <a:noFill/>
        </p:spPr>
        <p:txBody>
          <a:bodyPr wrap="square" anchor="t" lIns="0" rIns="0" tIns="0" bIns="0">
            <a:spAutoFit/>
          </a:bodyPr>
          <a:lstStyle/>
          <a:p>
            <a:pPr algn="l">
              <a:lnSpc>
                <a:spcPct val="130000"/>
              </a:lnSpc>
            </a:pPr>
            <a:r>
              <a:rPr sz="1650" b="1">
                <a:solidFill>
                  <a:srgbClr val="1A1D21"/>
                </a:solidFill>
                <a:latin typeface="Segoe UI"/>
              </a:rPr>
              <a:t>Tuning advice is incomplete without its conditions</a:t>
            </a:r>
          </a:p>
          <a:p>
            <a:pPr algn="l">
              <a:lnSpc>
                <a:spcPct val="130000"/>
              </a:lnSpc>
            </a:pPr>
            <a:r>
              <a:rPr sz="1400" b="0">
                <a:solidFill>
                  <a:srgbClr val="70757A"/>
                </a:solidFill>
                <a:latin typeface="Segoe UI"/>
              </a:rPr>
              <a:t>All four practices tested are sound in the case they were written for and harmful outside it. None ships with that boundary stated.</a:t>
            </a:r>
          </a:p>
        </p:txBody>
      </p:sp>
      <p:sp>
        <p:nvSpPr>
          <p:cNvPr id="9" name="TextBox 8"/>
          <p:cNvSpPr txBox="1"/>
          <p:nvPr/>
        </p:nvSpPr>
        <p:spPr>
          <a:xfrm>
            <a:off x="822960" y="4242816"/>
            <a:ext cx="45720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Georgia"/>
              </a:rPr>
              <a:t>3</a:t>
            </a:r>
          </a:p>
        </p:txBody>
      </p:sp>
      <p:sp>
        <p:nvSpPr>
          <p:cNvPr id="10" name="TextBox 9"/>
          <p:cNvSpPr txBox="1"/>
          <p:nvPr/>
        </p:nvSpPr>
        <p:spPr>
          <a:xfrm>
            <a:off x="1325880" y="4224528"/>
            <a:ext cx="10058400" cy="914400"/>
          </a:xfrm>
          <a:prstGeom prst="rect">
            <a:avLst/>
          </a:prstGeom>
          <a:noFill/>
        </p:spPr>
        <p:txBody>
          <a:bodyPr wrap="square" anchor="t" lIns="0" rIns="0" tIns="0" bIns="0">
            <a:spAutoFit/>
          </a:bodyPr>
          <a:lstStyle/>
          <a:p>
            <a:pPr algn="l">
              <a:lnSpc>
                <a:spcPct val="130000"/>
              </a:lnSpc>
            </a:pPr>
            <a:r>
              <a:rPr sz="1650" b="1">
                <a:solidFill>
                  <a:srgbClr val="1A1D21"/>
                </a:solidFill>
                <a:latin typeface="Segoe UI"/>
              </a:rPr>
              <a:t>One number cannot describe an optimiser</a:t>
            </a:r>
          </a:p>
          <a:p>
            <a:pPr algn="l">
              <a:lnSpc>
                <a:spcPct val="130000"/>
              </a:lnSpc>
            </a:pPr>
            <a:r>
              <a:rPr sz="1400" b="0">
                <a:solidFill>
                  <a:srgbClr val="70757A"/>
                </a:solidFill>
                <a:latin typeface="Segoe UI"/>
              </a:rPr>
              <a:t>How often it errs and how badly it errs move in opposite directions across scale, and in opposite directions between these two engines.</a:t>
            </a:r>
          </a:p>
        </p:txBody>
      </p:sp>
      <p:sp>
        <p:nvSpPr>
          <p:cNvPr id="11" name="TextBox 10"/>
          <p:cNvSpPr txBox="1"/>
          <p:nvPr/>
        </p:nvSpPr>
        <p:spPr>
          <a:xfrm>
            <a:off x="822960" y="5266944"/>
            <a:ext cx="45720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Georgia"/>
              </a:rPr>
              <a:t>4</a:t>
            </a:r>
          </a:p>
        </p:txBody>
      </p:sp>
      <p:sp>
        <p:nvSpPr>
          <p:cNvPr id="12" name="TextBox 11"/>
          <p:cNvSpPr txBox="1"/>
          <p:nvPr/>
        </p:nvSpPr>
        <p:spPr>
          <a:xfrm>
            <a:off x="1325880" y="5248656"/>
            <a:ext cx="10058400" cy="914400"/>
          </a:xfrm>
          <a:prstGeom prst="rect">
            <a:avLst/>
          </a:prstGeom>
          <a:noFill/>
        </p:spPr>
        <p:txBody>
          <a:bodyPr wrap="square" anchor="t" lIns="0" rIns="0" tIns="0" bIns="0">
            <a:spAutoFit/>
          </a:bodyPr>
          <a:lstStyle/>
          <a:p>
            <a:pPr algn="l">
              <a:lnSpc>
                <a:spcPct val="130000"/>
              </a:lnSpc>
            </a:pPr>
            <a:r>
              <a:rPr sz="1650" b="1">
                <a:solidFill>
                  <a:srgbClr val="1A1D21"/>
                </a:solidFill>
                <a:latin typeface="Segoe UI"/>
              </a:rPr>
              <a:t>Per-column composition is a shared weakness, not a bug</a:t>
            </a:r>
          </a:p>
          <a:p>
            <a:pPr algn="l">
              <a:lnSpc>
                <a:spcPct val="130000"/>
              </a:lnSpc>
            </a:pPr>
            <a:r>
              <a:rPr sz="1400" b="0">
                <a:solidFill>
                  <a:srgbClr val="70757A"/>
                </a:solidFill>
                <a:latin typeface="Segoe UI"/>
              </a:rPr>
              <a:t>Two independently written engines are accurate only while a single index covers both columns, and both fail once none does.</a:t>
            </a:r>
          </a:p>
        </p:txBody>
      </p:sp>
      <p:sp>
        <p:nvSpPr>
          <p:cNvPr id="13" name="TextBox 12"/>
          <p:cNvSpPr txBox="1"/>
          <p:nvPr/>
        </p:nvSpPr>
        <p:spPr>
          <a:xfrm>
            <a:off x="10728655"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Rectangle 1"/>
          <p:cNvSpPr/>
          <p:nvPr/>
        </p:nvSpPr>
        <p:spPr>
          <a:xfrm>
            <a:off x="822960" y="1828800"/>
            <a:ext cx="1280160" cy="31750"/>
          </a:xfrm>
          <a:prstGeom prst="rect">
            <a:avLst/>
          </a:prstGeom>
          <a:solidFill>
            <a:srgbClr val="A8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48840"/>
            <a:ext cx="8686800" cy="1280160"/>
          </a:xfrm>
          <a:prstGeom prst="rect">
            <a:avLst/>
          </a:prstGeom>
          <a:noFill/>
        </p:spPr>
        <p:txBody>
          <a:bodyPr wrap="square" anchor="t" lIns="0" rIns="0" tIns="0" bIns="0">
            <a:spAutoFit/>
          </a:bodyPr>
          <a:lstStyle/>
          <a:p>
            <a:pPr algn="l">
              <a:lnSpc>
                <a:spcPct val="110000"/>
              </a:lnSpc>
            </a:pPr>
            <a:r>
              <a:rPr sz="4400" b="0">
                <a:solidFill>
                  <a:srgbClr val="F2EFEA"/>
                </a:solidFill>
                <a:latin typeface="Georgia"/>
              </a:rPr>
              <a:t>Thank you. Questions?</a:t>
            </a:r>
          </a:p>
        </p:txBody>
      </p:sp>
      <p:sp>
        <p:nvSpPr>
          <p:cNvPr id="4" name="Rectangle 3"/>
          <p:cNvSpPr/>
          <p:nvPr/>
        </p:nvSpPr>
        <p:spPr>
          <a:xfrm>
            <a:off x="822960" y="342900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749039"/>
            <a:ext cx="5120640" cy="2011680"/>
          </a:xfrm>
          <a:prstGeom prst="rect">
            <a:avLst/>
          </a:prstGeom>
          <a:noFill/>
        </p:spPr>
        <p:txBody>
          <a:bodyPr wrap="square" anchor="t" lIns="0" rIns="0" tIns="0" bIns="0">
            <a:spAutoFit/>
          </a:bodyPr>
          <a:lstStyle/>
          <a:p>
            <a:pPr algn="l">
              <a:lnSpc>
                <a:spcPct val="135000"/>
              </a:lnSpc>
            </a:pPr>
            <a:r>
              <a:rPr sz="1400" b="1">
                <a:solidFill>
                  <a:srgbClr val="F2EFEA"/>
                </a:solidFill>
                <a:latin typeface="Segoe UI"/>
              </a:rPr>
              <a:t>Everything is reproducible</a:t>
            </a:r>
          </a:p>
          <a:p>
            <a:pPr algn="l">
              <a:lnSpc>
                <a:spcPct val="135000"/>
              </a:lnSpc>
            </a:pPr>
            <a:r>
              <a:rPr sz="600" b="0">
                <a:solidFill>
                  <a:srgbClr val="F2EFEA"/>
                </a:solidFill>
                <a:latin typeface="Segoe UI"/>
              </a:rPr>
              <a:t/>
            </a:r>
          </a:p>
          <a:p>
            <a:pPr algn="l">
              <a:lnSpc>
                <a:spcPct val="135000"/>
              </a:lnSpc>
            </a:pPr>
            <a:r>
              <a:rPr sz="1400" b="0">
                <a:solidFill>
                  <a:srgbClr val="92989E"/>
                </a:solidFill>
                <a:latin typeface="Segoe UI"/>
              </a:rPr>
              <a:t>23,480 raw measurements with every repetition retained, seeded generators, the analysis notebook and both write-ups.</a:t>
            </a:r>
          </a:p>
        </p:txBody>
      </p:sp>
      <p:sp>
        <p:nvSpPr>
          <p:cNvPr id="6" name="TextBox 5"/>
          <p:cNvSpPr txBox="1"/>
          <p:nvPr/>
        </p:nvSpPr>
        <p:spPr>
          <a:xfrm>
            <a:off x="6583680" y="3749039"/>
            <a:ext cx="4754880" cy="2011680"/>
          </a:xfrm>
          <a:prstGeom prst="rect">
            <a:avLst/>
          </a:prstGeom>
          <a:noFill/>
        </p:spPr>
        <p:txBody>
          <a:bodyPr wrap="square" anchor="t" lIns="0" rIns="0" tIns="0" bIns="0">
            <a:spAutoFit/>
          </a:bodyPr>
          <a:lstStyle/>
          <a:p>
            <a:pPr algn="l">
              <a:lnSpc>
                <a:spcPct val="140000"/>
              </a:lnSpc>
            </a:pPr>
            <a:r>
              <a:rPr sz="1500" b="1">
                <a:solidFill>
                  <a:srgbClr val="F2EFEA"/>
                </a:solidFill>
                <a:latin typeface="Segoe UI"/>
              </a:rPr>
              <a:t>Md. Imtiaj Alam Sajin</a:t>
            </a:r>
          </a:p>
          <a:p>
            <a:pPr algn="l">
              <a:lnSpc>
                <a:spcPct val="140000"/>
              </a:lnSpc>
            </a:pPr>
            <a:r>
              <a:rPr sz="1300" b="0">
                <a:solidFill>
                  <a:srgbClr val="92989E"/>
                </a:solidFill>
                <a:latin typeface="Segoe UI"/>
              </a:rPr>
              <a:t>26-94090-2</a:t>
            </a:r>
          </a:p>
          <a:p>
            <a:pPr algn="l">
              <a:lnSpc>
                <a:spcPct val="140000"/>
              </a:lnSpc>
            </a:pPr>
            <a:r>
              <a:rPr sz="1300" b="0">
                <a:solidFill>
                  <a:srgbClr val="92989E"/>
                </a:solidFill>
                <a:latin typeface="Segoe UI"/>
              </a:rPr>
              <a:t>Supervisor: Dr. Ashraf Uddin</a:t>
            </a:r>
          </a:p>
        </p:txBody>
      </p:sp>
      <p:sp>
        <p:nvSpPr>
          <p:cNvPr id="7" name="TextBox 6"/>
          <p:cNvSpPr txBox="1"/>
          <p:nvPr/>
        </p:nvSpPr>
        <p:spPr>
          <a:xfrm>
            <a:off x="822960" y="6080760"/>
            <a:ext cx="10545775" cy="365760"/>
          </a:xfrm>
          <a:prstGeom prst="rect">
            <a:avLst/>
          </a:prstGeom>
          <a:noFill/>
        </p:spPr>
        <p:txBody>
          <a:bodyPr wrap="square" anchor="t" lIns="0" rIns="0" tIns="0" bIns="0">
            <a:spAutoFit/>
          </a:bodyPr>
          <a:lstStyle/>
          <a:p>
            <a:pPr algn="l">
              <a:lnSpc>
                <a:spcPct val="120000"/>
              </a:lnSpc>
            </a:pPr>
            <a:r>
              <a:rPr sz="1150" b="0">
                <a:solidFill>
                  <a:srgbClr val="92989E"/>
                </a:solidFill>
                <a:latin typeface="Consolas"/>
              </a:rPr>
              <a:t>github.com/Imtiaj-Sajin/Reseach-on-Database-Architecture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
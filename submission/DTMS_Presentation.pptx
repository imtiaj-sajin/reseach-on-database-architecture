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an experimental study of how PostgreSQL and MariaDB choose which index to use, and whether the tuning advice people give for it actually works. Everything I show is measured on my own machine and the code is public.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gap I started from. If you search for how to speed up a slow query you get thousands of pages of advice. Add this index, change this setting. It is written by good engineers and it sounds sensible. But almost none of it has been tested under controlled conditions, so nobody knows when it works and when it does not. That is what I measured.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turned that into five questions. The first two ask how good the optimiser actually is and why it fails. The next two test the advice itself. The last one asks whether what I find is a PostgreSQL quirk or something deeper, which is why I added a second database.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did not use a standard benchmark like TPC-H, and that was deliberate. With a fixed dataset you cannot separate cause from coincidence. I generate the data myself, so I can move one property at a time and hold the rest still, and more importantly I know the true answer for every query. That is what lets me say the database guessed wrong instead of guessing along with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size of the experiment. Seven table sizes on both databases, from one million rows up to ten million, plus configuration sweeps on each. Twenty three thousand four hundred and eighty measurements in total. The runs took several days and survived two power cuts, which is why every measurement is written to disk as it is taken and the run resumes where it stopped.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definition I need before the results. Regret is how many times slower the plan the database chose was, compared to the best plan that was available to it at that moment. Not the theoretical best, the best it could actually have picked. A regret of one means it did the best it could. This matters because it separates the optimiser being wrong from the database simply being slow.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 and it is the one that frames everything else. On identical data with identical queries, PostgreSQL picks the best plan available ninety seven point seven percent of the time. So the failures I show you later are specific, identifiable problems, not a generally weak optimiser. MariaDB is wrong far more often, but notice its errors are milder. The reason is visible in the plans: PostgreSQL has bitmap scans, which sort matching rows into disk order first. MariaDB has nothing equivalent, so it either does a direct lookup or gives up and scans the whole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result I did not expect. The whole query optimisation literature says bad plans come from the database misjudging how many rows will come back. So I looked at every case where it chose badly and measured the estimate. The median error was one point zero one seven. A perfect estimate is one point zero. In ninety eight percent of the bad choices the database knew the right numbers and still chose the slower path. That means fixing the estimates, which is what most tuning advice tries to do, cannot fix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that, I tested the advice itself. Four widely recommended practices. Each one is sensible, each one appears in official documentation or well-regarded blogs. Under conditions I can identify, all four make the workload slower. I will take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one. When two columns are correlated PostgreSQL misjudges them, and the official remedy is to create extended statistics. It works beautifully on the estimate. At full correlation it improves the estimate by a factor of one hundred and eight. And the query gets slower. Every single correlation level gets slower. The better estimate pushes the planner into a plan that costs less on paper and more in reality.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one. Lowering random page cost because SSDs handle random reads well. I want to be careful here, because on one individual query I first measured a twenty four times effect and that was misleading. Measured across the whole workload, which is the honest way to do it, the shipped default of four is within six percent of the best setting, and lowering it to one makes the workload more than twice as slow.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one, and this is the largest effect in the study. Adding a BRIN index alongside an existing B-tree, on the same column, because BRIN is tiny and people treat it as free. The bad-choice rate goes from two point three percent to seventy three point three percent. On one controlled test where the only thing I changed was whether the BRIN index existed, the query went from a third of a millisecond to sixty six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did not want to leave that as an observation, so I went into the PostgreSQL source. The function is choose_bitmap_and in indxpath.c. When two indexes can answer the same query it keeps one and throws the other away, and it decides by which index is cheaper to scan. But that cost is the cost of reading the index alone. It ignores the work the query then does on the table. A BRIN index is tiny by design, so it wins that comparison essentially always, and the index being discarded is the one that would have been almost two hundred times faster.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would most want to be asked about. The problem only happens while the table fits in the buffer pool, which you would expect. But look at the two columns separately. How often it goes wrong collapses right at the memory boundary, from seventy one percent down to thirty eight. How badly it goes wrong in the worst case does the opposite, it doubles at that same boundary and stays high all the way to three million rows. If I had tested only the smallest and the largest size, which is what most studies do, I would have concluded the problem simply disappears as tables grow.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the second database is what let me separate a PostgreSQL quirk from something general. The correlated-predicate failure turned out to be general. MariaDB estimates those predicates perfectly, exactly one point zero zero, right up until no single index covers both columns. Then it fails the same way PostgreSQL does. Two independently written databases failing identically means this is a design problem in how selectivity is composed, not a bug in either product.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they degrade in opposite directions, which I think is the most useful practical result. As tables grow PostgreSQL gets wrong more often, up to thirty six percent, but its worst case never goes past three point seven times. MariaDB goes the other way, wrong less often but its worst case climbs to thirty one times. The reason is the plan repertoire. Bitmap scans put a ceiling on how bad a mistake can be because even a wrong choice still reads the disk in order. MariaDB has no ceiling. A database wrong often but never badly is easier to run than one wrong rarely but catastrophically, and one summary number hides that completely.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computational cost, at ten million rows, counting only index types both databases have so the comparison is fair. PostgreSQL splits its time roughly evenly between building indexes and running queries. MariaDB builds in twenty minutes and then spends thirteen hours querying. The point I want to make is the last line: a study that measured only build time and a study that measured only query time would rank these two databases in opposite orders.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show one thing I got wrong, because the correction is the better science. I had concluded that the correlated-column failure was caused by the plan shape that merges two indexes, since both databases fail while using it. Then I tested my own claim by switching that plan off entirely, which forces a completely different strategy. The error stayed the same. Fifty five point five nine against fifty five point eight four. So the merge is where the error becomes visible, not where it comes from. The real cause is narrower and more general, and I only found it by trying to refute myself.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on trustworthiness, because this is the part a marker will press on. Nineteen automated checks run before any measurement is accepted, including validating my generated data against PostgreSQL's own internal statistics, so the generator is checked against something I do not control. Everything is seeded, every measurement is written as it is taken so a power cut costs nothing, and the whole thing re-runs with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adds up to. Four pieces of common advice fail under conditions I can now name. The cause is not bad statistics, which is what almost all tuning targets, so the remedy has to be a costing change rather than a statistics change. And the practical rule I would give: never judge a tuning setting from one query, and never judge an optimiser from one table size.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work. The code, the raw measurements and the notebook are all in the repository. Happy to take questions, and if you want to see any number in the deck verified I can show it coming out of the raw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Rectangle 1"/>
          <p:cNvSpPr/>
          <p:nvPr/>
        </p:nvSpPr>
        <p:spPr>
          <a:xfrm>
            <a:off x="822960" y="1417320"/>
            <a:ext cx="1280160" cy="31750"/>
          </a:xfrm>
          <a:prstGeom prst="rect">
            <a:avLst/>
          </a:prstGeom>
          <a:solidFill>
            <a:srgbClr val="A8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91640"/>
            <a:ext cx="9692640" cy="2103120"/>
          </a:xfrm>
          <a:prstGeom prst="rect">
            <a:avLst/>
          </a:prstGeom>
          <a:noFill/>
        </p:spPr>
        <p:txBody>
          <a:bodyPr wrap="square" anchor="t" lIns="0" rIns="0" tIns="0" bIns="0">
            <a:spAutoFit/>
          </a:bodyPr>
          <a:lstStyle/>
          <a:p>
            <a:pPr algn="l">
              <a:lnSpc>
                <a:spcPct val="114000"/>
              </a:lnSpc>
              <a:spcAft>
                <a:spcPts val="0"/>
              </a:spcAft>
            </a:pPr>
            <a:r>
              <a:rPr sz="3500" b="0">
                <a:solidFill>
                  <a:srgbClr val="F2EFEA"/>
                </a:solidFill>
                <a:latin typeface="Georgia"/>
              </a:rPr>
              <a:t>Measuring the Impact of Index Types and Tuning Settings on Query Execution Plans in PostgreSQL and MariaDB</a:t>
            </a:r>
          </a:p>
        </p:txBody>
      </p:sp>
      <p:sp>
        <p:nvSpPr>
          <p:cNvPr id="4" name="TextBox 3"/>
          <p:cNvSpPr txBox="1"/>
          <p:nvPr/>
        </p:nvSpPr>
        <p:spPr>
          <a:xfrm>
            <a:off x="822960" y="3977639"/>
            <a:ext cx="9692640" cy="365760"/>
          </a:xfrm>
          <a:prstGeom prst="rect">
            <a:avLst/>
          </a:prstGeom>
          <a:noFill/>
        </p:spPr>
        <p:txBody>
          <a:bodyPr wrap="square" anchor="t" lIns="0" rIns="0" tIns="0" bIns="0">
            <a:spAutoFit/>
          </a:bodyPr>
          <a:lstStyle/>
          <a:p>
            <a:pPr algn="l">
              <a:lnSpc>
                <a:spcPct val="120000"/>
              </a:lnSpc>
              <a:spcAft>
                <a:spcPts val="0"/>
              </a:spcAft>
            </a:pPr>
            <a:r>
              <a:rPr sz="1300" b="0">
                <a:solidFill>
                  <a:srgbClr val="92989E"/>
                </a:solidFill>
                <a:latin typeface="Segoe UI"/>
              </a:rPr>
              <a:t>Type 4  |  Experimental and Benchmarking Project  |  Individual Submission</a:t>
            </a:r>
          </a:p>
        </p:txBody>
      </p:sp>
      <p:sp>
        <p:nvSpPr>
          <p:cNvPr id="5" name="Rectangle 4"/>
          <p:cNvSpPr/>
          <p:nvPr/>
        </p:nvSpPr>
        <p:spPr>
          <a:xfrm>
            <a:off x="822960" y="452628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800600"/>
            <a:ext cx="4937760" cy="1188720"/>
          </a:xfrm>
          <a:prstGeom prst="rect">
            <a:avLst/>
          </a:prstGeom>
          <a:noFill/>
        </p:spPr>
        <p:txBody>
          <a:bodyPr wrap="square" anchor="t" lIns="0" rIns="0" tIns="0" bIns="0">
            <a:spAutoFit/>
          </a:bodyPr>
          <a:lstStyle/>
          <a:p>
            <a:pPr algn="l">
              <a:lnSpc>
                <a:spcPct val="145000"/>
              </a:lnSpc>
              <a:spcAft>
                <a:spcPts val="0"/>
              </a:spcAft>
            </a:pPr>
            <a:r>
              <a:rPr sz="1500" b="1">
                <a:solidFill>
                  <a:srgbClr val="F2EFEA"/>
                </a:solidFill>
                <a:latin typeface="Segoe UI"/>
              </a:rPr>
              <a:t>Md. Imtiaj Alam Sajin</a:t>
            </a:r>
          </a:p>
          <a:p>
            <a:pPr algn="l">
              <a:lnSpc>
                <a:spcPct val="145000"/>
              </a:lnSpc>
              <a:spcAft>
                <a:spcPts val="0"/>
              </a:spcAft>
            </a:pPr>
            <a:r>
              <a:rPr sz="1200" b="0">
                <a:solidFill>
                  <a:srgbClr val="92989E"/>
                </a:solidFill>
                <a:latin typeface="Segoe UI"/>
              </a:rPr>
              <a:t>26-94090-2   |   26-94090-2@student.aiub.edu</a:t>
            </a:r>
          </a:p>
        </p:txBody>
      </p:sp>
      <p:sp>
        <p:nvSpPr>
          <p:cNvPr id="7" name="TextBox 6"/>
          <p:cNvSpPr txBox="1"/>
          <p:nvPr/>
        </p:nvSpPr>
        <p:spPr>
          <a:xfrm>
            <a:off x="6583680" y="4800600"/>
            <a:ext cx="4754880" cy="1188720"/>
          </a:xfrm>
          <a:prstGeom prst="rect">
            <a:avLst/>
          </a:prstGeom>
          <a:noFill/>
        </p:spPr>
        <p:txBody>
          <a:bodyPr wrap="square" anchor="t" lIns="0" rIns="0" tIns="0" bIns="0">
            <a:spAutoFit/>
          </a:bodyPr>
          <a:lstStyle/>
          <a:p>
            <a:pPr algn="l">
              <a:lnSpc>
                <a:spcPct val="145000"/>
              </a:lnSpc>
              <a:spcAft>
                <a:spcPts val="0"/>
              </a:spcAft>
            </a:pPr>
            <a:r>
              <a:rPr sz="1100" b="0">
                <a:solidFill>
                  <a:srgbClr val="92989E"/>
                </a:solidFill>
                <a:latin typeface="Segoe UI"/>
              </a:rPr>
              <a:t>Supervisor</a:t>
            </a:r>
          </a:p>
          <a:p>
            <a:pPr algn="l">
              <a:lnSpc>
                <a:spcPct val="145000"/>
              </a:lnSpc>
              <a:spcAft>
                <a:spcPts val="0"/>
              </a:spcAft>
            </a:pPr>
            <a:r>
              <a:rPr sz="1500" b="1">
                <a:solidFill>
                  <a:srgbClr val="F2EFEA"/>
                </a:solidFill>
                <a:latin typeface="Segoe UI"/>
              </a:rPr>
              <a:t>Dr. Ashraf Uddin</a:t>
            </a:r>
          </a:p>
        </p:txBody>
      </p:sp>
      <p:sp>
        <p:nvSpPr>
          <p:cNvPr id="8" name="TextBox 7"/>
          <p:cNvSpPr txBox="1"/>
          <p:nvPr/>
        </p:nvSpPr>
        <p:spPr>
          <a:xfrm>
            <a:off x="822960" y="6080760"/>
            <a:ext cx="10545775" cy="365760"/>
          </a:xfrm>
          <a:prstGeom prst="rect">
            <a:avLst/>
          </a:prstGeom>
          <a:noFill/>
        </p:spPr>
        <p:txBody>
          <a:bodyPr wrap="square" anchor="t" lIns="0" rIns="0" tIns="0" bIns="0">
            <a:spAutoFit/>
          </a:bodyPr>
          <a:lstStyle/>
          <a:p>
            <a:pPr algn="l">
              <a:lnSpc>
                <a:spcPct val="120000"/>
              </a:lnSpc>
              <a:spcAft>
                <a:spcPts val="0"/>
              </a:spcAft>
            </a:pPr>
            <a:r>
              <a:rPr sz="1150" b="0">
                <a:solidFill>
                  <a:srgbClr val="92989E"/>
                </a:solidFill>
                <a:latin typeface="Consolas"/>
              </a:rPr>
              <a:t>github.com/Imtiaj-Sajin/Reseach-on-Database-Architecture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THE GAP</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3200" b="0">
                <a:solidFill>
                  <a:srgbClr val="1A1D21"/>
                </a:solidFill>
                <a:latin typeface="Georgia"/>
              </a:rPr>
              <a:t>Index tuning advice is everywhere.
Almost none of it has been measured.</a:t>
            </a:r>
          </a:p>
        </p:txBody>
      </p:sp>
      <p:sp>
        <p:nvSpPr>
          <p:cNvPr id="4" name="Rectangle 3"/>
          <p:cNvSpPr/>
          <p:nvPr/>
        </p:nvSpPr>
        <p:spPr>
          <a:xfrm>
            <a:off x="822960" y="260604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926080"/>
            <a:ext cx="5577840" cy="2743200"/>
          </a:xfrm>
          <a:prstGeom prst="rect">
            <a:avLst/>
          </a:prstGeom>
          <a:noFill/>
        </p:spPr>
        <p:txBody>
          <a:bodyPr wrap="square" anchor="t" lIns="0" rIns="0" tIns="0" bIns="0">
            <a:spAutoFit/>
          </a:bodyPr>
          <a:lstStyle/>
          <a:p>
            <a:pPr algn="l">
              <a:lnSpc>
                <a:spcPct val="142000"/>
              </a:lnSpc>
              <a:spcAft>
                <a:spcPts val="0"/>
              </a:spcAft>
            </a:pPr>
            <a:r>
              <a:rPr sz="1600" b="0">
                <a:solidFill>
                  <a:srgbClr val="1A1D21"/>
                </a:solidFill>
                <a:latin typeface="Segoe UI"/>
              </a:rPr>
              <a:t>Every query needs one decision made for it:</a:t>
            </a:r>
          </a:p>
          <a:p>
            <a:pPr algn="l">
              <a:lnSpc>
                <a:spcPct val="142000"/>
              </a:lnSpc>
              <a:spcAft>
                <a:spcPts val="0"/>
              </a:spcAft>
            </a:pPr>
            <a:r>
              <a:rPr sz="1600" b="1">
                <a:solidFill>
                  <a:srgbClr val="1A1D21"/>
                </a:solidFill>
                <a:latin typeface="Segoe UI"/>
              </a:rPr>
              <a:t>scan the whole table, or use an index, and if so, which one.</a:t>
            </a:r>
          </a:p>
          <a:p>
            <a:pPr algn="l">
              <a:lnSpc>
                <a:spcPct val="142000"/>
              </a:lnSpc>
              <a:spcAft>
                <a:spcPts val="0"/>
              </a:spcAft>
            </a:pPr>
            <a:r>
              <a:rPr sz="800" b="0">
                <a:solidFill>
                  <a:srgbClr val="1A1D21"/>
                </a:solidFill>
                <a:latin typeface="Segoe UI"/>
              </a:rPr>
              <a:t/>
            </a:r>
          </a:p>
          <a:p>
            <a:pPr algn="l">
              <a:lnSpc>
                <a:spcPct val="142000"/>
              </a:lnSpc>
              <a:spcAft>
                <a:spcPts val="0"/>
              </a:spcAft>
            </a:pPr>
            <a:r>
              <a:rPr sz="1600" b="0">
                <a:solidFill>
                  <a:srgbClr val="70757A"/>
                </a:solidFill>
                <a:latin typeface="Segoe UI"/>
              </a:rPr>
              <a:t>The same query on the same data can be a hundred times slower depending on that single choice, and the user never sees it happen.</a:t>
            </a:r>
          </a:p>
        </p:txBody>
      </p:sp>
      <p:sp>
        <p:nvSpPr>
          <p:cNvPr id="6" name="TextBox 5"/>
          <p:cNvSpPr txBox="1"/>
          <p:nvPr/>
        </p:nvSpPr>
        <p:spPr>
          <a:xfrm>
            <a:off x="6949440" y="2926080"/>
            <a:ext cx="4389120" cy="2743200"/>
          </a:xfrm>
          <a:prstGeom prst="rect">
            <a:avLst/>
          </a:prstGeom>
          <a:noFill/>
        </p:spPr>
        <p:txBody>
          <a:bodyPr wrap="square" anchor="t" lIns="0" rIns="0" tIns="0" bIns="0">
            <a:spAutoFit/>
          </a:bodyPr>
          <a:lstStyle/>
          <a:p>
            <a:pPr algn="l">
              <a:lnSpc>
                <a:spcPct val="150000"/>
              </a:lnSpc>
              <a:spcAft>
                <a:spcPts val="0"/>
              </a:spcAft>
            </a:pPr>
            <a:r>
              <a:rPr sz="1300" b="1">
                <a:solidFill>
                  <a:srgbClr val="A8322A"/>
                </a:solidFill>
                <a:latin typeface="Segoe UI"/>
              </a:rPr>
              <a:t>So a body of advice grew around it</a:t>
            </a:r>
          </a:p>
          <a:p>
            <a:pPr algn="l">
              <a:lnSpc>
                <a:spcPct val="150000"/>
              </a:lnSpc>
              <a:spcAft>
                <a:spcPts val="0"/>
              </a:spcAft>
            </a:pPr>
            <a:r>
              <a:rPr sz="600" b="0">
                <a:solidFill>
                  <a:srgbClr val="1A1D21"/>
                </a:solidFill>
                <a:latin typeface="Segoe UI"/>
              </a:rPr>
              <a:t/>
            </a:r>
          </a:p>
          <a:p>
            <a:pPr algn="l">
              <a:lnSpc>
                <a:spcPct val="150000"/>
              </a:lnSpc>
              <a:spcAft>
                <a:spcPts val="0"/>
              </a:spcAft>
            </a:pPr>
            <a:r>
              <a:rPr sz="1400" b="0">
                <a:solidFill>
                  <a:srgbClr val="1A1D21"/>
                </a:solidFill>
                <a:latin typeface="Segoe UI"/>
              </a:rPr>
              <a:t>Create extended statistics for correlated columns</a:t>
            </a:r>
          </a:p>
          <a:p>
            <a:pPr algn="l">
              <a:lnSpc>
                <a:spcPct val="150000"/>
              </a:lnSpc>
              <a:spcAft>
                <a:spcPts val="0"/>
              </a:spcAft>
            </a:pPr>
            <a:r>
              <a:rPr sz="1400" b="0">
                <a:solidFill>
                  <a:srgbClr val="1A1D21"/>
                </a:solidFill>
                <a:latin typeface="Segoe UI"/>
              </a:rPr>
              <a:t>Lower random_page_cost because you have an SSD</a:t>
            </a:r>
          </a:p>
          <a:p>
            <a:pPr algn="l">
              <a:lnSpc>
                <a:spcPct val="150000"/>
              </a:lnSpc>
              <a:spcAft>
                <a:spcPts val="0"/>
              </a:spcAft>
            </a:pPr>
            <a:r>
              <a:rPr sz="1400" b="0">
                <a:solidFill>
                  <a:srgbClr val="1A1D21"/>
                </a:solidFill>
                <a:latin typeface="Segoe UI"/>
              </a:rPr>
              <a:t>Add a BRIN index, it is tiny and cheap</a:t>
            </a:r>
          </a:p>
          <a:p>
            <a:pPr algn="l">
              <a:lnSpc>
                <a:spcPct val="150000"/>
              </a:lnSpc>
              <a:spcAft>
                <a:spcPts val="0"/>
              </a:spcAft>
            </a:pPr>
            <a:r>
              <a:rPr sz="1400" b="0">
                <a:solidFill>
                  <a:srgbClr val="1A1D21"/>
                </a:solidFill>
                <a:latin typeface="Segoe UI"/>
              </a:rPr>
              <a:t>Enable Multi-Range Read in MariaDB</a:t>
            </a:r>
          </a:p>
          <a:p>
            <a:pPr algn="l">
              <a:lnSpc>
                <a:spcPct val="150000"/>
              </a:lnSpc>
              <a:spcAft>
                <a:spcPts val="0"/>
              </a:spcAft>
            </a:pPr>
            <a:r>
              <a:rPr sz="600" b="0">
                <a:solidFill>
                  <a:srgbClr val="1A1D21"/>
                </a:solidFill>
                <a:latin typeface="Segoe UI"/>
              </a:rPr>
              <a:t/>
            </a:r>
          </a:p>
          <a:p>
            <a:pPr algn="l">
              <a:lnSpc>
                <a:spcPct val="150000"/>
              </a:lnSpc>
              <a:spcAft>
                <a:spcPts val="0"/>
              </a:spcAft>
            </a:pPr>
            <a:r>
              <a:rPr sz="1400" b="1">
                <a:solidFill>
                  <a:srgbClr val="1A1D21"/>
                </a:solidFill>
                <a:latin typeface="Segoe UI"/>
              </a:rPr>
              <a:t>All four are reasonable. I tested all four.</a:t>
            </a:r>
          </a:p>
        </p:txBody>
      </p:sp>
      <p:sp>
        <p:nvSpPr>
          <p:cNvPr id="7" name="TextBox 6"/>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RESEARCH QUESTIONS</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Five questions</a:t>
            </a:r>
          </a:p>
        </p:txBody>
      </p:sp>
      <p:sp>
        <p:nvSpPr>
          <p:cNvPr id="4" name="Rectangle 3"/>
          <p:cNvSpPr/>
          <p:nvPr/>
        </p:nvSpPr>
        <p:spPr>
          <a:xfrm>
            <a:off x="822960" y="1874519"/>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777240" cy="365760"/>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RQ1</a:t>
            </a:r>
          </a:p>
        </p:txBody>
      </p:sp>
      <p:sp>
        <p:nvSpPr>
          <p:cNvPr id="6" name="TextBox 5"/>
          <p:cNvSpPr txBox="1"/>
          <p:nvPr/>
        </p:nvSpPr>
        <p:spPr>
          <a:xfrm>
            <a:off x="1691640" y="2167128"/>
            <a:ext cx="9601200" cy="457200"/>
          </a:xfrm>
          <a:prstGeom prst="rect">
            <a:avLst/>
          </a:prstGeom>
          <a:noFill/>
        </p:spPr>
        <p:txBody>
          <a:bodyPr wrap="square" anchor="t" lIns="0" rIns="0" tIns="0" bIns="0">
            <a:spAutoFit/>
          </a:bodyPr>
          <a:lstStyle/>
          <a:p>
            <a:pPr algn="l">
              <a:lnSpc>
                <a:spcPct val="125000"/>
              </a:lnSpc>
              <a:spcAft>
                <a:spcPts val="0"/>
              </a:spcAft>
            </a:pPr>
            <a:r>
              <a:rPr sz="1650" b="0">
                <a:solidFill>
                  <a:srgbClr val="1A1D21"/>
                </a:solidFill>
                <a:latin typeface="Segoe UI"/>
              </a:rPr>
              <a:t>How often does the planner pick a slower access path than one it already had?</a:t>
            </a:r>
          </a:p>
        </p:txBody>
      </p:sp>
      <p:sp>
        <p:nvSpPr>
          <p:cNvPr id="7" name="TextBox 6"/>
          <p:cNvSpPr txBox="1"/>
          <p:nvPr/>
        </p:nvSpPr>
        <p:spPr>
          <a:xfrm>
            <a:off x="822960" y="2980944"/>
            <a:ext cx="777240" cy="365760"/>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RQ2</a:t>
            </a:r>
          </a:p>
        </p:txBody>
      </p:sp>
      <p:sp>
        <p:nvSpPr>
          <p:cNvPr id="8" name="TextBox 7"/>
          <p:cNvSpPr txBox="1"/>
          <p:nvPr/>
        </p:nvSpPr>
        <p:spPr>
          <a:xfrm>
            <a:off x="1691640" y="2953512"/>
            <a:ext cx="9601200" cy="457200"/>
          </a:xfrm>
          <a:prstGeom prst="rect">
            <a:avLst/>
          </a:prstGeom>
          <a:noFill/>
        </p:spPr>
        <p:txBody>
          <a:bodyPr wrap="square" anchor="t" lIns="0" rIns="0" tIns="0" bIns="0">
            <a:spAutoFit/>
          </a:bodyPr>
          <a:lstStyle/>
          <a:p>
            <a:pPr algn="l">
              <a:lnSpc>
                <a:spcPct val="125000"/>
              </a:lnSpc>
              <a:spcAft>
                <a:spcPts val="0"/>
              </a:spcAft>
            </a:pPr>
            <a:r>
              <a:rPr sz="1650" b="0">
                <a:solidFill>
                  <a:srgbClr val="1A1D21"/>
                </a:solidFill>
                <a:latin typeface="Segoe UI"/>
              </a:rPr>
              <a:t>Is bad selectivity estimation the cause, as the literature assumes?</a:t>
            </a:r>
          </a:p>
        </p:txBody>
      </p:sp>
      <p:sp>
        <p:nvSpPr>
          <p:cNvPr id="9" name="TextBox 8"/>
          <p:cNvSpPr txBox="1"/>
          <p:nvPr/>
        </p:nvSpPr>
        <p:spPr>
          <a:xfrm>
            <a:off x="822960" y="3767328"/>
            <a:ext cx="777240" cy="365760"/>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RQ3</a:t>
            </a:r>
          </a:p>
        </p:txBody>
      </p:sp>
      <p:sp>
        <p:nvSpPr>
          <p:cNvPr id="10" name="TextBox 9"/>
          <p:cNvSpPr txBox="1"/>
          <p:nvPr/>
        </p:nvSpPr>
        <p:spPr>
          <a:xfrm>
            <a:off x="1691640" y="3739896"/>
            <a:ext cx="9601200" cy="457200"/>
          </a:xfrm>
          <a:prstGeom prst="rect">
            <a:avLst/>
          </a:prstGeom>
          <a:noFill/>
        </p:spPr>
        <p:txBody>
          <a:bodyPr wrap="square" anchor="t" lIns="0" rIns="0" tIns="0" bIns="0">
            <a:spAutoFit/>
          </a:bodyPr>
          <a:lstStyle/>
          <a:p>
            <a:pPr algn="l">
              <a:lnSpc>
                <a:spcPct val="125000"/>
              </a:lnSpc>
              <a:spcAft>
                <a:spcPts val="0"/>
              </a:spcAft>
            </a:pPr>
            <a:r>
              <a:rPr sz="1650" b="0">
                <a:solidFill>
                  <a:srgbClr val="1A1D21"/>
                </a:solidFill>
                <a:latin typeface="Segoe UI"/>
              </a:rPr>
              <a:t>Do the recommended tuning practices improve the plan, or only the estimate?</a:t>
            </a:r>
          </a:p>
        </p:txBody>
      </p:sp>
      <p:sp>
        <p:nvSpPr>
          <p:cNvPr id="11" name="TextBox 10"/>
          <p:cNvSpPr txBox="1"/>
          <p:nvPr/>
        </p:nvSpPr>
        <p:spPr>
          <a:xfrm>
            <a:off x="822960" y="4553712"/>
            <a:ext cx="777240" cy="365760"/>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RQ4</a:t>
            </a:r>
          </a:p>
        </p:txBody>
      </p:sp>
      <p:sp>
        <p:nvSpPr>
          <p:cNvPr id="12" name="TextBox 11"/>
          <p:cNvSpPr txBox="1"/>
          <p:nvPr/>
        </p:nvSpPr>
        <p:spPr>
          <a:xfrm>
            <a:off x="1691640" y="4526280"/>
            <a:ext cx="9601200" cy="457200"/>
          </a:xfrm>
          <a:prstGeom prst="rect">
            <a:avLst/>
          </a:prstGeom>
          <a:noFill/>
        </p:spPr>
        <p:txBody>
          <a:bodyPr wrap="square" anchor="t" lIns="0" rIns="0" tIns="0" bIns="0">
            <a:spAutoFit/>
          </a:bodyPr>
          <a:lstStyle/>
          <a:p>
            <a:pPr algn="l">
              <a:lnSpc>
                <a:spcPct val="125000"/>
              </a:lnSpc>
              <a:spcAft>
                <a:spcPts val="0"/>
              </a:spcAft>
            </a:pPr>
            <a:r>
              <a:rPr sz="1650" b="0">
                <a:solidFill>
                  <a:srgbClr val="1A1D21"/>
                </a:solidFill>
                <a:latin typeface="Segoe UI"/>
              </a:rPr>
              <a:t>Where are the boundaries in table size and memory at which behaviour flips?</a:t>
            </a:r>
          </a:p>
        </p:txBody>
      </p:sp>
      <p:sp>
        <p:nvSpPr>
          <p:cNvPr id="13" name="TextBox 12"/>
          <p:cNvSpPr txBox="1"/>
          <p:nvPr/>
        </p:nvSpPr>
        <p:spPr>
          <a:xfrm>
            <a:off x="822960" y="5340096"/>
            <a:ext cx="777240" cy="365760"/>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RQ5</a:t>
            </a:r>
          </a:p>
        </p:txBody>
      </p:sp>
      <p:sp>
        <p:nvSpPr>
          <p:cNvPr id="14" name="TextBox 13"/>
          <p:cNvSpPr txBox="1"/>
          <p:nvPr/>
        </p:nvSpPr>
        <p:spPr>
          <a:xfrm>
            <a:off x="1691640" y="5312664"/>
            <a:ext cx="9601200" cy="457200"/>
          </a:xfrm>
          <a:prstGeom prst="rect">
            <a:avLst/>
          </a:prstGeom>
          <a:noFill/>
        </p:spPr>
        <p:txBody>
          <a:bodyPr wrap="square" anchor="t" lIns="0" rIns="0" tIns="0" bIns="0">
            <a:spAutoFit/>
          </a:bodyPr>
          <a:lstStyle/>
          <a:p>
            <a:pPr algn="l">
              <a:lnSpc>
                <a:spcPct val="125000"/>
              </a:lnSpc>
              <a:spcAft>
                <a:spcPts val="0"/>
              </a:spcAft>
            </a:pPr>
            <a:r>
              <a:rPr sz="1650" b="0">
                <a:solidFill>
                  <a:srgbClr val="1A1D21"/>
                </a:solidFill>
                <a:latin typeface="Segoe UI"/>
              </a:rPr>
              <a:t>Which findings are general to relational optimisers, and which belong to one product?</a:t>
            </a:r>
          </a:p>
        </p:txBody>
      </p:sp>
      <p:sp>
        <p:nvSpPr>
          <p:cNvPr id="15" name="TextBox 14"/>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spcAft>
                <a:spcPts val="0"/>
              </a:spcAft>
            </a:pPr>
            <a:r>
              <a:rPr sz="1050" b="0">
                <a:solidFill>
                  <a:srgbClr val="70757A"/>
                </a:solidFill>
                <a:latin typeface="Segoe UI"/>
              </a:rPr>
              <a:t>RQ5 is why the study covers two independently written database engines rather than one.</a:t>
            </a:r>
          </a:p>
        </p:txBody>
      </p:sp>
      <p:sp>
        <p:nvSpPr>
          <p:cNvPr id="16" name="TextBox 1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METHOD</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Generated data, one property at a time</a:t>
            </a:r>
          </a:p>
        </p:txBody>
      </p:sp>
      <p:sp>
        <p:nvSpPr>
          <p:cNvPr id="4" name="TextBox 3"/>
          <p:cNvSpPr txBox="1"/>
          <p:nvPr/>
        </p:nvSpPr>
        <p:spPr>
          <a:xfrm>
            <a:off x="822960" y="1828800"/>
            <a:ext cx="5212080" cy="2194560"/>
          </a:xfrm>
          <a:prstGeom prst="rect">
            <a:avLst/>
          </a:prstGeom>
          <a:noFill/>
        </p:spPr>
        <p:txBody>
          <a:bodyPr wrap="square" anchor="t" lIns="0" rIns="0" tIns="0" bIns="0">
            <a:spAutoFit/>
          </a:bodyPr>
          <a:lstStyle/>
          <a:p>
            <a:pPr algn="l">
              <a:lnSpc>
                <a:spcPct val="140000"/>
              </a:lnSpc>
              <a:spcAft>
                <a:spcPts val="0"/>
              </a:spcAft>
            </a:pPr>
            <a:r>
              <a:rPr sz="1500" b="1">
                <a:solidFill>
                  <a:srgbClr val="1A1D21"/>
                </a:solidFill>
                <a:latin typeface="Segoe UI"/>
              </a:rPr>
              <a:t>Why not TPC-H or a real dataset?</a:t>
            </a:r>
          </a:p>
          <a:p>
            <a:pPr algn="l">
              <a:lnSpc>
                <a:spcPct val="140000"/>
              </a:lnSpc>
              <a:spcAft>
                <a:spcPts val="0"/>
              </a:spcAft>
            </a:pPr>
            <a:r>
              <a:rPr sz="600" b="0">
                <a:solidFill>
                  <a:srgbClr val="1A1D21"/>
                </a:solidFill>
                <a:latin typeface="Segoe UI"/>
              </a:rPr>
              <a:t/>
            </a:r>
          </a:p>
          <a:p>
            <a:pPr algn="l">
              <a:lnSpc>
                <a:spcPct val="140000"/>
              </a:lnSpc>
              <a:spcAft>
                <a:spcPts val="0"/>
              </a:spcAft>
            </a:pPr>
            <a:r>
              <a:rPr sz="1500" b="0">
                <a:solidFill>
                  <a:srgbClr val="70757A"/>
                </a:solidFill>
                <a:latin typeface="Segoe UI"/>
              </a:rPr>
              <a:t>With a fixed dataset you cannot separate cause from coincidence, and you do not know the correct answer. Generating it means I control one property at a time and I know the true row count for every query, so I can say the planner was wrong rather than guess alongside it.</a:t>
            </a:r>
          </a:p>
        </p:txBody>
      </p:sp>
      <p:sp>
        <p:nvSpPr>
          <p:cNvPr id="5" name="TextBox 4"/>
          <p:cNvSpPr txBox="1"/>
          <p:nvPr/>
        </p:nvSpPr>
        <p:spPr>
          <a:xfrm>
            <a:off x="6492240" y="1874519"/>
            <a:ext cx="160020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Property varied</a:t>
            </a:r>
          </a:p>
        </p:txBody>
      </p:sp>
      <p:sp>
        <p:nvSpPr>
          <p:cNvPr id="6" name="TextBox 5"/>
          <p:cNvSpPr txBox="1"/>
          <p:nvPr/>
        </p:nvSpPr>
        <p:spPr>
          <a:xfrm>
            <a:off x="8275320" y="1874519"/>
            <a:ext cx="214884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Meaning</a:t>
            </a:r>
          </a:p>
        </p:txBody>
      </p:sp>
      <p:sp>
        <p:nvSpPr>
          <p:cNvPr id="7" name="TextBox 6"/>
          <p:cNvSpPr txBox="1"/>
          <p:nvPr/>
        </p:nvSpPr>
        <p:spPr>
          <a:xfrm>
            <a:off x="10607040" y="1874519"/>
            <a:ext cx="50292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Levels</a:t>
            </a:r>
          </a:p>
        </p:txBody>
      </p:sp>
      <p:sp>
        <p:nvSpPr>
          <p:cNvPr id="8" name="Rectangle 7"/>
          <p:cNvSpPr/>
          <p:nvPr/>
        </p:nvSpPr>
        <p:spPr>
          <a:xfrm>
            <a:off x="6400800" y="2176271"/>
            <a:ext cx="480060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322575"/>
            <a:ext cx="1600200" cy="310896"/>
          </a:xfrm>
          <a:prstGeom prst="rect">
            <a:avLst/>
          </a:prstGeom>
          <a:noFill/>
        </p:spPr>
        <p:txBody>
          <a:bodyPr wrap="square" anchor="t" lIns="0" rIns="0" tIns="0" bIns="0">
            <a:spAutoFit/>
          </a:bodyPr>
          <a:lstStyle/>
          <a:p>
            <a:pPr algn="l">
              <a:lnSpc>
                <a:spcPct val="100000"/>
              </a:lnSpc>
              <a:spcAft>
                <a:spcPts val="0"/>
              </a:spcAft>
            </a:pPr>
            <a:r>
              <a:rPr sz="1250" b="0">
                <a:solidFill>
                  <a:srgbClr val="1A1D21"/>
                </a:solidFill>
                <a:latin typeface="Segoe UI"/>
              </a:rPr>
              <a:t>Value skew</a:t>
            </a:r>
          </a:p>
        </p:txBody>
      </p:sp>
      <p:sp>
        <p:nvSpPr>
          <p:cNvPr id="10" name="TextBox 9"/>
          <p:cNvSpPr txBox="1"/>
          <p:nvPr/>
        </p:nvSpPr>
        <p:spPr>
          <a:xfrm>
            <a:off x="8275320" y="2322575"/>
            <a:ext cx="2148840" cy="310896"/>
          </a:xfrm>
          <a:prstGeom prst="rect">
            <a:avLst/>
          </a:prstGeom>
          <a:noFill/>
        </p:spPr>
        <p:txBody>
          <a:bodyPr wrap="square" anchor="t" lIns="0" rIns="0" tIns="0" bIns="0">
            <a:spAutoFit/>
          </a:bodyPr>
          <a:lstStyle/>
          <a:p>
            <a:pPr algn="l">
              <a:lnSpc>
                <a:spcPct val="100000"/>
              </a:lnSpc>
              <a:spcAft>
                <a:spcPts val="0"/>
              </a:spcAft>
            </a:pPr>
            <a:r>
              <a:rPr sz="1250" b="0">
                <a:solidFill>
                  <a:srgbClr val="1A1D21"/>
                </a:solidFill>
                <a:latin typeface="Segoe UI"/>
              </a:rPr>
              <a:t>Zipfian, some values dominate</a:t>
            </a:r>
          </a:p>
        </p:txBody>
      </p:sp>
      <p:sp>
        <p:nvSpPr>
          <p:cNvPr id="11" name="TextBox 10"/>
          <p:cNvSpPr txBox="1"/>
          <p:nvPr/>
        </p:nvSpPr>
        <p:spPr>
          <a:xfrm>
            <a:off x="10607040" y="2322575"/>
            <a:ext cx="502920" cy="310896"/>
          </a:xfrm>
          <a:prstGeom prst="rect">
            <a:avLst/>
          </a:prstGeom>
          <a:noFill/>
        </p:spPr>
        <p:txBody>
          <a:bodyPr wrap="square" anchor="t" lIns="0" rIns="0" tIns="0" bIns="0">
            <a:spAutoFit/>
          </a:bodyPr>
          <a:lstStyle/>
          <a:p>
            <a:pPr algn="r">
              <a:lnSpc>
                <a:spcPct val="100000"/>
              </a:lnSpc>
              <a:spcAft>
                <a:spcPts val="0"/>
              </a:spcAft>
            </a:pPr>
            <a:r>
              <a:rPr sz="1250" b="0">
                <a:solidFill>
                  <a:srgbClr val="1A1D21"/>
                </a:solidFill>
                <a:latin typeface="Segoe UI"/>
              </a:rPr>
              <a:t>4</a:t>
            </a:r>
          </a:p>
        </p:txBody>
      </p:sp>
      <p:sp>
        <p:nvSpPr>
          <p:cNvPr id="12" name="Rectangle 11"/>
          <p:cNvSpPr/>
          <p:nvPr/>
        </p:nvSpPr>
        <p:spPr>
          <a:xfrm>
            <a:off x="6400800" y="2615183"/>
            <a:ext cx="48006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706623"/>
            <a:ext cx="1600200" cy="310896"/>
          </a:xfrm>
          <a:prstGeom prst="rect">
            <a:avLst/>
          </a:prstGeom>
          <a:noFill/>
        </p:spPr>
        <p:txBody>
          <a:bodyPr wrap="square" anchor="t" lIns="0" rIns="0" tIns="0" bIns="0">
            <a:spAutoFit/>
          </a:bodyPr>
          <a:lstStyle/>
          <a:p>
            <a:pPr algn="l">
              <a:lnSpc>
                <a:spcPct val="100000"/>
              </a:lnSpc>
              <a:spcAft>
                <a:spcPts val="0"/>
              </a:spcAft>
            </a:pPr>
            <a:r>
              <a:rPr sz="1250" b="0">
                <a:solidFill>
                  <a:srgbClr val="1A1D21"/>
                </a:solidFill>
                <a:latin typeface="Segoe UI"/>
              </a:rPr>
              <a:t>Predicate correlation</a:t>
            </a:r>
          </a:p>
        </p:txBody>
      </p:sp>
      <p:sp>
        <p:nvSpPr>
          <p:cNvPr id="14" name="TextBox 13"/>
          <p:cNvSpPr txBox="1"/>
          <p:nvPr/>
        </p:nvSpPr>
        <p:spPr>
          <a:xfrm>
            <a:off x="8275320" y="2706623"/>
            <a:ext cx="2148840" cy="310896"/>
          </a:xfrm>
          <a:prstGeom prst="rect">
            <a:avLst/>
          </a:prstGeom>
          <a:noFill/>
        </p:spPr>
        <p:txBody>
          <a:bodyPr wrap="square" anchor="t" lIns="0" rIns="0" tIns="0" bIns="0">
            <a:spAutoFit/>
          </a:bodyPr>
          <a:lstStyle/>
          <a:p>
            <a:pPr algn="l">
              <a:lnSpc>
                <a:spcPct val="100000"/>
              </a:lnSpc>
              <a:spcAft>
                <a:spcPts val="0"/>
              </a:spcAft>
            </a:pPr>
            <a:r>
              <a:rPr sz="1250" b="0">
                <a:solidFill>
                  <a:srgbClr val="1A1D21"/>
                </a:solidFill>
                <a:latin typeface="Segoe UI"/>
              </a:rPr>
              <a:t>Two columns move together</a:t>
            </a:r>
          </a:p>
        </p:txBody>
      </p:sp>
      <p:sp>
        <p:nvSpPr>
          <p:cNvPr id="15" name="TextBox 14"/>
          <p:cNvSpPr txBox="1"/>
          <p:nvPr/>
        </p:nvSpPr>
        <p:spPr>
          <a:xfrm>
            <a:off x="10607040" y="2706623"/>
            <a:ext cx="502920" cy="310896"/>
          </a:xfrm>
          <a:prstGeom prst="rect">
            <a:avLst/>
          </a:prstGeom>
          <a:noFill/>
        </p:spPr>
        <p:txBody>
          <a:bodyPr wrap="square" anchor="t" lIns="0" rIns="0" tIns="0" bIns="0">
            <a:spAutoFit/>
          </a:bodyPr>
          <a:lstStyle/>
          <a:p>
            <a:pPr algn="r">
              <a:lnSpc>
                <a:spcPct val="100000"/>
              </a:lnSpc>
              <a:spcAft>
                <a:spcPts val="0"/>
              </a:spcAft>
            </a:pPr>
            <a:r>
              <a:rPr sz="1250" b="0">
                <a:solidFill>
                  <a:srgbClr val="1A1D21"/>
                </a:solidFill>
                <a:latin typeface="Segoe UI"/>
              </a:rPr>
              <a:t>5</a:t>
            </a:r>
          </a:p>
        </p:txBody>
      </p:sp>
      <p:sp>
        <p:nvSpPr>
          <p:cNvPr id="16" name="Rectangle 15"/>
          <p:cNvSpPr/>
          <p:nvPr/>
        </p:nvSpPr>
        <p:spPr>
          <a:xfrm>
            <a:off x="6400800" y="2999231"/>
            <a:ext cx="48006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090671"/>
            <a:ext cx="1600200" cy="310896"/>
          </a:xfrm>
          <a:prstGeom prst="rect">
            <a:avLst/>
          </a:prstGeom>
          <a:noFill/>
        </p:spPr>
        <p:txBody>
          <a:bodyPr wrap="square" anchor="t" lIns="0" rIns="0" tIns="0" bIns="0">
            <a:spAutoFit/>
          </a:bodyPr>
          <a:lstStyle/>
          <a:p>
            <a:pPr algn="l">
              <a:lnSpc>
                <a:spcPct val="100000"/>
              </a:lnSpc>
              <a:spcAft>
                <a:spcPts val="0"/>
              </a:spcAft>
            </a:pPr>
            <a:r>
              <a:rPr sz="1250" b="0">
                <a:solidFill>
                  <a:srgbClr val="1A1D21"/>
                </a:solidFill>
                <a:latin typeface="Segoe UI"/>
              </a:rPr>
              <a:t>Physical clustering</a:t>
            </a:r>
          </a:p>
        </p:txBody>
      </p:sp>
      <p:sp>
        <p:nvSpPr>
          <p:cNvPr id="18" name="TextBox 17"/>
          <p:cNvSpPr txBox="1"/>
          <p:nvPr/>
        </p:nvSpPr>
        <p:spPr>
          <a:xfrm>
            <a:off x="8275320" y="3090671"/>
            <a:ext cx="2148840" cy="310896"/>
          </a:xfrm>
          <a:prstGeom prst="rect">
            <a:avLst/>
          </a:prstGeom>
          <a:noFill/>
        </p:spPr>
        <p:txBody>
          <a:bodyPr wrap="square" anchor="t" lIns="0" rIns="0" tIns="0" bIns="0">
            <a:spAutoFit/>
          </a:bodyPr>
          <a:lstStyle/>
          <a:p>
            <a:pPr algn="l">
              <a:lnSpc>
                <a:spcPct val="100000"/>
              </a:lnSpc>
              <a:spcAft>
                <a:spcPts val="0"/>
              </a:spcAft>
            </a:pPr>
            <a:r>
              <a:rPr sz="1250" b="0">
                <a:solidFill>
                  <a:srgbClr val="1A1D21"/>
                </a:solidFill>
                <a:latin typeface="Segoe UI"/>
              </a:rPr>
              <a:t>Rows stored in value order</a:t>
            </a:r>
          </a:p>
        </p:txBody>
      </p:sp>
      <p:sp>
        <p:nvSpPr>
          <p:cNvPr id="19" name="TextBox 18"/>
          <p:cNvSpPr txBox="1"/>
          <p:nvPr/>
        </p:nvSpPr>
        <p:spPr>
          <a:xfrm>
            <a:off x="10607040" y="3090671"/>
            <a:ext cx="502920" cy="310896"/>
          </a:xfrm>
          <a:prstGeom prst="rect">
            <a:avLst/>
          </a:prstGeom>
          <a:noFill/>
        </p:spPr>
        <p:txBody>
          <a:bodyPr wrap="square" anchor="t" lIns="0" rIns="0" tIns="0" bIns="0">
            <a:spAutoFit/>
          </a:bodyPr>
          <a:lstStyle/>
          <a:p>
            <a:pPr algn="r">
              <a:lnSpc>
                <a:spcPct val="100000"/>
              </a:lnSpc>
              <a:spcAft>
                <a:spcPts val="0"/>
              </a:spcAft>
            </a:pPr>
            <a:r>
              <a:rPr sz="1250" b="0">
                <a:solidFill>
                  <a:srgbClr val="1A1D21"/>
                </a:solidFill>
                <a:latin typeface="Segoe UI"/>
              </a:rPr>
              <a:t>4</a:t>
            </a:r>
          </a:p>
        </p:txBody>
      </p:sp>
      <p:sp>
        <p:nvSpPr>
          <p:cNvPr id="20" name="Rectangle 19"/>
          <p:cNvSpPr/>
          <p:nvPr/>
        </p:nvSpPr>
        <p:spPr>
          <a:xfrm>
            <a:off x="6400800" y="3401567"/>
            <a:ext cx="480060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34340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617720"/>
            <a:ext cx="10545775" cy="1280160"/>
          </a:xfrm>
          <a:prstGeom prst="rect">
            <a:avLst/>
          </a:prstGeom>
          <a:noFill/>
        </p:spPr>
        <p:txBody>
          <a:bodyPr wrap="square" anchor="t" lIns="0" rIns="0" tIns="0" bIns="0">
            <a:spAutoFit/>
          </a:bodyPr>
          <a:lstStyle/>
          <a:p>
            <a:pPr algn="l">
              <a:lnSpc>
                <a:spcPct val="140000"/>
              </a:lnSpc>
              <a:spcAft>
                <a:spcPts val="0"/>
              </a:spcAft>
            </a:pPr>
            <a:r>
              <a:rPr sz="1500" b="1">
                <a:solidFill>
                  <a:srgbClr val="1A1D21"/>
                </a:solidFill>
                <a:latin typeface="Segoe UI"/>
              </a:rPr>
              <a:t>11 dataset configurations</a:t>
            </a:r>
            <a:r>
              <a:rPr sz="1500" b="0">
                <a:solidFill>
                  <a:srgbClr val="A8ACB0"/>
                </a:solidFill>
                <a:latin typeface="Segoe UI"/>
              </a:rPr>
              <a:t>  x  </a:t>
            </a:r>
            <a:r>
              <a:rPr sz="1500" b="1">
                <a:solidFill>
                  <a:srgbClr val="1A1D21"/>
                </a:solidFill>
                <a:latin typeface="Segoe UI"/>
              </a:rPr>
              <a:t>10 index configurations</a:t>
            </a:r>
            <a:r>
              <a:rPr sz="1500" b="0">
                <a:solidFill>
                  <a:srgbClr val="A8ACB0"/>
                </a:solidFill>
                <a:latin typeface="Segoe UI"/>
              </a:rPr>
              <a:t>  x  </a:t>
            </a:r>
            <a:r>
              <a:rPr sz="1500" b="1">
                <a:solidFill>
                  <a:srgbClr val="1A1D21"/>
                </a:solidFill>
                <a:latin typeface="Segoe UI"/>
              </a:rPr>
              <a:t>4 query families</a:t>
            </a:r>
            <a:r>
              <a:rPr sz="1500" b="0">
                <a:solidFill>
                  <a:srgbClr val="A8ACB0"/>
                </a:solidFill>
                <a:latin typeface="Segoe UI"/>
              </a:rPr>
              <a:t>  x  </a:t>
            </a:r>
            <a:r>
              <a:rPr sz="1500" b="1">
                <a:solidFill>
                  <a:srgbClr val="1A1D21"/>
                </a:solidFill>
                <a:latin typeface="Segoe UI"/>
              </a:rPr>
              <a:t>8 selectivity targets</a:t>
            </a:r>
          </a:p>
          <a:p>
            <a:pPr algn="l">
              <a:lnSpc>
                <a:spcPct val="140000"/>
              </a:lnSpc>
              <a:spcAft>
                <a:spcPts val="0"/>
              </a:spcAft>
            </a:pPr>
            <a:r>
              <a:rPr sz="700" b="0">
                <a:solidFill>
                  <a:srgbClr val="1A1D21"/>
                </a:solidFill>
                <a:latin typeface="Segoe UI"/>
              </a:rPr>
              <a:t/>
            </a:r>
          </a:p>
          <a:p>
            <a:pPr algn="l">
              <a:lnSpc>
                <a:spcPct val="140000"/>
              </a:lnSpc>
              <a:spcAft>
                <a:spcPts val="0"/>
              </a:spcAft>
            </a:pPr>
            <a:r>
              <a:rPr sz="1400" b="0">
                <a:solidFill>
                  <a:srgbClr val="70757A"/>
                </a:solidFill>
                <a:latin typeface="Segoe UI"/>
              </a:rPr>
              <a:t>Every query runs 7 times and the first is discarded. Parallelism and JIT are switched off, the buffer pool is pinned at 128 MB, and each run is seeded so it reproduces exactly.</a:t>
            </a:r>
          </a:p>
        </p:txBody>
      </p:sp>
      <p:sp>
        <p:nvSpPr>
          <p:cNvPr id="23" name="TextBox 22"/>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SCALE</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23,480 measurements</a:t>
            </a:r>
          </a:p>
        </p:txBody>
      </p:sp>
      <p:sp>
        <p:nvSpPr>
          <p:cNvPr id="4" name="TextBox 3"/>
          <p:cNvSpPr txBox="1"/>
          <p:nvPr/>
        </p:nvSpPr>
        <p:spPr>
          <a:xfrm>
            <a:off x="914400" y="1874519"/>
            <a:ext cx="256032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Table size</a:t>
            </a:r>
          </a:p>
        </p:txBody>
      </p:sp>
      <p:sp>
        <p:nvSpPr>
          <p:cNvPr id="5" name="TextBox 4"/>
          <p:cNvSpPr txBox="1"/>
          <p:nvPr/>
        </p:nvSpPr>
        <p:spPr>
          <a:xfrm>
            <a:off x="3657600" y="1874519"/>
            <a:ext cx="118872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Heap</a:t>
            </a:r>
          </a:p>
        </p:txBody>
      </p:sp>
      <p:sp>
        <p:nvSpPr>
          <p:cNvPr id="6" name="TextBox 5"/>
          <p:cNvSpPr txBox="1"/>
          <p:nvPr/>
        </p:nvSpPr>
        <p:spPr>
          <a:xfrm>
            <a:off x="5029200" y="1874519"/>
            <a:ext cx="182880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PostgreSQL 17.1</a:t>
            </a:r>
          </a:p>
        </p:txBody>
      </p:sp>
      <p:sp>
        <p:nvSpPr>
          <p:cNvPr id="7" name="TextBox 6"/>
          <p:cNvSpPr txBox="1"/>
          <p:nvPr/>
        </p:nvSpPr>
        <p:spPr>
          <a:xfrm>
            <a:off x="7040880" y="1874519"/>
            <a:ext cx="182880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MariaDB 10.4.28</a:t>
            </a:r>
          </a:p>
        </p:txBody>
      </p:sp>
      <p:sp>
        <p:nvSpPr>
          <p:cNvPr id="8" name="Rectangle 7"/>
          <p:cNvSpPr/>
          <p:nvPr/>
        </p:nvSpPr>
        <p:spPr>
          <a:xfrm>
            <a:off x="822960" y="2176271"/>
            <a:ext cx="81381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22575"/>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1,000,000</a:t>
            </a:r>
          </a:p>
        </p:txBody>
      </p:sp>
      <p:sp>
        <p:nvSpPr>
          <p:cNvPr id="10" name="TextBox 9"/>
          <p:cNvSpPr txBox="1"/>
          <p:nvPr/>
        </p:nvSpPr>
        <p:spPr>
          <a:xfrm>
            <a:off x="3657600" y="2322575"/>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112 MB</a:t>
            </a:r>
          </a:p>
        </p:txBody>
      </p:sp>
      <p:sp>
        <p:nvSpPr>
          <p:cNvPr id="11" name="TextBox 10"/>
          <p:cNvSpPr txBox="1"/>
          <p:nvPr/>
        </p:nvSpPr>
        <p:spPr>
          <a:xfrm>
            <a:off x="5029200" y="2322575"/>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2,398</a:t>
            </a:r>
          </a:p>
        </p:txBody>
      </p:sp>
      <p:sp>
        <p:nvSpPr>
          <p:cNvPr id="12" name="TextBox 11"/>
          <p:cNvSpPr txBox="1"/>
          <p:nvPr/>
        </p:nvSpPr>
        <p:spPr>
          <a:xfrm>
            <a:off x="7040880" y="2322575"/>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1,232</a:t>
            </a:r>
          </a:p>
        </p:txBody>
      </p:sp>
      <p:sp>
        <p:nvSpPr>
          <p:cNvPr id="13" name="Rectangle 12"/>
          <p:cNvSpPr/>
          <p:nvPr/>
        </p:nvSpPr>
        <p:spPr>
          <a:xfrm>
            <a:off x="822960" y="2592323"/>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683763"/>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1,250,000</a:t>
            </a:r>
          </a:p>
        </p:txBody>
      </p:sp>
      <p:sp>
        <p:nvSpPr>
          <p:cNvPr id="15" name="TextBox 14"/>
          <p:cNvSpPr txBox="1"/>
          <p:nvPr/>
        </p:nvSpPr>
        <p:spPr>
          <a:xfrm>
            <a:off x="3657600" y="2683763"/>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140 MB</a:t>
            </a:r>
          </a:p>
        </p:txBody>
      </p:sp>
      <p:sp>
        <p:nvSpPr>
          <p:cNvPr id="16" name="TextBox 15"/>
          <p:cNvSpPr txBox="1"/>
          <p:nvPr/>
        </p:nvSpPr>
        <p:spPr>
          <a:xfrm>
            <a:off x="5029200" y="2683763"/>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654</a:t>
            </a:r>
          </a:p>
        </p:txBody>
      </p:sp>
      <p:sp>
        <p:nvSpPr>
          <p:cNvPr id="17" name="TextBox 16"/>
          <p:cNvSpPr txBox="1"/>
          <p:nvPr/>
        </p:nvSpPr>
        <p:spPr>
          <a:xfrm>
            <a:off x="7040880" y="2683763"/>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336</a:t>
            </a:r>
          </a:p>
        </p:txBody>
      </p:sp>
      <p:sp>
        <p:nvSpPr>
          <p:cNvPr id="18" name="Rectangle 17"/>
          <p:cNvSpPr/>
          <p:nvPr/>
        </p:nvSpPr>
        <p:spPr>
          <a:xfrm>
            <a:off x="822960" y="2953511"/>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044951"/>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1,500,000</a:t>
            </a:r>
          </a:p>
        </p:txBody>
      </p:sp>
      <p:sp>
        <p:nvSpPr>
          <p:cNvPr id="20" name="TextBox 19"/>
          <p:cNvSpPr txBox="1"/>
          <p:nvPr/>
        </p:nvSpPr>
        <p:spPr>
          <a:xfrm>
            <a:off x="3657600" y="3044951"/>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168 MB</a:t>
            </a:r>
          </a:p>
        </p:txBody>
      </p:sp>
      <p:sp>
        <p:nvSpPr>
          <p:cNvPr id="21" name="TextBox 20"/>
          <p:cNvSpPr txBox="1"/>
          <p:nvPr/>
        </p:nvSpPr>
        <p:spPr>
          <a:xfrm>
            <a:off x="5029200" y="3044951"/>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654</a:t>
            </a:r>
          </a:p>
        </p:txBody>
      </p:sp>
      <p:sp>
        <p:nvSpPr>
          <p:cNvPr id="22" name="TextBox 21"/>
          <p:cNvSpPr txBox="1"/>
          <p:nvPr/>
        </p:nvSpPr>
        <p:spPr>
          <a:xfrm>
            <a:off x="7040880" y="3044951"/>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336</a:t>
            </a:r>
          </a:p>
        </p:txBody>
      </p:sp>
      <p:sp>
        <p:nvSpPr>
          <p:cNvPr id="23" name="Rectangle 22"/>
          <p:cNvSpPr/>
          <p:nvPr/>
        </p:nvSpPr>
        <p:spPr>
          <a:xfrm>
            <a:off x="822960" y="3314699"/>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406139"/>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2,000,000</a:t>
            </a:r>
          </a:p>
        </p:txBody>
      </p:sp>
      <p:sp>
        <p:nvSpPr>
          <p:cNvPr id="25" name="TextBox 24"/>
          <p:cNvSpPr txBox="1"/>
          <p:nvPr/>
        </p:nvSpPr>
        <p:spPr>
          <a:xfrm>
            <a:off x="3657600" y="3406139"/>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223 MB</a:t>
            </a:r>
          </a:p>
        </p:txBody>
      </p:sp>
      <p:sp>
        <p:nvSpPr>
          <p:cNvPr id="26" name="TextBox 25"/>
          <p:cNvSpPr txBox="1"/>
          <p:nvPr/>
        </p:nvSpPr>
        <p:spPr>
          <a:xfrm>
            <a:off x="5029200" y="3406139"/>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654</a:t>
            </a:r>
          </a:p>
        </p:txBody>
      </p:sp>
      <p:sp>
        <p:nvSpPr>
          <p:cNvPr id="27" name="TextBox 26"/>
          <p:cNvSpPr txBox="1"/>
          <p:nvPr/>
        </p:nvSpPr>
        <p:spPr>
          <a:xfrm>
            <a:off x="7040880" y="3406139"/>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336</a:t>
            </a:r>
          </a:p>
        </p:txBody>
      </p:sp>
      <p:sp>
        <p:nvSpPr>
          <p:cNvPr id="28" name="Rectangle 27"/>
          <p:cNvSpPr/>
          <p:nvPr/>
        </p:nvSpPr>
        <p:spPr>
          <a:xfrm>
            <a:off x="822960" y="3675887"/>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767327"/>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3,000,000</a:t>
            </a:r>
          </a:p>
        </p:txBody>
      </p:sp>
      <p:sp>
        <p:nvSpPr>
          <p:cNvPr id="30" name="TextBox 29"/>
          <p:cNvSpPr txBox="1"/>
          <p:nvPr/>
        </p:nvSpPr>
        <p:spPr>
          <a:xfrm>
            <a:off x="3657600" y="3767327"/>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335 MB</a:t>
            </a:r>
          </a:p>
        </p:txBody>
      </p:sp>
      <p:sp>
        <p:nvSpPr>
          <p:cNvPr id="31" name="TextBox 30"/>
          <p:cNvSpPr txBox="1"/>
          <p:nvPr/>
        </p:nvSpPr>
        <p:spPr>
          <a:xfrm>
            <a:off x="5029200" y="3767327"/>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654</a:t>
            </a:r>
          </a:p>
        </p:txBody>
      </p:sp>
      <p:sp>
        <p:nvSpPr>
          <p:cNvPr id="32" name="TextBox 31"/>
          <p:cNvSpPr txBox="1"/>
          <p:nvPr/>
        </p:nvSpPr>
        <p:spPr>
          <a:xfrm>
            <a:off x="7040880" y="3767327"/>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336</a:t>
            </a:r>
          </a:p>
        </p:txBody>
      </p:sp>
      <p:sp>
        <p:nvSpPr>
          <p:cNvPr id="33" name="Rectangle 32"/>
          <p:cNvSpPr/>
          <p:nvPr/>
        </p:nvSpPr>
        <p:spPr>
          <a:xfrm>
            <a:off x="822960" y="4037075"/>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128515"/>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5,000,000</a:t>
            </a:r>
          </a:p>
        </p:txBody>
      </p:sp>
      <p:sp>
        <p:nvSpPr>
          <p:cNvPr id="35" name="TextBox 34"/>
          <p:cNvSpPr txBox="1"/>
          <p:nvPr/>
        </p:nvSpPr>
        <p:spPr>
          <a:xfrm>
            <a:off x="3657600" y="4128515"/>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558 MB</a:t>
            </a:r>
          </a:p>
        </p:txBody>
      </p:sp>
      <p:sp>
        <p:nvSpPr>
          <p:cNvPr id="36" name="TextBox 35"/>
          <p:cNvSpPr txBox="1"/>
          <p:nvPr/>
        </p:nvSpPr>
        <p:spPr>
          <a:xfrm>
            <a:off x="5029200" y="4128515"/>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654</a:t>
            </a:r>
          </a:p>
        </p:txBody>
      </p:sp>
      <p:sp>
        <p:nvSpPr>
          <p:cNvPr id="37" name="TextBox 36"/>
          <p:cNvSpPr txBox="1"/>
          <p:nvPr/>
        </p:nvSpPr>
        <p:spPr>
          <a:xfrm>
            <a:off x="7040880" y="4128515"/>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336</a:t>
            </a:r>
          </a:p>
        </p:txBody>
      </p:sp>
      <p:sp>
        <p:nvSpPr>
          <p:cNvPr id="38" name="Rectangle 37"/>
          <p:cNvSpPr/>
          <p:nvPr/>
        </p:nvSpPr>
        <p:spPr>
          <a:xfrm>
            <a:off x="822960" y="4398263"/>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489703"/>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10,000,000</a:t>
            </a:r>
          </a:p>
        </p:txBody>
      </p:sp>
      <p:sp>
        <p:nvSpPr>
          <p:cNvPr id="40" name="TextBox 39"/>
          <p:cNvSpPr txBox="1"/>
          <p:nvPr/>
        </p:nvSpPr>
        <p:spPr>
          <a:xfrm>
            <a:off x="3657600" y="4489703"/>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1,116 MB</a:t>
            </a:r>
          </a:p>
        </p:txBody>
      </p:sp>
      <p:sp>
        <p:nvSpPr>
          <p:cNvPr id="41" name="TextBox 40"/>
          <p:cNvSpPr txBox="1"/>
          <p:nvPr/>
        </p:nvSpPr>
        <p:spPr>
          <a:xfrm>
            <a:off x="5029200" y="4489703"/>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2,398</a:t>
            </a:r>
          </a:p>
        </p:txBody>
      </p:sp>
      <p:sp>
        <p:nvSpPr>
          <p:cNvPr id="42" name="TextBox 41"/>
          <p:cNvSpPr txBox="1"/>
          <p:nvPr/>
        </p:nvSpPr>
        <p:spPr>
          <a:xfrm>
            <a:off x="7040880" y="4489703"/>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1,232</a:t>
            </a:r>
          </a:p>
        </p:txBody>
      </p:sp>
      <p:sp>
        <p:nvSpPr>
          <p:cNvPr id="43" name="Rectangle 42"/>
          <p:cNvSpPr/>
          <p:nvPr/>
        </p:nvSpPr>
        <p:spPr>
          <a:xfrm>
            <a:off x="822960" y="4759451"/>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4850891"/>
            <a:ext cx="2560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Configuration sweeps</a:t>
            </a:r>
          </a:p>
        </p:txBody>
      </p:sp>
      <p:sp>
        <p:nvSpPr>
          <p:cNvPr id="45" name="TextBox 44"/>
          <p:cNvSpPr txBox="1"/>
          <p:nvPr/>
        </p:nvSpPr>
        <p:spPr>
          <a:xfrm>
            <a:off x="3657600" y="4850891"/>
            <a:ext cx="11887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
            </a:r>
          </a:p>
        </p:txBody>
      </p:sp>
      <p:sp>
        <p:nvSpPr>
          <p:cNvPr id="46" name="TextBox 45"/>
          <p:cNvSpPr txBox="1"/>
          <p:nvPr/>
        </p:nvSpPr>
        <p:spPr>
          <a:xfrm>
            <a:off x="5029200" y="4850891"/>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6,230</a:t>
            </a:r>
          </a:p>
        </p:txBody>
      </p:sp>
      <p:sp>
        <p:nvSpPr>
          <p:cNvPr id="47" name="TextBox 46"/>
          <p:cNvSpPr txBox="1"/>
          <p:nvPr/>
        </p:nvSpPr>
        <p:spPr>
          <a:xfrm>
            <a:off x="7040880" y="4850891"/>
            <a:ext cx="18288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5,040</a:t>
            </a:r>
          </a:p>
        </p:txBody>
      </p:sp>
      <p:sp>
        <p:nvSpPr>
          <p:cNvPr id="48" name="Rectangle 47"/>
          <p:cNvSpPr/>
          <p:nvPr/>
        </p:nvSpPr>
        <p:spPr>
          <a:xfrm>
            <a:off x="822960" y="5120639"/>
            <a:ext cx="81381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5212079"/>
            <a:ext cx="2560320" cy="310896"/>
          </a:xfrm>
          <a:prstGeom prst="rect">
            <a:avLst/>
          </a:prstGeom>
          <a:noFill/>
        </p:spPr>
        <p:txBody>
          <a:bodyPr wrap="square" anchor="t" lIns="0" rIns="0" tIns="0" bIns="0">
            <a:spAutoFit/>
          </a:bodyPr>
          <a:lstStyle/>
          <a:p>
            <a:pPr algn="l">
              <a:lnSpc>
                <a:spcPct val="100000"/>
              </a:lnSpc>
              <a:spcAft>
                <a:spcPts val="0"/>
              </a:spcAft>
            </a:pPr>
            <a:r>
              <a:rPr sz="1300" b="1">
                <a:solidFill>
                  <a:srgbClr val="1A1D21"/>
                </a:solidFill>
                <a:latin typeface="Segoe UI"/>
              </a:rPr>
              <a:t>Total</a:t>
            </a:r>
          </a:p>
        </p:txBody>
      </p:sp>
      <p:sp>
        <p:nvSpPr>
          <p:cNvPr id="50" name="TextBox 49"/>
          <p:cNvSpPr txBox="1"/>
          <p:nvPr/>
        </p:nvSpPr>
        <p:spPr>
          <a:xfrm>
            <a:off x="3657600" y="5212079"/>
            <a:ext cx="1188720" cy="310896"/>
          </a:xfrm>
          <a:prstGeom prst="rect">
            <a:avLst/>
          </a:prstGeom>
          <a:noFill/>
        </p:spPr>
        <p:txBody>
          <a:bodyPr wrap="square" anchor="t" lIns="0" rIns="0" tIns="0" bIns="0">
            <a:spAutoFit/>
          </a:bodyPr>
          <a:lstStyle/>
          <a:p>
            <a:pPr algn="r">
              <a:lnSpc>
                <a:spcPct val="100000"/>
              </a:lnSpc>
              <a:spcAft>
                <a:spcPts val="0"/>
              </a:spcAft>
            </a:pPr>
            <a:r>
              <a:rPr sz="1300" b="1">
                <a:solidFill>
                  <a:srgbClr val="1A1D21"/>
                </a:solidFill>
                <a:latin typeface="Segoe UI"/>
              </a:rPr>
              <a:t/>
            </a:r>
          </a:p>
        </p:txBody>
      </p:sp>
      <p:sp>
        <p:nvSpPr>
          <p:cNvPr id="51" name="TextBox 50"/>
          <p:cNvSpPr txBox="1"/>
          <p:nvPr/>
        </p:nvSpPr>
        <p:spPr>
          <a:xfrm>
            <a:off x="5029200" y="5212079"/>
            <a:ext cx="1828800" cy="310896"/>
          </a:xfrm>
          <a:prstGeom prst="rect">
            <a:avLst/>
          </a:prstGeom>
          <a:noFill/>
        </p:spPr>
        <p:txBody>
          <a:bodyPr wrap="square" anchor="t" lIns="0" rIns="0" tIns="0" bIns="0">
            <a:spAutoFit/>
          </a:bodyPr>
          <a:lstStyle/>
          <a:p>
            <a:pPr algn="r">
              <a:lnSpc>
                <a:spcPct val="100000"/>
              </a:lnSpc>
              <a:spcAft>
                <a:spcPts val="0"/>
              </a:spcAft>
            </a:pPr>
            <a:r>
              <a:rPr sz="1300" b="1">
                <a:solidFill>
                  <a:srgbClr val="1A1D21"/>
                </a:solidFill>
                <a:latin typeface="Segoe UI"/>
              </a:rPr>
              <a:t>14,296</a:t>
            </a:r>
          </a:p>
        </p:txBody>
      </p:sp>
      <p:sp>
        <p:nvSpPr>
          <p:cNvPr id="52" name="TextBox 51"/>
          <p:cNvSpPr txBox="1"/>
          <p:nvPr/>
        </p:nvSpPr>
        <p:spPr>
          <a:xfrm>
            <a:off x="7040880" y="5212079"/>
            <a:ext cx="1828800" cy="310896"/>
          </a:xfrm>
          <a:prstGeom prst="rect">
            <a:avLst/>
          </a:prstGeom>
          <a:noFill/>
        </p:spPr>
        <p:txBody>
          <a:bodyPr wrap="square" anchor="t" lIns="0" rIns="0" tIns="0" bIns="0">
            <a:spAutoFit/>
          </a:bodyPr>
          <a:lstStyle/>
          <a:p>
            <a:pPr algn="r">
              <a:lnSpc>
                <a:spcPct val="100000"/>
              </a:lnSpc>
              <a:spcAft>
                <a:spcPts val="0"/>
              </a:spcAft>
            </a:pPr>
            <a:r>
              <a:rPr sz="1300" b="1">
                <a:solidFill>
                  <a:srgbClr val="1A1D21"/>
                </a:solidFill>
                <a:latin typeface="Segoe UI"/>
              </a:rPr>
              <a:t>9,184</a:t>
            </a:r>
          </a:p>
        </p:txBody>
      </p:sp>
      <p:sp>
        <p:nvSpPr>
          <p:cNvPr id="53" name="Rectangle 52"/>
          <p:cNvSpPr/>
          <p:nvPr/>
        </p:nvSpPr>
        <p:spPr>
          <a:xfrm>
            <a:off x="822960" y="5500115"/>
            <a:ext cx="81381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44000" y="2194560"/>
            <a:ext cx="2377440" cy="3108960"/>
          </a:xfrm>
          <a:prstGeom prst="rect">
            <a:avLst/>
          </a:prstGeom>
          <a:noFill/>
        </p:spPr>
        <p:txBody>
          <a:bodyPr wrap="square" anchor="t" lIns="0" rIns="0" tIns="0" bIns="0">
            <a:spAutoFit/>
          </a:bodyPr>
          <a:lstStyle/>
          <a:p>
            <a:pPr algn="l">
              <a:lnSpc>
                <a:spcPct val="132000"/>
              </a:lnSpc>
              <a:spcAft>
                <a:spcPts val="0"/>
              </a:spcAft>
            </a:pPr>
            <a:r>
              <a:rPr sz="1350" b="0">
                <a:solidFill>
                  <a:srgbClr val="70757A"/>
                </a:solidFill>
                <a:latin typeface="Segoe UI"/>
              </a:rPr>
              <a:t>Both engines cover the</a:t>
            </a:r>
          </a:p>
          <a:p>
            <a:pPr algn="l">
              <a:lnSpc>
                <a:spcPct val="132000"/>
              </a:lnSpc>
              <a:spcAft>
                <a:spcPts val="0"/>
              </a:spcAft>
            </a:pPr>
            <a:r>
              <a:rPr sz="1350" b="0">
                <a:solidFill>
                  <a:srgbClr val="70757A"/>
                </a:solidFill>
                <a:latin typeface="Segoe UI"/>
              </a:rPr>
              <a:t>same seven table sizes,</a:t>
            </a:r>
          </a:p>
          <a:p>
            <a:pPr algn="l">
              <a:lnSpc>
                <a:spcPct val="132000"/>
              </a:lnSpc>
              <a:spcAft>
                <a:spcPts val="0"/>
              </a:spcAft>
            </a:pPr>
            <a:r>
              <a:rPr sz="1350" b="0">
                <a:solidFill>
                  <a:srgbClr val="70757A"/>
                </a:solidFill>
                <a:latin typeface="Segoe UI"/>
              </a:rPr>
              <a:t>so the comparison is</a:t>
            </a:r>
          </a:p>
          <a:p>
            <a:pPr algn="l">
              <a:lnSpc>
                <a:spcPct val="132000"/>
              </a:lnSpc>
              <a:spcAft>
                <a:spcPts val="0"/>
              </a:spcAft>
            </a:pPr>
            <a:r>
              <a:rPr sz="1350" b="0">
                <a:solidFill>
                  <a:srgbClr val="70757A"/>
                </a:solidFill>
                <a:latin typeface="Segoe UI"/>
              </a:rPr>
              <a:t>symmetric.</a:t>
            </a:r>
          </a:p>
          <a:p>
            <a:pPr algn="l">
              <a:lnSpc>
                <a:spcPct val="132000"/>
              </a:lnSpc>
              <a:spcAft>
                <a:spcPts val="0"/>
              </a:spcAft>
            </a:pPr>
            <a:r>
              <a:rPr sz="1000" b="0">
                <a:solidFill>
                  <a:srgbClr val="1A1D21"/>
                </a:solidFill>
                <a:latin typeface="Segoe UI"/>
              </a:rPr>
              <a:t/>
            </a:r>
          </a:p>
          <a:p>
            <a:pPr algn="l">
              <a:lnSpc>
                <a:spcPct val="132000"/>
              </a:lnSpc>
              <a:spcAft>
                <a:spcPts val="0"/>
              </a:spcAft>
            </a:pPr>
            <a:r>
              <a:rPr sz="1350" b="0">
                <a:solidFill>
                  <a:srgbClr val="70757A"/>
                </a:solidFill>
                <a:latin typeface="Segoe UI"/>
              </a:rPr>
              <a:t>Buffer pool held at</a:t>
            </a:r>
          </a:p>
          <a:p>
            <a:pPr algn="l">
              <a:lnSpc>
                <a:spcPct val="132000"/>
              </a:lnSpc>
              <a:spcAft>
                <a:spcPts val="0"/>
              </a:spcAft>
            </a:pPr>
            <a:r>
              <a:rPr sz="1350" b="0">
                <a:solidFill>
                  <a:srgbClr val="70757A"/>
                </a:solidFill>
                <a:latin typeface="Segoe UI"/>
              </a:rPr>
              <a:t>128 MB throughout, so</a:t>
            </a:r>
          </a:p>
          <a:p>
            <a:pPr algn="l">
              <a:lnSpc>
                <a:spcPct val="132000"/>
              </a:lnSpc>
              <a:spcAft>
                <a:spcPts val="0"/>
              </a:spcAft>
            </a:pPr>
            <a:r>
              <a:rPr sz="1350" b="0">
                <a:solidFill>
                  <a:srgbClr val="70757A"/>
                </a:solidFill>
                <a:latin typeface="Segoe UI"/>
              </a:rPr>
              <a:t>the memory boundary</a:t>
            </a:r>
          </a:p>
          <a:p>
            <a:pPr algn="l">
              <a:lnSpc>
                <a:spcPct val="132000"/>
              </a:lnSpc>
              <a:spcAft>
                <a:spcPts val="0"/>
              </a:spcAft>
            </a:pPr>
            <a:r>
              <a:rPr sz="1350" b="0">
                <a:solidFill>
                  <a:srgbClr val="70757A"/>
                </a:solidFill>
                <a:latin typeface="Segoe UI"/>
              </a:rPr>
              <a:t>falls between rows one</a:t>
            </a:r>
          </a:p>
          <a:p>
            <a:pPr algn="l">
              <a:lnSpc>
                <a:spcPct val="132000"/>
              </a:lnSpc>
              <a:spcAft>
                <a:spcPts val="0"/>
              </a:spcAft>
            </a:pPr>
            <a:r>
              <a:rPr sz="1350" b="0">
                <a:solidFill>
                  <a:srgbClr val="70757A"/>
                </a:solidFill>
                <a:latin typeface="Segoe UI"/>
              </a:rPr>
              <a:t>and two.</a:t>
            </a:r>
          </a:p>
        </p:txBody>
      </p:sp>
      <p:sp>
        <p:nvSpPr>
          <p:cNvPr id="55" name="TextBox 54"/>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spcAft>
                <a:spcPts val="0"/>
              </a:spcAft>
            </a:pPr>
            <a:r>
              <a:rPr sz="1050" b="0">
                <a:solidFill>
                  <a:srgbClr val="70757A"/>
                </a:solidFill>
                <a:latin typeface="Segoe UI"/>
              </a:rPr>
              <a:t>Runs are resumable per measurement. Two power cuts during collection cost no data.</a:t>
            </a:r>
          </a:p>
        </p:txBody>
      </p:sp>
      <p:sp>
        <p:nvSpPr>
          <p:cNvPr id="56" name="TextBox 5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THE METRIC</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Access-path regret</a:t>
            </a:r>
          </a:p>
        </p:txBody>
      </p:sp>
      <p:sp>
        <p:nvSpPr>
          <p:cNvPr id="4" name="TextBox 3"/>
          <p:cNvSpPr txBox="1"/>
          <p:nvPr/>
        </p:nvSpPr>
        <p:spPr>
          <a:xfrm>
            <a:off x="822960" y="1965960"/>
            <a:ext cx="7040880" cy="640080"/>
          </a:xfrm>
          <a:prstGeom prst="rect">
            <a:avLst/>
          </a:prstGeom>
          <a:noFill/>
        </p:spPr>
        <p:txBody>
          <a:bodyPr wrap="square" anchor="t" lIns="0" rIns="0" tIns="0" bIns="0">
            <a:spAutoFit/>
          </a:bodyPr>
          <a:lstStyle/>
          <a:p>
            <a:pPr algn="l">
              <a:lnSpc>
                <a:spcPct val="120000"/>
              </a:lnSpc>
              <a:spcAft>
                <a:spcPts val="0"/>
              </a:spcAft>
            </a:pPr>
            <a:r>
              <a:rPr sz="1600" b="0">
                <a:solidFill>
                  <a:srgbClr val="1F4E5F"/>
                </a:solidFill>
                <a:latin typeface="Georgia"/>
              </a:rPr>
              <a:t>R  =  time of the plan actually chosen  /  time of the fastest plan available</a:t>
            </a:r>
          </a:p>
        </p:txBody>
      </p:sp>
      <p:sp>
        <p:nvSpPr>
          <p:cNvPr id="5" name="Rectangle 4"/>
          <p:cNvSpPr/>
          <p:nvPr/>
        </p:nvSpPr>
        <p:spPr>
          <a:xfrm>
            <a:off x="822960" y="2788920"/>
            <a:ext cx="70408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063240"/>
            <a:ext cx="7040880" cy="2194560"/>
          </a:xfrm>
          <a:prstGeom prst="rect">
            <a:avLst/>
          </a:prstGeom>
          <a:noFill/>
        </p:spPr>
        <p:txBody>
          <a:bodyPr wrap="square" anchor="t" lIns="0" rIns="0" tIns="0" bIns="0">
            <a:spAutoFit/>
          </a:bodyPr>
          <a:lstStyle/>
          <a:p>
            <a:pPr algn="l">
              <a:lnSpc>
                <a:spcPct val="140000"/>
              </a:lnSpc>
              <a:spcAft>
                <a:spcPts val="0"/>
              </a:spcAft>
            </a:pPr>
            <a:r>
              <a:rPr sz="1600" b="1">
                <a:solidFill>
                  <a:srgbClr val="1A1D21"/>
                </a:solidFill>
                <a:latin typeface="Segoe UI"/>
              </a:rPr>
              <a:t>R = 1.0 means the database made the best choice it could.</a:t>
            </a:r>
          </a:p>
          <a:p>
            <a:pPr algn="l">
              <a:lnSpc>
                <a:spcPct val="140000"/>
              </a:lnSpc>
              <a:spcAft>
                <a:spcPts val="0"/>
              </a:spcAft>
            </a:pPr>
            <a:r>
              <a:rPr sz="700" b="0">
                <a:solidFill>
                  <a:srgbClr val="1A1D21"/>
                </a:solidFill>
                <a:latin typeface="Segoe UI"/>
              </a:rPr>
              <a:t/>
            </a:r>
          </a:p>
          <a:p>
            <a:pPr algn="l">
              <a:lnSpc>
                <a:spcPct val="140000"/>
              </a:lnSpc>
              <a:spcAft>
                <a:spcPts val="0"/>
              </a:spcAft>
            </a:pPr>
            <a:r>
              <a:rPr sz="1500" b="0">
                <a:solidFill>
                  <a:srgbClr val="70757A"/>
                </a:solidFill>
                <a:latin typeface="Segoe UI"/>
              </a:rPr>
              <a:t>The comparison is against plans the engine really had, forced one at a time by building each index configuration separately and re-running the same query. So this measures the decision, not the engine's raw speed.</a:t>
            </a:r>
          </a:p>
          <a:p>
            <a:pPr algn="l">
              <a:lnSpc>
                <a:spcPct val="140000"/>
              </a:lnSpc>
              <a:spcAft>
                <a:spcPts val="0"/>
              </a:spcAft>
            </a:pPr>
            <a:r>
              <a:rPr sz="700" b="0">
                <a:solidFill>
                  <a:srgbClr val="1A1D21"/>
                </a:solidFill>
                <a:latin typeface="Segoe UI"/>
              </a:rPr>
              <a:t/>
            </a:r>
          </a:p>
          <a:p>
            <a:pPr algn="l">
              <a:lnSpc>
                <a:spcPct val="140000"/>
              </a:lnSpc>
              <a:spcAft>
                <a:spcPts val="0"/>
              </a:spcAft>
            </a:pPr>
            <a:r>
              <a:rPr sz="1500" b="0">
                <a:solidFill>
                  <a:srgbClr val="70757A"/>
                </a:solidFill>
                <a:latin typeface="Segoe UI"/>
              </a:rPr>
              <a:t>Estimation quality is reported separately as q-error, the standard measure: the factor by which the row estimate misses the truth.</a:t>
            </a:r>
          </a:p>
        </p:txBody>
      </p:sp>
      <p:sp>
        <p:nvSpPr>
          <p:cNvPr id="7" name="TextBox 6"/>
          <p:cNvSpPr txBox="1"/>
          <p:nvPr/>
        </p:nvSpPr>
        <p:spPr>
          <a:xfrm>
            <a:off x="8321040" y="2148840"/>
            <a:ext cx="3017520" cy="1280160"/>
          </a:xfrm>
          <a:prstGeom prst="rect">
            <a:avLst/>
          </a:prstGeom>
          <a:noFill/>
        </p:spPr>
        <p:txBody>
          <a:bodyPr wrap="square" anchor="t" lIns="0" rIns="0" tIns="0" bIns="0">
            <a:spAutoFit/>
          </a:bodyPr>
          <a:lstStyle/>
          <a:p>
            <a:pPr algn="l">
              <a:lnSpc>
                <a:spcPct val="95000"/>
              </a:lnSpc>
              <a:spcAft>
                <a:spcPts val="0"/>
              </a:spcAft>
            </a:pPr>
            <a:r>
              <a:rPr sz="6200" b="0">
                <a:solidFill>
                  <a:srgbClr val="1F4E5F"/>
                </a:solidFill>
                <a:latin typeface="Georgia"/>
              </a:rPr>
              <a:t>1.0</a:t>
            </a:r>
          </a:p>
        </p:txBody>
      </p:sp>
      <p:sp>
        <p:nvSpPr>
          <p:cNvPr id="8" name="TextBox 7"/>
          <p:cNvSpPr txBox="1"/>
          <p:nvPr/>
        </p:nvSpPr>
        <p:spPr>
          <a:xfrm>
            <a:off x="8321040" y="3070860"/>
            <a:ext cx="3017520" cy="731520"/>
          </a:xfrm>
          <a:prstGeom prst="rect">
            <a:avLst/>
          </a:prstGeom>
          <a:noFill/>
        </p:spPr>
        <p:txBody>
          <a:bodyPr wrap="square" anchor="t" lIns="0" rIns="0" tIns="0" bIns="0">
            <a:spAutoFit/>
          </a:bodyPr>
          <a:lstStyle/>
          <a:p>
            <a:pPr algn="l">
              <a:lnSpc>
                <a:spcPct val="125000"/>
              </a:lnSpc>
              <a:spcAft>
                <a:spcPts val="0"/>
              </a:spcAft>
            </a:pPr>
            <a:r>
              <a:rPr sz="1250" b="0">
                <a:solidFill>
                  <a:srgbClr val="70757A"/>
                </a:solidFill>
                <a:latin typeface="Segoe UI"/>
              </a:rPr>
              <a:t>best choice available</a:t>
            </a:r>
          </a:p>
        </p:txBody>
      </p:sp>
      <p:sp>
        <p:nvSpPr>
          <p:cNvPr id="9" name="TextBox 8"/>
          <p:cNvSpPr txBox="1"/>
          <p:nvPr/>
        </p:nvSpPr>
        <p:spPr>
          <a:xfrm>
            <a:off x="8321040" y="3886200"/>
            <a:ext cx="3017520" cy="1280160"/>
          </a:xfrm>
          <a:prstGeom prst="rect">
            <a:avLst/>
          </a:prstGeom>
          <a:noFill/>
        </p:spPr>
        <p:txBody>
          <a:bodyPr wrap="square" anchor="t" lIns="0" rIns="0" tIns="0" bIns="0">
            <a:spAutoFit/>
          </a:bodyPr>
          <a:lstStyle/>
          <a:p>
            <a:pPr algn="l">
              <a:lnSpc>
                <a:spcPct val="95000"/>
              </a:lnSpc>
              <a:spcAft>
                <a:spcPts val="0"/>
              </a:spcAft>
            </a:pPr>
            <a:r>
              <a:rPr sz="6200" b="0">
                <a:solidFill>
                  <a:srgbClr val="A8322A"/>
                </a:solidFill>
                <a:latin typeface="Georgia"/>
              </a:rPr>
              <a:t>194x</a:t>
            </a:r>
          </a:p>
        </p:txBody>
      </p:sp>
      <p:sp>
        <p:nvSpPr>
          <p:cNvPr id="10" name="TextBox 9"/>
          <p:cNvSpPr txBox="1"/>
          <p:nvPr/>
        </p:nvSpPr>
        <p:spPr>
          <a:xfrm>
            <a:off x="8321040" y="4808220"/>
            <a:ext cx="3017520" cy="731520"/>
          </a:xfrm>
          <a:prstGeom prst="rect">
            <a:avLst/>
          </a:prstGeom>
          <a:noFill/>
        </p:spPr>
        <p:txBody>
          <a:bodyPr wrap="square" anchor="t" lIns="0" rIns="0" tIns="0" bIns="0">
            <a:spAutoFit/>
          </a:bodyPr>
          <a:lstStyle/>
          <a:p>
            <a:pPr algn="l">
              <a:lnSpc>
                <a:spcPct val="125000"/>
              </a:lnSpc>
              <a:spcAft>
                <a:spcPts val="0"/>
              </a:spcAft>
            </a:pPr>
            <a:r>
              <a:rPr sz="1250" b="0">
                <a:solidFill>
                  <a:srgbClr val="70757A"/>
                </a:solidFill>
                <a:latin typeface="Segoe UI"/>
              </a:rPr>
              <a:t>worst case I measured</a:t>
            </a:r>
          </a:p>
        </p:txBody>
      </p:sp>
      <p:sp>
        <p:nvSpPr>
          <p:cNvPr id="11" name="TextBox 10"/>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1  /  RQ1</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PostgreSQL is good at this. MariaDB much less so.</a:t>
            </a:r>
          </a:p>
        </p:txBody>
      </p:sp>
      <p:sp>
        <p:nvSpPr>
          <p:cNvPr id="4" name="TextBox 3"/>
          <p:cNvSpPr txBox="1"/>
          <p:nvPr/>
        </p:nvSpPr>
        <p:spPr>
          <a:xfrm>
            <a:off x="914400" y="1965960"/>
            <a:ext cx="246888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Database</a:t>
            </a:r>
          </a:p>
        </p:txBody>
      </p:sp>
      <p:sp>
        <p:nvSpPr>
          <p:cNvPr id="5" name="TextBox 4"/>
          <p:cNvSpPr txBox="1"/>
          <p:nvPr/>
        </p:nvSpPr>
        <p:spPr>
          <a:xfrm>
            <a:off x="3566160" y="1965960"/>
            <a:ext cx="105156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Queries</a:t>
            </a:r>
          </a:p>
        </p:txBody>
      </p:sp>
      <p:sp>
        <p:nvSpPr>
          <p:cNvPr id="6" name="TextBox 5"/>
          <p:cNvSpPr txBox="1"/>
          <p:nvPr/>
        </p:nvSpPr>
        <p:spPr>
          <a:xfrm>
            <a:off x="4800600" y="1965960"/>
            <a:ext cx="128016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Chose badly</a:t>
            </a:r>
          </a:p>
        </p:txBody>
      </p:sp>
      <p:sp>
        <p:nvSpPr>
          <p:cNvPr id="7" name="TextBox 6"/>
          <p:cNvSpPr txBox="1"/>
          <p:nvPr/>
        </p:nvSpPr>
        <p:spPr>
          <a:xfrm>
            <a:off x="6263640" y="1965960"/>
            <a:ext cx="137160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Median regret</a:t>
            </a:r>
          </a:p>
        </p:txBody>
      </p:sp>
      <p:sp>
        <p:nvSpPr>
          <p:cNvPr id="8" name="TextBox 7"/>
          <p:cNvSpPr txBox="1"/>
          <p:nvPr/>
        </p:nvSpPr>
        <p:spPr>
          <a:xfrm>
            <a:off x="7818120" y="1965960"/>
            <a:ext cx="118872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Worst case</a:t>
            </a:r>
          </a:p>
        </p:txBody>
      </p:sp>
      <p:sp>
        <p:nvSpPr>
          <p:cNvPr id="9" name="Rectangle 8"/>
          <p:cNvSpPr/>
          <p:nvPr/>
        </p:nvSpPr>
        <p:spPr>
          <a:xfrm>
            <a:off x="822960" y="2267712"/>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14016"/>
            <a:ext cx="2468880" cy="310896"/>
          </a:xfrm>
          <a:prstGeom prst="rect">
            <a:avLst/>
          </a:prstGeom>
          <a:noFill/>
        </p:spPr>
        <p:txBody>
          <a:bodyPr wrap="square" anchor="t" lIns="0" rIns="0" tIns="0" bIns="0">
            <a:spAutoFit/>
          </a:bodyPr>
          <a:lstStyle/>
          <a:p>
            <a:pPr algn="l">
              <a:lnSpc>
                <a:spcPct val="100000"/>
              </a:lnSpc>
              <a:spcAft>
                <a:spcPts val="0"/>
              </a:spcAft>
            </a:pPr>
            <a:r>
              <a:rPr sz="1450" b="0">
                <a:solidFill>
                  <a:srgbClr val="1A1D21"/>
                </a:solidFill>
                <a:latin typeface="Segoe UI"/>
              </a:rPr>
              <a:t>PostgreSQL 17.1</a:t>
            </a:r>
          </a:p>
        </p:txBody>
      </p:sp>
      <p:sp>
        <p:nvSpPr>
          <p:cNvPr id="11" name="TextBox 10"/>
          <p:cNvSpPr txBox="1"/>
          <p:nvPr/>
        </p:nvSpPr>
        <p:spPr>
          <a:xfrm>
            <a:off x="3566160" y="2414016"/>
            <a:ext cx="105156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130</a:t>
            </a:r>
          </a:p>
        </p:txBody>
      </p:sp>
      <p:sp>
        <p:nvSpPr>
          <p:cNvPr id="12" name="TextBox 11"/>
          <p:cNvSpPr txBox="1"/>
          <p:nvPr/>
        </p:nvSpPr>
        <p:spPr>
          <a:xfrm>
            <a:off x="4800600" y="2414016"/>
            <a:ext cx="128016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2.3%</a:t>
            </a:r>
          </a:p>
        </p:txBody>
      </p:sp>
      <p:sp>
        <p:nvSpPr>
          <p:cNvPr id="13" name="TextBox 12"/>
          <p:cNvSpPr txBox="1"/>
          <p:nvPr/>
        </p:nvSpPr>
        <p:spPr>
          <a:xfrm>
            <a:off x="6263640" y="2414016"/>
            <a:ext cx="137160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1.01</a:t>
            </a:r>
          </a:p>
        </p:txBody>
      </p:sp>
      <p:sp>
        <p:nvSpPr>
          <p:cNvPr id="14" name="TextBox 13"/>
          <p:cNvSpPr txBox="1"/>
          <p:nvPr/>
        </p:nvSpPr>
        <p:spPr>
          <a:xfrm>
            <a:off x="7818120" y="2414016"/>
            <a:ext cx="118872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1.39</a:t>
            </a:r>
          </a:p>
        </p:txBody>
      </p:sp>
      <p:sp>
        <p:nvSpPr>
          <p:cNvPr id="15" name="Rectangle 14"/>
          <p:cNvSpPr/>
          <p:nvPr/>
        </p:nvSpPr>
        <p:spPr>
          <a:xfrm>
            <a:off x="822960" y="2761488"/>
            <a:ext cx="82753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852928"/>
            <a:ext cx="2468880" cy="310896"/>
          </a:xfrm>
          <a:prstGeom prst="rect">
            <a:avLst/>
          </a:prstGeom>
          <a:noFill/>
        </p:spPr>
        <p:txBody>
          <a:bodyPr wrap="square" anchor="t" lIns="0" rIns="0" tIns="0" bIns="0">
            <a:spAutoFit/>
          </a:bodyPr>
          <a:lstStyle/>
          <a:p>
            <a:pPr algn="l">
              <a:lnSpc>
                <a:spcPct val="100000"/>
              </a:lnSpc>
              <a:spcAft>
                <a:spcPts val="0"/>
              </a:spcAft>
            </a:pPr>
            <a:r>
              <a:rPr sz="1450" b="0">
                <a:solidFill>
                  <a:srgbClr val="1A1D21"/>
                </a:solidFill>
                <a:latin typeface="Segoe UI"/>
              </a:rPr>
              <a:t>MariaDB 10.4.28</a:t>
            </a:r>
          </a:p>
        </p:txBody>
      </p:sp>
      <p:sp>
        <p:nvSpPr>
          <p:cNvPr id="17" name="TextBox 16"/>
          <p:cNvSpPr txBox="1"/>
          <p:nvPr/>
        </p:nvSpPr>
        <p:spPr>
          <a:xfrm>
            <a:off x="3566160" y="2852928"/>
            <a:ext cx="105156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153</a:t>
            </a:r>
          </a:p>
        </p:txBody>
      </p:sp>
      <p:sp>
        <p:nvSpPr>
          <p:cNvPr id="18" name="TextBox 17"/>
          <p:cNvSpPr txBox="1"/>
          <p:nvPr/>
        </p:nvSpPr>
        <p:spPr>
          <a:xfrm>
            <a:off x="4800600" y="2852928"/>
            <a:ext cx="128016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66.0%</a:t>
            </a:r>
          </a:p>
        </p:txBody>
      </p:sp>
      <p:sp>
        <p:nvSpPr>
          <p:cNvPr id="19" name="TextBox 18"/>
          <p:cNvSpPr txBox="1"/>
          <p:nvPr/>
        </p:nvSpPr>
        <p:spPr>
          <a:xfrm>
            <a:off x="6263640" y="2852928"/>
            <a:ext cx="137160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1.34</a:t>
            </a:r>
          </a:p>
        </p:txBody>
      </p:sp>
      <p:sp>
        <p:nvSpPr>
          <p:cNvPr id="20" name="TextBox 19"/>
          <p:cNvSpPr txBox="1"/>
          <p:nvPr/>
        </p:nvSpPr>
        <p:spPr>
          <a:xfrm>
            <a:off x="7818120" y="2852928"/>
            <a:ext cx="118872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7.91</a:t>
            </a:r>
          </a:p>
        </p:txBody>
      </p:sp>
      <p:sp>
        <p:nvSpPr>
          <p:cNvPr id="21" name="Rectangle 20"/>
          <p:cNvSpPr/>
          <p:nvPr/>
        </p:nvSpPr>
        <p:spPr>
          <a:xfrm>
            <a:off x="822960" y="3218688"/>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3520440"/>
            <a:ext cx="827532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794760"/>
            <a:ext cx="5669280" cy="2194560"/>
          </a:xfrm>
          <a:prstGeom prst="rect">
            <a:avLst/>
          </a:prstGeom>
          <a:noFill/>
        </p:spPr>
        <p:txBody>
          <a:bodyPr wrap="square" anchor="t" lIns="0" rIns="0" tIns="0" bIns="0">
            <a:spAutoFit/>
          </a:bodyPr>
          <a:lstStyle/>
          <a:p>
            <a:pPr algn="l">
              <a:lnSpc>
                <a:spcPct val="138000"/>
              </a:lnSpc>
              <a:spcAft>
                <a:spcPts val="0"/>
              </a:spcAft>
            </a:pPr>
            <a:r>
              <a:rPr sz="1400" b="1">
                <a:solidFill>
                  <a:srgbClr val="A8322A"/>
                </a:solidFill>
                <a:latin typeface="Segoe UI"/>
              </a:rPr>
              <a:t>Why the difference is structural, not a tuning gap</a:t>
            </a:r>
          </a:p>
          <a:p>
            <a:pPr algn="l">
              <a:lnSpc>
                <a:spcPct val="138000"/>
              </a:lnSpc>
              <a:spcAft>
                <a:spcPts val="0"/>
              </a:spcAft>
            </a:pPr>
            <a:r>
              <a:rPr sz="600" b="0">
                <a:solidFill>
                  <a:srgbClr val="1A1D21"/>
                </a:solidFill>
                <a:latin typeface="Segoe UI"/>
              </a:rPr>
              <a:t/>
            </a:r>
          </a:p>
          <a:p>
            <a:pPr algn="l">
              <a:lnSpc>
                <a:spcPct val="138000"/>
              </a:lnSpc>
              <a:spcAft>
                <a:spcPts val="0"/>
              </a:spcAft>
            </a:pPr>
            <a:r>
              <a:rPr sz="1450" b="0">
                <a:solidFill>
                  <a:srgbClr val="70757A"/>
                </a:solidFill>
                <a:latin typeface="Segoe UI"/>
              </a:rPr>
              <a:t>PostgreSQL uses bitmap scans, which collect the matching row locations and sort them into disk order before fetching. MariaDB has no equivalent enabled, so it either performs a direct index lookup or falls back to scanning the whole table. It scanned the whole table for 66 queries where PostgreSQL never did once.</a:t>
            </a:r>
          </a:p>
        </p:txBody>
      </p:sp>
      <p:pic>
        <p:nvPicPr>
          <p:cNvPr id="24" name="Picture 23" descr="fig2_regret_by_selectivity.png"/>
          <p:cNvPicPr>
            <a:picLocks noChangeAspect="1"/>
          </p:cNvPicPr>
          <p:nvPr/>
        </p:nvPicPr>
        <p:blipFill>
          <a:blip r:embed="rId3"/>
          <a:stretch>
            <a:fillRect/>
          </a:stretch>
        </p:blipFill>
        <p:spPr>
          <a:xfrm>
            <a:off x="7137164" y="3657600"/>
            <a:ext cx="3647912" cy="2377440"/>
          </a:xfrm>
          <a:prstGeom prst="rect">
            <a:avLst/>
          </a:prstGeom>
        </p:spPr>
      </p:pic>
      <p:sp>
        <p:nvSpPr>
          <p:cNvPr id="25" name="TextBox 24"/>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spcAft>
                <a:spcPts val="0"/>
              </a:spcAft>
            </a:pPr>
            <a:r>
              <a:rPr sz="1050" b="0">
                <a:solidFill>
                  <a:srgbClr val="70757A"/>
                </a:solidFill>
                <a:latin typeface="Segoe UI"/>
              </a:rPr>
              <a:t>Left column: measured on 1,000,000 rows, identical data and queries on both engines.</a:t>
            </a:r>
          </a:p>
        </p:txBody>
      </p:sp>
      <p:sp>
        <p:nvSpPr>
          <p:cNvPr id="26" name="TextBox 2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2  /  RQ2</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The textbook explanation does not apply here</a:t>
            </a:r>
          </a:p>
        </p:txBody>
      </p:sp>
      <p:sp>
        <p:nvSpPr>
          <p:cNvPr id="4" name="TextBox 3"/>
          <p:cNvSpPr txBox="1"/>
          <p:nvPr/>
        </p:nvSpPr>
        <p:spPr>
          <a:xfrm>
            <a:off x="822960" y="2011680"/>
            <a:ext cx="4023360" cy="1280160"/>
          </a:xfrm>
          <a:prstGeom prst="rect">
            <a:avLst/>
          </a:prstGeom>
          <a:noFill/>
        </p:spPr>
        <p:txBody>
          <a:bodyPr wrap="square" anchor="t" lIns="0" rIns="0" tIns="0" bIns="0">
            <a:spAutoFit/>
          </a:bodyPr>
          <a:lstStyle/>
          <a:p>
            <a:pPr algn="l">
              <a:lnSpc>
                <a:spcPct val="95000"/>
              </a:lnSpc>
              <a:spcAft>
                <a:spcPts val="0"/>
              </a:spcAft>
            </a:pPr>
            <a:r>
              <a:rPr sz="7200" b="0">
                <a:solidFill>
                  <a:srgbClr val="A8322A"/>
                </a:solidFill>
                <a:latin typeface="Georgia"/>
              </a:rPr>
              <a:t>98.2%</a:t>
            </a:r>
          </a:p>
        </p:txBody>
      </p:sp>
      <p:sp>
        <p:nvSpPr>
          <p:cNvPr id="5" name="TextBox 4"/>
          <p:cNvSpPr txBox="1"/>
          <p:nvPr/>
        </p:nvSpPr>
        <p:spPr>
          <a:xfrm>
            <a:off x="822960" y="3063240"/>
            <a:ext cx="4023360" cy="731520"/>
          </a:xfrm>
          <a:prstGeom prst="rect">
            <a:avLst/>
          </a:prstGeom>
          <a:noFill/>
        </p:spPr>
        <p:txBody>
          <a:bodyPr wrap="square" anchor="t" lIns="0" rIns="0" tIns="0" bIns="0">
            <a:spAutoFit/>
          </a:bodyPr>
          <a:lstStyle/>
          <a:p>
            <a:pPr algn="l">
              <a:lnSpc>
                <a:spcPct val="125000"/>
              </a:lnSpc>
              <a:spcAft>
                <a:spcPts val="0"/>
              </a:spcAft>
            </a:pPr>
            <a:r>
              <a:rPr sz="1250" b="0">
                <a:solidFill>
                  <a:srgbClr val="70757A"/>
                </a:solidFill>
                <a:latin typeface="Segoe UI"/>
              </a:rPr>
              <a:t>of bad choices had an essentially
correct row estimate</a:t>
            </a:r>
          </a:p>
        </p:txBody>
      </p:sp>
      <p:sp>
        <p:nvSpPr>
          <p:cNvPr id="6" name="TextBox 5"/>
          <p:cNvSpPr txBox="1"/>
          <p:nvPr/>
        </p:nvSpPr>
        <p:spPr>
          <a:xfrm>
            <a:off x="914400" y="4206240"/>
            <a:ext cx="283464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
            </a:r>
          </a:p>
        </p:txBody>
      </p:sp>
      <p:sp>
        <p:nvSpPr>
          <p:cNvPr id="7" name="TextBox 6"/>
          <p:cNvSpPr txBox="1"/>
          <p:nvPr/>
        </p:nvSpPr>
        <p:spPr>
          <a:xfrm>
            <a:off x="3931920" y="4206240"/>
            <a:ext cx="82296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Value</a:t>
            </a:r>
          </a:p>
        </p:txBody>
      </p:sp>
      <p:sp>
        <p:nvSpPr>
          <p:cNvPr id="8" name="Rectangle 7"/>
          <p:cNvSpPr/>
          <p:nvPr/>
        </p:nvSpPr>
        <p:spPr>
          <a:xfrm>
            <a:off x="822960" y="4507992"/>
            <a:ext cx="4023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654296"/>
            <a:ext cx="283464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Bad choices examined</a:t>
            </a:r>
          </a:p>
        </p:txBody>
      </p:sp>
      <p:sp>
        <p:nvSpPr>
          <p:cNvPr id="10" name="TextBox 9"/>
          <p:cNvSpPr txBox="1"/>
          <p:nvPr/>
        </p:nvSpPr>
        <p:spPr>
          <a:xfrm>
            <a:off x="3931920" y="4654296"/>
            <a:ext cx="82296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113</a:t>
            </a:r>
          </a:p>
        </p:txBody>
      </p:sp>
      <p:sp>
        <p:nvSpPr>
          <p:cNvPr id="11" name="Rectangle 10"/>
          <p:cNvSpPr/>
          <p:nvPr/>
        </p:nvSpPr>
        <p:spPr>
          <a:xfrm>
            <a:off x="822960" y="4928616"/>
            <a:ext cx="4023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20056"/>
            <a:ext cx="283464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Median q-error among them</a:t>
            </a:r>
          </a:p>
        </p:txBody>
      </p:sp>
      <p:sp>
        <p:nvSpPr>
          <p:cNvPr id="13" name="TextBox 12"/>
          <p:cNvSpPr txBox="1"/>
          <p:nvPr/>
        </p:nvSpPr>
        <p:spPr>
          <a:xfrm>
            <a:off x="3931920" y="5020056"/>
            <a:ext cx="82296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1.017</a:t>
            </a:r>
          </a:p>
        </p:txBody>
      </p:sp>
      <p:sp>
        <p:nvSpPr>
          <p:cNvPr id="14" name="Rectangle 13"/>
          <p:cNvSpPr/>
          <p:nvPr/>
        </p:nvSpPr>
        <p:spPr>
          <a:xfrm>
            <a:off x="822960" y="5294376"/>
            <a:ext cx="4023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85816"/>
            <a:ext cx="283464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A perfect estimate</a:t>
            </a:r>
          </a:p>
        </p:txBody>
      </p:sp>
      <p:sp>
        <p:nvSpPr>
          <p:cNvPr id="16" name="TextBox 15"/>
          <p:cNvSpPr txBox="1"/>
          <p:nvPr/>
        </p:nvSpPr>
        <p:spPr>
          <a:xfrm>
            <a:off x="3931920" y="5385816"/>
            <a:ext cx="82296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1.000</a:t>
            </a:r>
          </a:p>
        </p:txBody>
      </p:sp>
      <p:sp>
        <p:nvSpPr>
          <p:cNvPr id="17" name="Rectangle 16"/>
          <p:cNvSpPr/>
          <p:nvPr/>
        </p:nvSpPr>
        <p:spPr>
          <a:xfrm>
            <a:off x="822960" y="5678424"/>
            <a:ext cx="4023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ig3_qerror_vs_regret.png"/>
          <p:cNvPicPr>
            <a:picLocks noChangeAspect="1"/>
          </p:cNvPicPr>
          <p:nvPr/>
        </p:nvPicPr>
        <p:blipFill>
          <a:blip r:embed="rId3"/>
          <a:stretch>
            <a:fillRect/>
          </a:stretch>
        </p:blipFill>
        <p:spPr>
          <a:xfrm>
            <a:off x="6858000" y="1783080"/>
            <a:ext cx="4480560" cy="3433871"/>
          </a:xfrm>
          <a:prstGeom prst="rect">
            <a:avLst/>
          </a:prstGeom>
        </p:spPr>
      </p:pic>
      <p:sp>
        <p:nvSpPr>
          <p:cNvPr id="19" name="TextBox 18"/>
          <p:cNvSpPr txBox="1"/>
          <p:nvPr/>
        </p:nvSpPr>
        <p:spPr>
          <a:xfrm>
            <a:off x="4617720" y="5760720"/>
            <a:ext cx="6949440" cy="822960"/>
          </a:xfrm>
          <a:prstGeom prst="rect">
            <a:avLst/>
          </a:prstGeom>
          <a:noFill/>
        </p:spPr>
        <p:txBody>
          <a:bodyPr wrap="square" anchor="t" lIns="0" rIns="0" tIns="0" bIns="0">
            <a:spAutoFit/>
          </a:bodyPr>
          <a:lstStyle/>
          <a:p>
            <a:pPr algn="l">
              <a:lnSpc>
                <a:spcPct val="130000"/>
              </a:lnSpc>
              <a:spcAft>
                <a:spcPts val="0"/>
              </a:spcAft>
            </a:pPr>
            <a:r>
              <a:rPr sz="1400" b="0">
                <a:solidFill>
                  <a:srgbClr val="70757A"/>
                </a:solidFill>
                <a:latin typeface="Segoe UI"/>
              </a:rPr>
              <a:t>The database knew the right numbers and chose badly anyway, so better statistics cannot be the remedy.</a:t>
            </a:r>
          </a:p>
        </p:txBody>
      </p:sp>
      <p:sp>
        <p:nvSpPr>
          <p:cNvPr id="20" name="TextBox 19"/>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92989E"/>
                </a:solidFill>
                <a:latin typeface="Segoe UI"/>
              </a:rPr>
              <a:t>FINDING 3  /  RQ3</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F2EFEA"/>
                </a:solidFill>
                <a:latin typeface="Georgia"/>
              </a:rPr>
              <a:t>Four recommended practices, measured</a:t>
            </a:r>
          </a:p>
        </p:txBody>
      </p:sp>
      <p:sp>
        <p:nvSpPr>
          <p:cNvPr id="4" name="Rectangle 3"/>
          <p:cNvSpPr/>
          <p:nvPr/>
        </p:nvSpPr>
        <p:spPr>
          <a:xfrm>
            <a:off x="822960" y="192024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3931920" cy="731520"/>
          </a:xfrm>
          <a:prstGeom prst="rect">
            <a:avLst/>
          </a:prstGeom>
          <a:noFill/>
        </p:spPr>
        <p:txBody>
          <a:bodyPr wrap="square" anchor="t" lIns="0" rIns="0" tIns="0" bIns="0">
            <a:spAutoFit/>
          </a:bodyPr>
          <a:lstStyle/>
          <a:p>
            <a:pPr algn="l">
              <a:lnSpc>
                <a:spcPct val="130000"/>
              </a:lnSpc>
              <a:spcAft>
                <a:spcPts val="0"/>
              </a:spcAft>
            </a:pPr>
            <a:r>
              <a:rPr sz="1600" b="1">
                <a:solidFill>
                  <a:srgbClr val="F2EFEA"/>
                </a:solidFill>
                <a:latin typeface="Segoe UI"/>
              </a:rPr>
              <a:t>Extended statistics</a:t>
            </a:r>
          </a:p>
          <a:p>
            <a:pPr algn="l">
              <a:lnSpc>
                <a:spcPct val="130000"/>
              </a:lnSpc>
              <a:spcAft>
                <a:spcPts val="0"/>
              </a:spcAft>
            </a:pPr>
            <a:r>
              <a:rPr sz="1250" b="0">
                <a:solidFill>
                  <a:srgbClr val="92989E"/>
                </a:solidFill>
                <a:latin typeface="Segoe UI"/>
              </a:rPr>
              <a:t>for correlated columns</a:t>
            </a:r>
          </a:p>
        </p:txBody>
      </p:sp>
      <p:sp>
        <p:nvSpPr>
          <p:cNvPr id="6" name="TextBox 5"/>
          <p:cNvSpPr txBox="1"/>
          <p:nvPr/>
        </p:nvSpPr>
        <p:spPr>
          <a:xfrm>
            <a:off x="5486400" y="2340864"/>
            <a:ext cx="5852160" cy="548640"/>
          </a:xfrm>
          <a:prstGeom prst="rect">
            <a:avLst/>
          </a:prstGeom>
          <a:noFill/>
        </p:spPr>
        <p:txBody>
          <a:bodyPr wrap="square" anchor="t" lIns="0" rIns="0" tIns="0" bIns="0">
            <a:spAutoFit/>
          </a:bodyPr>
          <a:lstStyle/>
          <a:p>
            <a:pPr algn="l">
              <a:lnSpc>
                <a:spcPct val="125000"/>
              </a:lnSpc>
              <a:spcAft>
                <a:spcPts val="0"/>
              </a:spcAft>
            </a:pPr>
            <a:r>
              <a:rPr sz="1500" b="0">
                <a:solidFill>
                  <a:srgbClr val="E27660"/>
                </a:solidFill>
                <a:latin typeface="Segoe UI"/>
              </a:rPr>
              <a:t>Fixes the estimate 108x. Makes the query 2.7x slower.</a:t>
            </a:r>
          </a:p>
        </p:txBody>
      </p:sp>
      <p:sp>
        <p:nvSpPr>
          <p:cNvPr id="7" name="Rectangle 6"/>
          <p:cNvSpPr/>
          <p:nvPr/>
        </p:nvSpPr>
        <p:spPr>
          <a:xfrm>
            <a:off x="822960" y="3072384"/>
            <a:ext cx="10545775" cy="9525"/>
          </a:xfrm>
          <a:prstGeom prst="rect">
            <a:avLst/>
          </a:prstGeom>
          <a:solidFill>
            <a:srgbClr val="282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218688"/>
            <a:ext cx="3931920" cy="731520"/>
          </a:xfrm>
          <a:prstGeom prst="rect">
            <a:avLst/>
          </a:prstGeom>
          <a:noFill/>
        </p:spPr>
        <p:txBody>
          <a:bodyPr wrap="square" anchor="t" lIns="0" rIns="0" tIns="0" bIns="0">
            <a:spAutoFit/>
          </a:bodyPr>
          <a:lstStyle/>
          <a:p>
            <a:pPr algn="l">
              <a:lnSpc>
                <a:spcPct val="130000"/>
              </a:lnSpc>
              <a:spcAft>
                <a:spcPts val="0"/>
              </a:spcAft>
            </a:pPr>
            <a:r>
              <a:rPr sz="1600" b="1">
                <a:solidFill>
                  <a:srgbClr val="F2EFEA"/>
                </a:solidFill>
                <a:latin typeface="Segoe UI"/>
              </a:rPr>
              <a:t>Lower random_page_cost</a:t>
            </a:r>
          </a:p>
          <a:p>
            <a:pPr algn="l">
              <a:lnSpc>
                <a:spcPct val="130000"/>
              </a:lnSpc>
              <a:spcAft>
                <a:spcPts val="0"/>
              </a:spcAft>
            </a:pPr>
            <a:r>
              <a:rPr sz="1250" b="0">
                <a:solidFill>
                  <a:srgbClr val="92989E"/>
                </a:solidFill>
                <a:latin typeface="Segoe UI"/>
              </a:rPr>
              <a:t>because the disk is an SSD</a:t>
            </a:r>
          </a:p>
        </p:txBody>
      </p:sp>
      <p:sp>
        <p:nvSpPr>
          <p:cNvPr id="9" name="TextBox 8"/>
          <p:cNvSpPr txBox="1"/>
          <p:nvPr/>
        </p:nvSpPr>
        <p:spPr>
          <a:xfrm>
            <a:off x="5486400" y="3273552"/>
            <a:ext cx="5852160" cy="548640"/>
          </a:xfrm>
          <a:prstGeom prst="rect">
            <a:avLst/>
          </a:prstGeom>
          <a:noFill/>
        </p:spPr>
        <p:txBody>
          <a:bodyPr wrap="square" anchor="t" lIns="0" rIns="0" tIns="0" bIns="0">
            <a:spAutoFit/>
          </a:bodyPr>
          <a:lstStyle/>
          <a:p>
            <a:pPr algn="l">
              <a:lnSpc>
                <a:spcPct val="125000"/>
              </a:lnSpc>
              <a:spcAft>
                <a:spcPts val="0"/>
              </a:spcAft>
            </a:pPr>
            <a:r>
              <a:rPr sz="1500" b="0">
                <a:solidFill>
                  <a:srgbClr val="E27660"/>
                </a:solidFill>
                <a:latin typeface="Segoe UI"/>
              </a:rPr>
              <a:t>The default is already within 6% of optimal. Lowering it is 2.3x worse.</a:t>
            </a:r>
          </a:p>
        </p:txBody>
      </p:sp>
      <p:sp>
        <p:nvSpPr>
          <p:cNvPr id="10" name="Rectangle 9"/>
          <p:cNvSpPr/>
          <p:nvPr/>
        </p:nvSpPr>
        <p:spPr>
          <a:xfrm>
            <a:off x="822960" y="4005072"/>
            <a:ext cx="10545775" cy="9525"/>
          </a:xfrm>
          <a:prstGeom prst="rect">
            <a:avLst/>
          </a:prstGeom>
          <a:solidFill>
            <a:srgbClr val="282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51376"/>
            <a:ext cx="3931920" cy="731520"/>
          </a:xfrm>
          <a:prstGeom prst="rect">
            <a:avLst/>
          </a:prstGeom>
          <a:noFill/>
        </p:spPr>
        <p:txBody>
          <a:bodyPr wrap="square" anchor="t" lIns="0" rIns="0" tIns="0" bIns="0">
            <a:spAutoFit/>
          </a:bodyPr>
          <a:lstStyle/>
          <a:p>
            <a:pPr algn="l">
              <a:lnSpc>
                <a:spcPct val="130000"/>
              </a:lnSpc>
              <a:spcAft>
                <a:spcPts val="0"/>
              </a:spcAft>
            </a:pPr>
            <a:r>
              <a:rPr sz="1600" b="1">
                <a:solidFill>
                  <a:srgbClr val="F2EFEA"/>
                </a:solidFill>
                <a:latin typeface="Segoe UI"/>
              </a:rPr>
              <a:t>Add a BRIN index</a:t>
            </a:r>
          </a:p>
          <a:p>
            <a:pPr algn="l">
              <a:lnSpc>
                <a:spcPct val="130000"/>
              </a:lnSpc>
              <a:spcAft>
                <a:spcPts val="0"/>
              </a:spcAft>
            </a:pPr>
            <a:r>
              <a:rPr sz="1250" b="0">
                <a:solidFill>
                  <a:srgbClr val="92989E"/>
                </a:solidFill>
                <a:latin typeface="Segoe UI"/>
              </a:rPr>
              <a:t>it is small and cheap</a:t>
            </a:r>
          </a:p>
        </p:txBody>
      </p:sp>
      <p:sp>
        <p:nvSpPr>
          <p:cNvPr id="12" name="TextBox 11"/>
          <p:cNvSpPr txBox="1"/>
          <p:nvPr/>
        </p:nvSpPr>
        <p:spPr>
          <a:xfrm>
            <a:off x="5486400" y="4206240"/>
            <a:ext cx="5852160" cy="548640"/>
          </a:xfrm>
          <a:prstGeom prst="rect">
            <a:avLst/>
          </a:prstGeom>
          <a:noFill/>
        </p:spPr>
        <p:txBody>
          <a:bodyPr wrap="square" anchor="t" lIns="0" rIns="0" tIns="0" bIns="0">
            <a:spAutoFit/>
          </a:bodyPr>
          <a:lstStyle/>
          <a:p>
            <a:pPr algn="l">
              <a:lnSpc>
                <a:spcPct val="125000"/>
              </a:lnSpc>
              <a:spcAft>
                <a:spcPts val="0"/>
              </a:spcAft>
            </a:pPr>
            <a:r>
              <a:rPr sz="1500" b="0">
                <a:solidFill>
                  <a:srgbClr val="E27660"/>
                </a:solidFill>
                <a:latin typeface="Segoe UI"/>
              </a:rPr>
              <a:t>Bad-choice rate goes from 2.3% to 73.3%. Worst case 194x.</a:t>
            </a:r>
          </a:p>
        </p:txBody>
      </p:sp>
      <p:sp>
        <p:nvSpPr>
          <p:cNvPr id="13" name="Rectangle 12"/>
          <p:cNvSpPr/>
          <p:nvPr/>
        </p:nvSpPr>
        <p:spPr>
          <a:xfrm>
            <a:off x="822960" y="4937760"/>
            <a:ext cx="10545775" cy="9525"/>
          </a:xfrm>
          <a:prstGeom prst="rect">
            <a:avLst/>
          </a:prstGeom>
          <a:solidFill>
            <a:srgbClr val="282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084064"/>
            <a:ext cx="3931920" cy="731520"/>
          </a:xfrm>
          <a:prstGeom prst="rect">
            <a:avLst/>
          </a:prstGeom>
          <a:noFill/>
        </p:spPr>
        <p:txBody>
          <a:bodyPr wrap="square" anchor="t" lIns="0" rIns="0" tIns="0" bIns="0">
            <a:spAutoFit/>
          </a:bodyPr>
          <a:lstStyle/>
          <a:p>
            <a:pPr algn="l">
              <a:lnSpc>
                <a:spcPct val="130000"/>
              </a:lnSpc>
              <a:spcAft>
                <a:spcPts val="0"/>
              </a:spcAft>
            </a:pPr>
            <a:r>
              <a:rPr sz="1600" b="1">
                <a:solidFill>
                  <a:srgbClr val="F2EFEA"/>
                </a:solidFill>
                <a:latin typeface="Segoe UI"/>
              </a:rPr>
              <a:t>Enable Multi-Range Read</a:t>
            </a:r>
          </a:p>
          <a:p>
            <a:pPr algn="l">
              <a:lnSpc>
                <a:spcPct val="130000"/>
              </a:lnSpc>
              <a:spcAft>
                <a:spcPts val="0"/>
              </a:spcAft>
            </a:pPr>
            <a:r>
              <a:rPr sz="1250" b="0">
                <a:solidFill>
                  <a:srgbClr val="92989E"/>
                </a:solidFill>
                <a:latin typeface="Segoe UI"/>
              </a:rPr>
              <a:t>MariaDB, ships switched off</a:t>
            </a:r>
          </a:p>
        </p:txBody>
      </p:sp>
      <p:sp>
        <p:nvSpPr>
          <p:cNvPr id="15" name="TextBox 14"/>
          <p:cNvSpPr txBox="1"/>
          <p:nvPr/>
        </p:nvSpPr>
        <p:spPr>
          <a:xfrm>
            <a:off x="5486400" y="5138928"/>
            <a:ext cx="5852160" cy="548640"/>
          </a:xfrm>
          <a:prstGeom prst="rect">
            <a:avLst/>
          </a:prstGeom>
          <a:noFill/>
        </p:spPr>
        <p:txBody>
          <a:bodyPr wrap="square" anchor="t" lIns="0" rIns="0" tIns="0" bIns="0">
            <a:spAutoFit/>
          </a:bodyPr>
          <a:lstStyle/>
          <a:p>
            <a:pPr algn="l">
              <a:lnSpc>
                <a:spcPct val="125000"/>
              </a:lnSpc>
              <a:spcAft>
                <a:spcPts val="0"/>
              </a:spcAft>
            </a:pPr>
            <a:r>
              <a:rPr sz="1500" b="0">
                <a:solidFill>
                  <a:srgbClr val="E27660"/>
                </a:solidFill>
                <a:latin typeface="Segoe UI"/>
              </a:rPr>
              <a:t>At the shipped buffer size the workload gets 7% slower.</a:t>
            </a:r>
          </a:p>
        </p:txBody>
      </p:sp>
      <p:sp>
        <p:nvSpPr>
          <p:cNvPr id="16" name="TextBox 1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4A505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3A</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Extended statistics fix the estimate and damage the plan</a:t>
            </a:r>
          </a:p>
        </p:txBody>
      </p:sp>
      <p:sp>
        <p:nvSpPr>
          <p:cNvPr id="4" name="TextBox 3"/>
          <p:cNvSpPr txBox="1"/>
          <p:nvPr/>
        </p:nvSpPr>
        <p:spPr>
          <a:xfrm>
            <a:off x="914400" y="1920240"/>
            <a:ext cx="118872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Correlation</a:t>
            </a:r>
          </a:p>
        </p:txBody>
      </p:sp>
      <p:sp>
        <p:nvSpPr>
          <p:cNvPr id="5" name="TextBox 4"/>
          <p:cNvSpPr txBox="1"/>
          <p:nvPr/>
        </p:nvSpPr>
        <p:spPr>
          <a:xfrm>
            <a:off x="2286000" y="1920240"/>
            <a:ext cx="150876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q-error without</a:t>
            </a:r>
          </a:p>
        </p:txBody>
      </p:sp>
      <p:sp>
        <p:nvSpPr>
          <p:cNvPr id="6" name="TextBox 5"/>
          <p:cNvSpPr txBox="1"/>
          <p:nvPr/>
        </p:nvSpPr>
        <p:spPr>
          <a:xfrm>
            <a:off x="3977640" y="1920240"/>
            <a:ext cx="68580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with</a:t>
            </a:r>
          </a:p>
        </p:txBody>
      </p:sp>
      <p:sp>
        <p:nvSpPr>
          <p:cNvPr id="7" name="TextBox 6"/>
          <p:cNvSpPr txBox="1"/>
          <p:nvPr/>
        </p:nvSpPr>
        <p:spPr>
          <a:xfrm>
            <a:off x="4846320" y="1920240"/>
            <a:ext cx="132588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Estimate</a:t>
            </a:r>
          </a:p>
        </p:txBody>
      </p:sp>
      <p:sp>
        <p:nvSpPr>
          <p:cNvPr id="8" name="TextBox 7"/>
          <p:cNvSpPr txBox="1"/>
          <p:nvPr/>
        </p:nvSpPr>
        <p:spPr>
          <a:xfrm>
            <a:off x="6355080" y="1920240"/>
            <a:ext cx="132588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Time without</a:t>
            </a:r>
          </a:p>
        </p:txBody>
      </p:sp>
      <p:sp>
        <p:nvSpPr>
          <p:cNvPr id="9" name="TextBox 8"/>
          <p:cNvSpPr txBox="1"/>
          <p:nvPr/>
        </p:nvSpPr>
        <p:spPr>
          <a:xfrm>
            <a:off x="7863840" y="1920240"/>
            <a:ext cx="96012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with</a:t>
            </a:r>
          </a:p>
        </p:txBody>
      </p:sp>
      <p:sp>
        <p:nvSpPr>
          <p:cNvPr id="10" name="TextBox 9"/>
          <p:cNvSpPr txBox="1"/>
          <p:nvPr/>
        </p:nvSpPr>
        <p:spPr>
          <a:xfrm>
            <a:off x="9006840" y="1920240"/>
            <a:ext cx="1691639"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Result</a:t>
            </a:r>
          </a:p>
        </p:txBody>
      </p:sp>
      <p:sp>
        <p:nvSpPr>
          <p:cNvPr id="11" name="Rectangle 10"/>
          <p:cNvSpPr/>
          <p:nvPr/>
        </p:nvSpPr>
        <p:spPr>
          <a:xfrm>
            <a:off x="822960" y="2221992"/>
            <a:ext cx="9966959"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368296"/>
            <a:ext cx="118872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0.25</a:t>
            </a:r>
          </a:p>
        </p:txBody>
      </p:sp>
      <p:sp>
        <p:nvSpPr>
          <p:cNvPr id="13" name="TextBox 12"/>
          <p:cNvSpPr txBox="1"/>
          <p:nvPr/>
        </p:nvSpPr>
        <p:spPr>
          <a:xfrm>
            <a:off x="2286000" y="2368296"/>
            <a:ext cx="150876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25.2</a:t>
            </a:r>
          </a:p>
        </p:txBody>
      </p:sp>
      <p:sp>
        <p:nvSpPr>
          <p:cNvPr id="14" name="TextBox 13"/>
          <p:cNvSpPr txBox="1"/>
          <p:nvPr/>
        </p:nvSpPr>
        <p:spPr>
          <a:xfrm>
            <a:off x="3977640" y="2368296"/>
            <a:ext cx="68580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1.11</a:t>
            </a:r>
          </a:p>
        </p:txBody>
      </p:sp>
      <p:sp>
        <p:nvSpPr>
          <p:cNvPr id="15" name="TextBox 14"/>
          <p:cNvSpPr txBox="1"/>
          <p:nvPr/>
        </p:nvSpPr>
        <p:spPr>
          <a:xfrm>
            <a:off x="4846320" y="236829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23x better</a:t>
            </a:r>
          </a:p>
        </p:txBody>
      </p:sp>
      <p:sp>
        <p:nvSpPr>
          <p:cNvPr id="16" name="TextBox 15"/>
          <p:cNvSpPr txBox="1"/>
          <p:nvPr/>
        </p:nvSpPr>
        <p:spPr>
          <a:xfrm>
            <a:off x="6355080" y="236829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0.93 ms</a:t>
            </a:r>
          </a:p>
        </p:txBody>
      </p:sp>
      <p:sp>
        <p:nvSpPr>
          <p:cNvPr id="17" name="TextBox 16"/>
          <p:cNvSpPr txBox="1"/>
          <p:nvPr/>
        </p:nvSpPr>
        <p:spPr>
          <a:xfrm>
            <a:off x="7863840" y="2368296"/>
            <a:ext cx="96012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2.54 ms</a:t>
            </a:r>
          </a:p>
        </p:txBody>
      </p:sp>
      <p:sp>
        <p:nvSpPr>
          <p:cNvPr id="18" name="TextBox 17"/>
          <p:cNvSpPr txBox="1"/>
          <p:nvPr/>
        </p:nvSpPr>
        <p:spPr>
          <a:xfrm>
            <a:off x="9006840" y="2368296"/>
            <a:ext cx="1691639"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2.7x slower</a:t>
            </a:r>
          </a:p>
        </p:txBody>
      </p:sp>
      <p:sp>
        <p:nvSpPr>
          <p:cNvPr id="19" name="Rectangle 18"/>
          <p:cNvSpPr/>
          <p:nvPr/>
        </p:nvSpPr>
        <p:spPr>
          <a:xfrm>
            <a:off x="822960" y="2642616"/>
            <a:ext cx="9966959"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34056"/>
            <a:ext cx="118872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0.50</a:t>
            </a:r>
          </a:p>
        </p:txBody>
      </p:sp>
      <p:sp>
        <p:nvSpPr>
          <p:cNvPr id="21" name="TextBox 20"/>
          <p:cNvSpPr txBox="1"/>
          <p:nvPr/>
        </p:nvSpPr>
        <p:spPr>
          <a:xfrm>
            <a:off x="2286000" y="2734056"/>
            <a:ext cx="150876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49.5</a:t>
            </a:r>
          </a:p>
        </p:txBody>
      </p:sp>
      <p:sp>
        <p:nvSpPr>
          <p:cNvPr id="22" name="TextBox 21"/>
          <p:cNvSpPr txBox="1"/>
          <p:nvPr/>
        </p:nvSpPr>
        <p:spPr>
          <a:xfrm>
            <a:off x="3977640" y="2734056"/>
            <a:ext cx="68580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1.04</a:t>
            </a:r>
          </a:p>
        </p:txBody>
      </p:sp>
      <p:sp>
        <p:nvSpPr>
          <p:cNvPr id="23" name="TextBox 22"/>
          <p:cNvSpPr txBox="1"/>
          <p:nvPr/>
        </p:nvSpPr>
        <p:spPr>
          <a:xfrm>
            <a:off x="4846320" y="273405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48x better</a:t>
            </a:r>
          </a:p>
        </p:txBody>
      </p:sp>
      <p:sp>
        <p:nvSpPr>
          <p:cNvPr id="24" name="TextBox 23"/>
          <p:cNvSpPr txBox="1"/>
          <p:nvPr/>
        </p:nvSpPr>
        <p:spPr>
          <a:xfrm>
            <a:off x="6355080" y="273405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2.12 ms</a:t>
            </a:r>
          </a:p>
        </p:txBody>
      </p:sp>
      <p:sp>
        <p:nvSpPr>
          <p:cNvPr id="25" name="TextBox 24"/>
          <p:cNvSpPr txBox="1"/>
          <p:nvPr/>
        </p:nvSpPr>
        <p:spPr>
          <a:xfrm>
            <a:off x="7863840" y="2734056"/>
            <a:ext cx="96012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3.53 ms</a:t>
            </a:r>
          </a:p>
        </p:txBody>
      </p:sp>
      <p:sp>
        <p:nvSpPr>
          <p:cNvPr id="26" name="TextBox 25"/>
          <p:cNvSpPr txBox="1"/>
          <p:nvPr/>
        </p:nvSpPr>
        <p:spPr>
          <a:xfrm>
            <a:off x="9006840" y="2734056"/>
            <a:ext cx="1691639"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1.7x slower</a:t>
            </a:r>
          </a:p>
        </p:txBody>
      </p:sp>
      <p:sp>
        <p:nvSpPr>
          <p:cNvPr id="27" name="Rectangle 26"/>
          <p:cNvSpPr/>
          <p:nvPr/>
        </p:nvSpPr>
        <p:spPr>
          <a:xfrm>
            <a:off x="822960" y="3008376"/>
            <a:ext cx="9966959"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099816"/>
            <a:ext cx="118872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0.75</a:t>
            </a:r>
          </a:p>
        </p:txBody>
      </p:sp>
      <p:sp>
        <p:nvSpPr>
          <p:cNvPr id="29" name="TextBox 28"/>
          <p:cNvSpPr txBox="1"/>
          <p:nvPr/>
        </p:nvSpPr>
        <p:spPr>
          <a:xfrm>
            <a:off x="2286000" y="3099816"/>
            <a:ext cx="150876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75.9</a:t>
            </a:r>
          </a:p>
        </p:txBody>
      </p:sp>
      <p:sp>
        <p:nvSpPr>
          <p:cNvPr id="30" name="TextBox 29"/>
          <p:cNvSpPr txBox="1"/>
          <p:nvPr/>
        </p:nvSpPr>
        <p:spPr>
          <a:xfrm>
            <a:off x="3977640" y="3099816"/>
            <a:ext cx="68580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1.02</a:t>
            </a:r>
          </a:p>
        </p:txBody>
      </p:sp>
      <p:sp>
        <p:nvSpPr>
          <p:cNvPr id="31" name="TextBox 30"/>
          <p:cNvSpPr txBox="1"/>
          <p:nvPr/>
        </p:nvSpPr>
        <p:spPr>
          <a:xfrm>
            <a:off x="4846320" y="309981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75x better</a:t>
            </a:r>
          </a:p>
        </p:txBody>
      </p:sp>
      <p:sp>
        <p:nvSpPr>
          <p:cNvPr id="32" name="TextBox 31"/>
          <p:cNvSpPr txBox="1"/>
          <p:nvPr/>
        </p:nvSpPr>
        <p:spPr>
          <a:xfrm>
            <a:off x="6355080" y="309981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2.80 ms</a:t>
            </a:r>
          </a:p>
        </p:txBody>
      </p:sp>
      <p:sp>
        <p:nvSpPr>
          <p:cNvPr id="33" name="TextBox 32"/>
          <p:cNvSpPr txBox="1"/>
          <p:nvPr/>
        </p:nvSpPr>
        <p:spPr>
          <a:xfrm>
            <a:off x="7863840" y="3099816"/>
            <a:ext cx="96012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4.34 ms</a:t>
            </a:r>
          </a:p>
        </p:txBody>
      </p:sp>
      <p:sp>
        <p:nvSpPr>
          <p:cNvPr id="34" name="TextBox 33"/>
          <p:cNvSpPr txBox="1"/>
          <p:nvPr/>
        </p:nvSpPr>
        <p:spPr>
          <a:xfrm>
            <a:off x="9006840" y="3099816"/>
            <a:ext cx="1691639"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1.6x slower</a:t>
            </a:r>
          </a:p>
        </p:txBody>
      </p:sp>
      <p:sp>
        <p:nvSpPr>
          <p:cNvPr id="35" name="Rectangle 34"/>
          <p:cNvSpPr/>
          <p:nvPr/>
        </p:nvSpPr>
        <p:spPr>
          <a:xfrm>
            <a:off x="822960" y="3374136"/>
            <a:ext cx="9966959"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3465576"/>
            <a:ext cx="118872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1.00</a:t>
            </a:r>
          </a:p>
        </p:txBody>
      </p:sp>
      <p:sp>
        <p:nvSpPr>
          <p:cNvPr id="37" name="TextBox 36"/>
          <p:cNvSpPr txBox="1"/>
          <p:nvPr/>
        </p:nvSpPr>
        <p:spPr>
          <a:xfrm>
            <a:off x="2286000" y="3465576"/>
            <a:ext cx="150876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113.2</a:t>
            </a:r>
          </a:p>
        </p:txBody>
      </p:sp>
      <p:sp>
        <p:nvSpPr>
          <p:cNvPr id="38" name="TextBox 37"/>
          <p:cNvSpPr txBox="1"/>
          <p:nvPr/>
        </p:nvSpPr>
        <p:spPr>
          <a:xfrm>
            <a:off x="3977640" y="3465576"/>
            <a:ext cx="68580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1.05</a:t>
            </a:r>
          </a:p>
        </p:txBody>
      </p:sp>
      <p:sp>
        <p:nvSpPr>
          <p:cNvPr id="39" name="TextBox 38"/>
          <p:cNvSpPr txBox="1"/>
          <p:nvPr/>
        </p:nvSpPr>
        <p:spPr>
          <a:xfrm>
            <a:off x="4846320" y="346557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108x better</a:t>
            </a:r>
          </a:p>
        </p:txBody>
      </p:sp>
      <p:sp>
        <p:nvSpPr>
          <p:cNvPr id="40" name="TextBox 39"/>
          <p:cNvSpPr txBox="1"/>
          <p:nvPr/>
        </p:nvSpPr>
        <p:spPr>
          <a:xfrm>
            <a:off x="6355080" y="3465576"/>
            <a:ext cx="132588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3.95 ms</a:t>
            </a:r>
          </a:p>
        </p:txBody>
      </p:sp>
      <p:sp>
        <p:nvSpPr>
          <p:cNvPr id="41" name="TextBox 40"/>
          <p:cNvSpPr txBox="1"/>
          <p:nvPr/>
        </p:nvSpPr>
        <p:spPr>
          <a:xfrm>
            <a:off x="7863840" y="3465576"/>
            <a:ext cx="96012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5.06 ms</a:t>
            </a:r>
          </a:p>
        </p:txBody>
      </p:sp>
      <p:sp>
        <p:nvSpPr>
          <p:cNvPr id="42" name="TextBox 41"/>
          <p:cNvSpPr txBox="1"/>
          <p:nvPr/>
        </p:nvSpPr>
        <p:spPr>
          <a:xfrm>
            <a:off x="9006840" y="3465576"/>
            <a:ext cx="1691639"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1.3x slower</a:t>
            </a:r>
          </a:p>
        </p:txBody>
      </p:sp>
      <p:sp>
        <p:nvSpPr>
          <p:cNvPr id="43" name="Rectangle 42"/>
          <p:cNvSpPr/>
          <p:nvPr/>
        </p:nvSpPr>
        <p:spPr>
          <a:xfrm>
            <a:off x="822960" y="3758184"/>
            <a:ext cx="9966959"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ig4_extended_statistics.png"/>
          <p:cNvPicPr>
            <a:picLocks noChangeAspect="1"/>
          </p:cNvPicPr>
          <p:nvPr/>
        </p:nvPicPr>
        <p:blipFill>
          <a:blip r:embed="rId3"/>
          <a:stretch>
            <a:fillRect/>
          </a:stretch>
        </p:blipFill>
        <p:spPr>
          <a:xfrm>
            <a:off x="3778472" y="3794760"/>
            <a:ext cx="4604575" cy="2240280"/>
          </a:xfrm>
          <a:prstGeom prst="rect">
            <a:avLst/>
          </a:prstGeom>
        </p:spPr>
      </p:pic>
      <p:sp>
        <p:nvSpPr>
          <p:cNvPr id="45" name="TextBox 44"/>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spcAft>
                <a:spcPts val="0"/>
              </a:spcAft>
            </a:pPr>
            <a:r>
              <a:rPr sz="1050" b="0">
                <a:solidFill>
                  <a:srgbClr val="70757A"/>
                </a:solidFill>
                <a:latin typeface="Segoe UI"/>
              </a:rPr>
              <a:t>The remedy does exactly what it claims to the estimate. The plan still gets worse at every level.</a:t>
            </a:r>
          </a:p>
        </p:txBody>
      </p:sp>
      <p:sp>
        <p:nvSpPr>
          <p:cNvPr id="46" name="TextBox 4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3B</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The default random_page_cost is already near optimal</a:t>
            </a:r>
          </a:p>
        </p:txBody>
      </p:sp>
      <p:sp>
        <p:nvSpPr>
          <p:cNvPr id="4" name="TextBox 3"/>
          <p:cNvSpPr txBox="1"/>
          <p:nvPr/>
        </p:nvSpPr>
        <p:spPr>
          <a:xfrm>
            <a:off x="914400" y="1920240"/>
            <a:ext cx="205740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Setting</a:t>
            </a:r>
          </a:p>
        </p:txBody>
      </p:sp>
      <p:sp>
        <p:nvSpPr>
          <p:cNvPr id="5" name="TextBox 4"/>
          <p:cNvSpPr txBox="1"/>
          <p:nvPr/>
        </p:nvSpPr>
        <p:spPr>
          <a:xfrm>
            <a:off x="3154680" y="1920240"/>
            <a:ext cx="160020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Total workload time</a:t>
            </a:r>
          </a:p>
        </p:txBody>
      </p:sp>
      <p:sp>
        <p:nvSpPr>
          <p:cNvPr id="6" name="TextBox 5"/>
          <p:cNvSpPr txBox="1"/>
          <p:nvPr/>
        </p:nvSpPr>
        <p:spPr>
          <a:xfrm>
            <a:off x="4937760" y="1920240"/>
            <a:ext cx="141732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Versus best</a:t>
            </a:r>
          </a:p>
        </p:txBody>
      </p:sp>
      <p:sp>
        <p:nvSpPr>
          <p:cNvPr id="7" name="Rectangle 6"/>
          <p:cNvSpPr/>
          <p:nvPr/>
        </p:nvSpPr>
        <p:spPr>
          <a:xfrm>
            <a:off x="822960" y="2221992"/>
            <a:ext cx="56235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68296"/>
            <a:ext cx="2057400" cy="310896"/>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1.0</a:t>
            </a:r>
          </a:p>
        </p:txBody>
      </p:sp>
      <p:sp>
        <p:nvSpPr>
          <p:cNvPr id="9" name="TextBox 8"/>
          <p:cNvSpPr txBox="1"/>
          <p:nvPr/>
        </p:nvSpPr>
        <p:spPr>
          <a:xfrm>
            <a:off x="3154680" y="2368296"/>
            <a:ext cx="160020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2,306 ms</a:t>
            </a:r>
          </a:p>
        </p:txBody>
      </p:sp>
      <p:sp>
        <p:nvSpPr>
          <p:cNvPr id="10" name="TextBox 9"/>
          <p:cNvSpPr txBox="1"/>
          <p:nvPr/>
        </p:nvSpPr>
        <p:spPr>
          <a:xfrm>
            <a:off x="4937760" y="2368296"/>
            <a:ext cx="141732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2.3x worse</a:t>
            </a:r>
          </a:p>
        </p:txBody>
      </p:sp>
      <p:sp>
        <p:nvSpPr>
          <p:cNvPr id="11" name="Rectangle 10"/>
          <p:cNvSpPr/>
          <p:nvPr/>
        </p:nvSpPr>
        <p:spPr>
          <a:xfrm>
            <a:off x="822960" y="2642616"/>
            <a:ext cx="56235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34056"/>
            <a:ext cx="205740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1.1</a:t>
            </a:r>
          </a:p>
        </p:txBody>
      </p:sp>
      <p:sp>
        <p:nvSpPr>
          <p:cNvPr id="13" name="TextBox 12"/>
          <p:cNvSpPr txBox="1"/>
          <p:nvPr/>
        </p:nvSpPr>
        <p:spPr>
          <a:xfrm>
            <a:off x="3154680" y="2734056"/>
            <a:ext cx="16002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1,954 ms</a:t>
            </a:r>
          </a:p>
        </p:txBody>
      </p:sp>
      <p:sp>
        <p:nvSpPr>
          <p:cNvPr id="14" name="TextBox 13"/>
          <p:cNvSpPr txBox="1"/>
          <p:nvPr/>
        </p:nvSpPr>
        <p:spPr>
          <a:xfrm>
            <a:off x="4937760" y="2734056"/>
            <a:ext cx="14173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1.9x worse</a:t>
            </a:r>
          </a:p>
        </p:txBody>
      </p:sp>
      <p:sp>
        <p:nvSpPr>
          <p:cNvPr id="15" name="Rectangle 14"/>
          <p:cNvSpPr/>
          <p:nvPr/>
        </p:nvSpPr>
        <p:spPr>
          <a:xfrm>
            <a:off x="822960" y="3008376"/>
            <a:ext cx="56235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099816"/>
            <a:ext cx="205740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1.2</a:t>
            </a:r>
          </a:p>
        </p:txBody>
      </p:sp>
      <p:sp>
        <p:nvSpPr>
          <p:cNvPr id="17" name="TextBox 16"/>
          <p:cNvSpPr txBox="1"/>
          <p:nvPr/>
        </p:nvSpPr>
        <p:spPr>
          <a:xfrm>
            <a:off x="3154680" y="3099816"/>
            <a:ext cx="16002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1,942 ms</a:t>
            </a:r>
          </a:p>
        </p:txBody>
      </p:sp>
      <p:sp>
        <p:nvSpPr>
          <p:cNvPr id="18" name="TextBox 17"/>
          <p:cNvSpPr txBox="1"/>
          <p:nvPr/>
        </p:nvSpPr>
        <p:spPr>
          <a:xfrm>
            <a:off x="4937760" y="3099816"/>
            <a:ext cx="14173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1.9x worse</a:t>
            </a:r>
          </a:p>
        </p:txBody>
      </p:sp>
      <p:sp>
        <p:nvSpPr>
          <p:cNvPr id="19" name="Rectangle 18"/>
          <p:cNvSpPr/>
          <p:nvPr/>
        </p:nvSpPr>
        <p:spPr>
          <a:xfrm>
            <a:off x="822960" y="3374136"/>
            <a:ext cx="56235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465576"/>
            <a:ext cx="205740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1.5</a:t>
            </a:r>
          </a:p>
        </p:txBody>
      </p:sp>
      <p:sp>
        <p:nvSpPr>
          <p:cNvPr id="21" name="TextBox 20"/>
          <p:cNvSpPr txBox="1"/>
          <p:nvPr/>
        </p:nvSpPr>
        <p:spPr>
          <a:xfrm>
            <a:off x="3154680" y="3465576"/>
            <a:ext cx="16002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1,006 ms</a:t>
            </a:r>
          </a:p>
        </p:txBody>
      </p:sp>
      <p:sp>
        <p:nvSpPr>
          <p:cNvPr id="22" name="TextBox 21"/>
          <p:cNvSpPr txBox="1"/>
          <p:nvPr/>
        </p:nvSpPr>
        <p:spPr>
          <a:xfrm>
            <a:off x="4937760" y="3465576"/>
            <a:ext cx="14173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best</a:t>
            </a:r>
          </a:p>
        </p:txBody>
      </p:sp>
      <p:sp>
        <p:nvSpPr>
          <p:cNvPr id="23" name="Rectangle 22"/>
          <p:cNvSpPr/>
          <p:nvPr/>
        </p:nvSpPr>
        <p:spPr>
          <a:xfrm>
            <a:off x="822960" y="3739896"/>
            <a:ext cx="56235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831336"/>
            <a:ext cx="205740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2.0</a:t>
            </a:r>
          </a:p>
        </p:txBody>
      </p:sp>
      <p:sp>
        <p:nvSpPr>
          <p:cNvPr id="25" name="TextBox 24"/>
          <p:cNvSpPr txBox="1"/>
          <p:nvPr/>
        </p:nvSpPr>
        <p:spPr>
          <a:xfrm>
            <a:off x="3154680" y="3831336"/>
            <a:ext cx="16002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1,053 ms</a:t>
            </a:r>
          </a:p>
        </p:txBody>
      </p:sp>
      <p:sp>
        <p:nvSpPr>
          <p:cNvPr id="26" name="TextBox 25"/>
          <p:cNvSpPr txBox="1"/>
          <p:nvPr/>
        </p:nvSpPr>
        <p:spPr>
          <a:xfrm>
            <a:off x="4937760" y="3831336"/>
            <a:ext cx="14173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equal</a:t>
            </a:r>
          </a:p>
        </p:txBody>
      </p:sp>
      <p:sp>
        <p:nvSpPr>
          <p:cNvPr id="27" name="Rectangle 26"/>
          <p:cNvSpPr/>
          <p:nvPr/>
        </p:nvSpPr>
        <p:spPr>
          <a:xfrm>
            <a:off x="822960" y="4105656"/>
            <a:ext cx="56235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197096"/>
            <a:ext cx="205740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3.0</a:t>
            </a:r>
          </a:p>
        </p:txBody>
      </p:sp>
      <p:sp>
        <p:nvSpPr>
          <p:cNvPr id="29" name="TextBox 28"/>
          <p:cNvSpPr txBox="1"/>
          <p:nvPr/>
        </p:nvSpPr>
        <p:spPr>
          <a:xfrm>
            <a:off x="3154680" y="4197096"/>
            <a:ext cx="16002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1,053 ms</a:t>
            </a:r>
          </a:p>
        </p:txBody>
      </p:sp>
      <p:sp>
        <p:nvSpPr>
          <p:cNvPr id="30" name="TextBox 29"/>
          <p:cNvSpPr txBox="1"/>
          <p:nvPr/>
        </p:nvSpPr>
        <p:spPr>
          <a:xfrm>
            <a:off x="4937760" y="4197096"/>
            <a:ext cx="141732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equal</a:t>
            </a:r>
          </a:p>
        </p:txBody>
      </p:sp>
      <p:sp>
        <p:nvSpPr>
          <p:cNvPr id="31" name="Rectangle 30"/>
          <p:cNvSpPr/>
          <p:nvPr/>
        </p:nvSpPr>
        <p:spPr>
          <a:xfrm>
            <a:off x="822960" y="4471416"/>
            <a:ext cx="56235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562856"/>
            <a:ext cx="2057400" cy="310896"/>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4.0  (shipped default)</a:t>
            </a:r>
          </a:p>
        </p:txBody>
      </p:sp>
      <p:sp>
        <p:nvSpPr>
          <p:cNvPr id="33" name="TextBox 32"/>
          <p:cNvSpPr txBox="1"/>
          <p:nvPr/>
        </p:nvSpPr>
        <p:spPr>
          <a:xfrm>
            <a:off x="3154680" y="4562856"/>
            <a:ext cx="160020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1,068 ms</a:t>
            </a:r>
          </a:p>
        </p:txBody>
      </p:sp>
      <p:sp>
        <p:nvSpPr>
          <p:cNvPr id="34" name="TextBox 33"/>
          <p:cNvSpPr txBox="1"/>
          <p:nvPr/>
        </p:nvSpPr>
        <p:spPr>
          <a:xfrm>
            <a:off x="4937760" y="4562856"/>
            <a:ext cx="141732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within 6% of best</a:t>
            </a:r>
          </a:p>
        </p:txBody>
      </p:sp>
      <p:sp>
        <p:nvSpPr>
          <p:cNvPr id="35" name="Rectangle 34"/>
          <p:cNvSpPr/>
          <p:nvPr/>
        </p:nvSpPr>
        <p:spPr>
          <a:xfrm>
            <a:off x="822960" y="4855464"/>
            <a:ext cx="56235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ig6_random_page_cost.png"/>
          <p:cNvPicPr>
            <a:picLocks noChangeAspect="1"/>
          </p:cNvPicPr>
          <p:nvPr/>
        </p:nvPicPr>
        <p:blipFill>
          <a:blip r:embed="rId3"/>
          <a:stretch>
            <a:fillRect/>
          </a:stretch>
        </p:blipFill>
        <p:spPr>
          <a:xfrm>
            <a:off x="6720840" y="2057400"/>
            <a:ext cx="4617720" cy="2184133"/>
          </a:xfrm>
          <a:prstGeom prst="rect">
            <a:avLst/>
          </a:prstGeom>
        </p:spPr>
      </p:pic>
      <p:sp>
        <p:nvSpPr>
          <p:cNvPr id="37" name="TextBox 36"/>
          <p:cNvSpPr txBox="1"/>
          <p:nvPr/>
        </p:nvSpPr>
        <p:spPr>
          <a:xfrm>
            <a:off x="6720840" y="4892040"/>
            <a:ext cx="4617720" cy="1097280"/>
          </a:xfrm>
          <a:prstGeom prst="rect">
            <a:avLst/>
          </a:prstGeom>
          <a:noFill/>
        </p:spPr>
        <p:txBody>
          <a:bodyPr wrap="square" anchor="t" lIns="0" rIns="0" tIns="0" bIns="0">
            <a:spAutoFit/>
          </a:bodyPr>
          <a:lstStyle/>
          <a:p>
            <a:pPr algn="l">
              <a:lnSpc>
                <a:spcPct val="130000"/>
              </a:lnSpc>
              <a:spcAft>
                <a:spcPts val="0"/>
              </a:spcAft>
            </a:pPr>
            <a:r>
              <a:rPr sz="1300" b="1">
                <a:solidFill>
                  <a:srgbClr val="A8322A"/>
                </a:solidFill>
                <a:latin typeface="Segoe UI"/>
              </a:rPr>
              <a:t>A caution about how this is measured</a:t>
            </a:r>
          </a:p>
          <a:p>
            <a:pPr algn="l">
              <a:lnSpc>
                <a:spcPct val="130000"/>
              </a:lnSpc>
              <a:spcAft>
                <a:spcPts val="0"/>
              </a:spcAft>
            </a:pPr>
            <a:r>
              <a:rPr sz="1300" b="0">
                <a:solidFill>
                  <a:srgbClr val="70757A"/>
                </a:solidFill>
                <a:latin typeface="Segoe UI"/>
              </a:rPr>
              <a:t>On a single query I first measured a 24x effect. Across the workload it vanishes. Tuning verdicts drawn from one query do not survive.</a:t>
            </a:r>
          </a:p>
        </p:txBody>
      </p:sp>
      <p:sp>
        <p:nvSpPr>
          <p:cNvPr id="38" name="TextBox 37"/>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92989E"/>
                </a:solidFill>
                <a:latin typeface="Segoe UI"/>
              </a:rPr>
              <a:t>FINDING 3C</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F2EFEA"/>
                </a:solidFill>
                <a:latin typeface="Georgia"/>
              </a:rPr>
              <a:t>Adding a BRIN index because it is small and cheap</a:t>
            </a:r>
          </a:p>
        </p:txBody>
      </p:sp>
      <p:sp>
        <p:nvSpPr>
          <p:cNvPr id="4" name="TextBox 3"/>
          <p:cNvSpPr txBox="1"/>
          <p:nvPr/>
        </p:nvSpPr>
        <p:spPr>
          <a:xfrm>
            <a:off x="822960" y="2194560"/>
            <a:ext cx="5577840" cy="1280160"/>
          </a:xfrm>
          <a:prstGeom prst="rect">
            <a:avLst/>
          </a:prstGeom>
          <a:noFill/>
        </p:spPr>
        <p:txBody>
          <a:bodyPr wrap="square" anchor="t" lIns="0" rIns="0" tIns="0" bIns="0">
            <a:spAutoFit/>
          </a:bodyPr>
          <a:lstStyle/>
          <a:p>
            <a:pPr algn="l">
              <a:lnSpc>
                <a:spcPct val="95000"/>
              </a:lnSpc>
              <a:spcAft>
                <a:spcPts val="0"/>
              </a:spcAft>
            </a:pPr>
            <a:r>
              <a:rPr sz="9600" b="0">
                <a:solidFill>
                  <a:srgbClr val="E27660"/>
                </a:solidFill>
                <a:latin typeface="Georgia"/>
              </a:rPr>
              <a:t>194x</a:t>
            </a:r>
          </a:p>
        </p:txBody>
      </p:sp>
      <p:sp>
        <p:nvSpPr>
          <p:cNvPr id="5" name="TextBox 4"/>
          <p:cNvSpPr txBox="1"/>
          <p:nvPr/>
        </p:nvSpPr>
        <p:spPr>
          <a:xfrm>
            <a:off x="822960" y="3557016"/>
            <a:ext cx="5577840" cy="731520"/>
          </a:xfrm>
          <a:prstGeom prst="rect">
            <a:avLst/>
          </a:prstGeom>
          <a:noFill/>
        </p:spPr>
        <p:txBody>
          <a:bodyPr wrap="square" anchor="t" lIns="0" rIns="0" tIns="0" bIns="0">
            <a:spAutoFit/>
          </a:bodyPr>
          <a:lstStyle/>
          <a:p>
            <a:pPr algn="l">
              <a:lnSpc>
                <a:spcPct val="125000"/>
              </a:lnSpc>
              <a:spcAft>
                <a:spcPts val="0"/>
              </a:spcAft>
            </a:pPr>
            <a:r>
              <a:rPr sz="1250" b="0">
                <a:solidFill>
                  <a:srgbClr val="92989E"/>
                </a:solidFill>
                <a:latin typeface="Segoe UI"/>
              </a:rPr>
              <a:t>slower on a controlled test where the only change
was that a BRIN index existed alongside the B-tree</a:t>
            </a:r>
          </a:p>
        </p:txBody>
      </p:sp>
      <p:sp>
        <p:nvSpPr>
          <p:cNvPr id="6" name="TextBox 5"/>
          <p:cNvSpPr txBox="1"/>
          <p:nvPr/>
        </p:nvSpPr>
        <p:spPr>
          <a:xfrm>
            <a:off x="822960" y="4617720"/>
            <a:ext cx="5577840" cy="548640"/>
          </a:xfrm>
          <a:prstGeom prst="rect">
            <a:avLst/>
          </a:prstGeom>
          <a:noFill/>
        </p:spPr>
        <p:txBody>
          <a:bodyPr wrap="square" anchor="t" lIns="0" rIns="0" tIns="0" bIns="0">
            <a:spAutoFit/>
          </a:bodyPr>
          <a:lstStyle/>
          <a:p>
            <a:pPr algn="l">
              <a:lnSpc>
                <a:spcPct val="120000"/>
              </a:lnSpc>
              <a:spcAft>
                <a:spcPts val="0"/>
              </a:spcAft>
            </a:pPr>
            <a:r>
              <a:rPr sz="2200" b="0">
                <a:solidFill>
                  <a:srgbClr val="F2EFEA"/>
                </a:solidFill>
                <a:latin typeface="Georgia"/>
              </a:rPr>
              <a:t>0.34 ms  becomes  65.95 ms</a:t>
            </a:r>
          </a:p>
        </p:txBody>
      </p:sp>
      <p:sp>
        <p:nvSpPr>
          <p:cNvPr id="7" name="TextBox 6"/>
          <p:cNvSpPr txBox="1"/>
          <p:nvPr/>
        </p:nvSpPr>
        <p:spPr>
          <a:xfrm>
            <a:off x="6766560" y="2286000"/>
            <a:ext cx="1554480" cy="301752"/>
          </a:xfrm>
          <a:prstGeom prst="rect">
            <a:avLst/>
          </a:prstGeom>
          <a:noFill/>
        </p:spPr>
        <p:txBody>
          <a:bodyPr wrap="square" anchor="b" lIns="0" rIns="0" tIns="0" bIns="0">
            <a:spAutoFit/>
          </a:bodyPr>
          <a:lstStyle/>
          <a:p>
            <a:pPr algn="l">
              <a:lnSpc>
                <a:spcPct val="110000"/>
              </a:lnSpc>
              <a:spcAft>
                <a:spcPts val="0"/>
              </a:spcAft>
            </a:pPr>
            <a:r>
              <a:rPr sz="1100" b="1">
                <a:solidFill>
                  <a:srgbClr val="92989E"/>
                </a:solidFill>
                <a:latin typeface="Segoe UI"/>
              </a:rPr>
              <a:t>Table size</a:t>
            </a:r>
          </a:p>
        </p:txBody>
      </p:sp>
      <p:sp>
        <p:nvSpPr>
          <p:cNvPr id="8" name="TextBox 7"/>
          <p:cNvSpPr txBox="1"/>
          <p:nvPr/>
        </p:nvSpPr>
        <p:spPr>
          <a:xfrm>
            <a:off x="8503920" y="2286000"/>
            <a:ext cx="960120" cy="301752"/>
          </a:xfrm>
          <a:prstGeom prst="rect">
            <a:avLst/>
          </a:prstGeom>
          <a:noFill/>
        </p:spPr>
        <p:txBody>
          <a:bodyPr wrap="square" anchor="b" lIns="0" rIns="0" tIns="0" bIns="0">
            <a:spAutoFit/>
          </a:bodyPr>
          <a:lstStyle/>
          <a:p>
            <a:pPr algn="r">
              <a:lnSpc>
                <a:spcPct val="110000"/>
              </a:lnSpc>
              <a:spcAft>
                <a:spcPts val="0"/>
              </a:spcAft>
            </a:pPr>
            <a:r>
              <a:rPr sz="1100" b="1">
                <a:solidFill>
                  <a:srgbClr val="92989E"/>
                </a:solidFill>
                <a:latin typeface="Segoe UI"/>
              </a:rPr>
              <a:t>With BRIN</a:t>
            </a:r>
          </a:p>
        </p:txBody>
      </p:sp>
      <p:sp>
        <p:nvSpPr>
          <p:cNvPr id="9" name="TextBox 8"/>
          <p:cNvSpPr txBox="1"/>
          <p:nvPr/>
        </p:nvSpPr>
        <p:spPr>
          <a:xfrm>
            <a:off x="9646920" y="2286000"/>
            <a:ext cx="777240" cy="301752"/>
          </a:xfrm>
          <a:prstGeom prst="rect">
            <a:avLst/>
          </a:prstGeom>
          <a:noFill/>
        </p:spPr>
        <p:txBody>
          <a:bodyPr wrap="square" anchor="b" lIns="0" rIns="0" tIns="0" bIns="0">
            <a:spAutoFit/>
          </a:bodyPr>
          <a:lstStyle/>
          <a:p>
            <a:pPr algn="r">
              <a:lnSpc>
                <a:spcPct val="110000"/>
              </a:lnSpc>
              <a:spcAft>
                <a:spcPts val="0"/>
              </a:spcAft>
            </a:pPr>
            <a:r>
              <a:rPr sz="1100" b="1">
                <a:solidFill>
                  <a:srgbClr val="92989E"/>
                </a:solidFill>
                <a:latin typeface="Segoe UI"/>
              </a:rPr>
              <a:t>Without</a:t>
            </a:r>
          </a:p>
        </p:txBody>
      </p:sp>
      <p:sp>
        <p:nvSpPr>
          <p:cNvPr id="10" name="TextBox 9"/>
          <p:cNvSpPr txBox="1"/>
          <p:nvPr/>
        </p:nvSpPr>
        <p:spPr>
          <a:xfrm>
            <a:off x="10607040" y="2286000"/>
            <a:ext cx="868680" cy="301752"/>
          </a:xfrm>
          <a:prstGeom prst="rect">
            <a:avLst/>
          </a:prstGeom>
          <a:noFill/>
        </p:spPr>
        <p:txBody>
          <a:bodyPr wrap="square" anchor="b" lIns="0" rIns="0" tIns="0" bIns="0">
            <a:spAutoFit/>
          </a:bodyPr>
          <a:lstStyle/>
          <a:p>
            <a:pPr algn="r">
              <a:lnSpc>
                <a:spcPct val="110000"/>
              </a:lnSpc>
              <a:spcAft>
                <a:spcPts val="0"/>
              </a:spcAft>
            </a:pPr>
            <a:r>
              <a:rPr sz="1100" b="1">
                <a:solidFill>
                  <a:srgbClr val="92989E"/>
                </a:solidFill>
                <a:latin typeface="Segoe UI"/>
              </a:rPr>
              <a:t>Worst case</a:t>
            </a:r>
          </a:p>
        </p:txBody>
      </p:sp>
      <p:sp>
        <p:nvSpPr>
          <p:cNvPr id="11" name="Rectangle 10"/>
          <p:cNvSpPr/>
          <p:nvPr/>
        </p:nvSpPr>
        <p:spPr>
          <a:xfrm>
            <a:off x="6675120" y="2587752"/>
            <a:ext cx="489204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2734056"/>
            <a:ext cx="1554480" cy="310896"/>
          </a:xfrm>
          <a:prstGeom prst="rect">
            <a:avLst/>
          </a:prstGeom>
          <a:noFill/>
        </p:spPr>
        <p:txBody>
          <a:bodyPr wrap="square" anchor="t" lIns="0" rIns="0" tIns="0" bIns="0">
            <a:spAutoFit/>
          </a:bodyPr>
          <a:lstStyle/>
          <a:p>
            <a:pPr algn="l">
              <a:lnSpc>
                <a:spcPct val="100000"/>
              </a:lnSpc>
              <a:spcAft>
                <a:spcPts val="0"/>
              </a:spcAft>
            </a:pPr>
            <a:r>
              <a:rPr sz="1400" b="0">
                <a:solidFill>
                  <a:srgbClr val="F2EFEA"/>
                </a:solidFill>
                <a:latin typeface="Segoe UI"/>
              </a:rPr>
              <a:t>1,000,000</a:t>
            </a:r>
          </a:p>
        </p:txBody>
      </p:sp>
      <p:sp>
        <p:nvSpPr>
          <p:cNvPr id="13" name="TextBox 12"/>
          <p:cNvSpPr txBox="1"/>
          <p:nvPr/>
        </p:nvSpPr>
        <p:spPr>
          <a:xfrm>
            <a:off x="8503920" y="2734056"/>
            <a:ext cx="960120" cy="310896"/>
          </a:xfrm>
          <a:prstGeom prst="rect">
            <a:avLst/>
          </a:prstGeom>
          <a:noFill/>
        </p:spPr>
        <p:txBody>
          <a:bodyPr wrap="square" anchor="t" lIns="0" rIns="0" tIns="0" bIns="0">
            <a:spAutoFit/>
          </a:bodyPr>
          <a:lstStyle/>
          <a:p>
            <a:pPr algn="r">
              <a:lnSpc>
                <a:spcPct val="100000"/>
              </a:lnSpc>
              <a:spcAft>
                <a:spcPts val="0"/>
              </a:spcAft>
            </a:pPr>
            <a:r>
              <a:rPr sz="1400" b="0">
                <a:solidFill>
                  <a:srgbClr val="F2EFEA"/>
                </a:solidFill>
                <a:latin typeface="Segoe UI"/>
              </a:rPr>
              <a:t>73.3%</a:t>
            </a:r>
          </a:p>
        </p:txBody>
      </p:sp>
      <p:sp>
        <p:nvSpPr>
          <p:cNvPr id="14" name="TextBox 13"/>
          <p:cNvSpPr txBox="1"/>
          <p:nvPr/>
        </p:nvSpPr>
        <p:spPr>
          <a:xfrm>
            <a:off x="9646920" y="2734056"/>
            <a:ext cx="777240" cy="310896"/>
          </a:xfrm>
          <a:prstGeom prst="rect">
            <a:avLst/>
          </a:prstGeom>
          <a:noFill/>
        </p:spPr>
        <p:txBody>
          <a:bodyPr wrap="square" anchor="t" lIns="0" rIns="0" tIns="0" bIns="0">
            <a:spAutoFit/>
          </a:bodyPr>
          <a:lstStyle/>
          <a:p>
            <a:pPr algn="r">
              <a:lnSpc>
                <a:spcPct val="100000"/>
              </a:lnSpc>
              <a:spcAft>
                <a:spcPts val="0"/>
              </a:spcAft>
            </a:pPr>
            <a:r>
              <a:rPr sz="1400" b="0">
                <a:solidFill>
                  <a:srgbClr val="F2EFEA"/>
                </a:solidFill>
                <a:latin typeface="Segoe UI"/>
              </a:rPr>
              <a:t>2.3%</a:t>
            </a:r>
          </a:p>
        </p:txBody>
      </p:sp>
      <p:sp>
        <p:nvSpPr>
          <p:cNvPr id="15" name="TextBox 14"/>
          <p:cNvSpPr txBox="1"/>
          <p:nvPr/>
        </p:nvSpPr>
        <p:spPr>
          <a:xfrm>
            <a:off x="10607040" y="2734056"/>
            <a:ext cx="868680" cy="310896"/>
          </a:xfrm>
          <a:prstGeom prst="rect">
            <a:avLst/>
          </a:prstGeom>
          <a:noFill/>
        </p:spPr>
        <p:txBody>
          <a:bodyPr wrap="square" anchor="t" lIns="0" rIns="0" tIns="0" bIns="0">
            <a:spAutoFit/>
          </a:bodyPr>
          <a:lstStyle/>
          <a:p>
            <a:pPr algn="r">
              <a:lnSpc>
                <a:spcPct val="100000"/>
              </a:lnSpc>
              <a:spcAft>
                <a:spcPts val="0"/>
              </a:spcAft>
            </a:pPr>
            <a:r>
              <a:rPr sz="1400" b="0">
                <a:solidFill>
                  <a:srgbClr val="F2EFEA"/>
                </a:solidFill>
                <a:latin typeface="Segoe UI"/>
              </a:rPr>
              <a:t>18.8x</a:t>
            </a:r>
          </a:p>
        </p:txBody>
      </p:sp>
      <p:sp>
        <p:nvSpPr>
          <p:cNvPr id="16" name="Rectangle 15"/>
          <p:cNvSpPr/>
          <p:nvPr/>
        </p:nvSpPr>
        <p:spPr>
          <a:xfrm>
            <a:off x="6675120" y="3099816"/>
            <a:ext cx="48920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3191256"/>
            <a:ext cx="1554480" cy="310896"/>
          </a:xfrm>
          <a:prstGeom prst="rect">
            <a:avLst/>
          </a:prstGeom>
          <a:noFill/>
        </p:spPr>
        <p:txBody>
          <a:bodyPr wrap="square" anchor="t" lIns="0" rIns="0" tIns="0" bIns="0">
            <a:spAutoFit/>
          </a:bodyPr>
          <a:lstStyle/>
          <a:p>
            <a:pPr algn="l">
              <a:lnSpc>
                <a:spcPct val="100000"/>
              </a:lnSpc>
              <a:spcAft>
                <a:spcPts val="0"/>
              </a:spcAft>
            </a:pPr>
            <a:r>
              <a:rPr sz="1400" b="0">
                <a:solidFill>
                  <a:srgbClr val="F2EFEA"/>
                </a:solidFill>
                <a:latin typeface="Segoe UI"/>
              </a:rPr>
              <a:t>10,000,000</a:t>
            </a:r>
          </a:p>
        </p:txBody>
      </p:sp>
      <p:sp>
        <p:nvSpPr>
          <p:cNvPr id="18" name="TextBox 17"/>
          <p:cNvSpPr txBox="1"/>
          <p:nvPr/>
        </p:nvSpPr>
        <p:spPr>
          <a:xfrm>
            <a:off x="8503920" y="3191256"/>
            <a:ext cx="960120" cy="310896"/>
          </a:xfrm>
          <a:prstGeom prst="rect">
            <a:avLst/>
          </a:prstGeom>
          <a:noFill/>
        </p:spPr>
        <p:txBody>
          <a:bodyPr wrap="square" anchor="t" lIns="0" rIns="0" tIns="0" bIns="0">
            <a:spAutoFit/>
          </a:bodyPr>
          <a:lstStyle/>
          <a:p>
            <a:pPr algn="r">
              <a:lnSpc>
                <a:spcPct val="100000"/>
              </a:lnSpc>
              <a:spcAft>
                <a:spcPts val="0"/>
              </a:spcAft>
            </a:pPr>
            <a:r>
              <a:rPr sz="1400" b="0">
                <a:solidFill>
                  <a:srgbClr val="F2EFEA"/>
                </a:solidFill>
                <a:latin typeface="Segoe UI"/>
              </a:rPr>
              <a:t>30.1%</a:t>
            </a:r>
          </a:p>
        </p:txBody>
      </p:sp>
      <p:sp>
        <p:nvSpPr>
          <p:cNvPr id="19" name="TextBox 18"/>
          <p:cNvSpPr txBox="1"/>
          <p:nvPr/>
        </p:nvSpPr>
        <p:spPr>
          <a:xfrm>
            <a:off x="9646920" y="3191256"/>
            <a:ext cx="777240" cy="310896"/>
          </a:xfrm>
          <a:prstGeom prst="rect">
            <a:avLst/>
          </a:prstGeom>
          <a:noFill/>
        </p:spPr>
        <p:txBody>
          <a:bodyPr wrap="square" anchor="t" lIns="0" rIns="0" tIns="0" bIns="0">
            <a:spAutoFit/>
          </a:bodyPr>
          <a:lstStyle/>
          <a:p>
            <a:pPr algn="r">
              <a:lnSpc>
                <a:spcPct val="100000"/>
              </a:lnSpc>
              <a:spcAft>
                <a:spcPts val="0"/>
              </a:spcAft>
            </a:pPr>
            <a:r>
              <a:rPr sz="1400" b="0">
                <a:solidFill>
                  <a:srgbClr val="F2EFEA"/>
                </a:solidFill>
                <a:latin typeface="Segoe UI"/>
              </a:rPr>
              <a:t>32.3%</a:t>
            </a:r>
          </a:p>
        </p:txBody>
      </p:sp>
      <p:sp>
        <p:nvSpPr>
          <p:cNvPr id="20" name="TextBox 19"/>
          <p:cNvSpPr txBox="1"/>
          <p:nvPr/>
        </p:nvSpPr>
        <p:spPr>
          <a:xfrm>
            <a:off x="10607040" y="3191256"/>
            <a:ext cx="868680" cy="310896"/>
          </a:xfrm>
          <a:prstGeom prst="rect">
            <a:avLst/>
          </a:prstGeom>
          <a:noFill/>
        </p:spPr>
        <p:txBody>
          <a:bodyPr wrap="square" anchor="t" lIns="0" rIns="0" tIns="0" bIns="0">
            <a:spAutoFit/>
          </a:bodyPr>
          <a:lstStyle/>
          <a:p>
            <a:pPr algn="r">
              <a:lnSpc>
                <a:spcPct val="100000"/>
              </a:lnSpc>
              <a:spcAft>
                <a:spcPts val="0"/>
              </a:spcAft>
            </a:pPr>
            <a:r>
              <a:rPr sz="1400" b="0">
                <a:solidFill>
                  <a:srgbClr val="F2EFEA"/>
                </a:solidFill>
                <a:latin typeface="Segoe UI"/>
              </a:rPr>
              <a:t>2.6x</a:t>
            </a:r>
          </a:p>
        </p:txBody>
      </p:sp>
      <p:sp>
        <p:nvSpPr>
          <p:cNvPr id="21" name="Rectangle 20"/>
          <p:cNvSpPr/>
          <p:nvPr/>
        </p:nvSpPr>
        <p:spPr>
          <a:xfrm>
            <a:off x="6675120" y="3575304"/>
            <a:ext cx="489204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3977639"/>
            <a:ext cx="4480560" cy="2011680"/>
          </a:xfrm>
          <a:prstGeom prst="rect">
            <a:avLst/>
          </a:prstGeom>
          <a:noFill/>
        </p:spPr>
        <p:txBody>
          <a:bodyPr wrap="square" anchor="t" lIns="0" rIns="0" tIns="0" bIns="0">
            <a:spAutoFit/>
          </a:bodyPr>
          <a:lstStyle/>
          <a:p>
            <a:pPr algn="l">
              <a:lnSpc>
                <a:spcPct val="135000"/>
              </a:lnSpc>
              <a:spcAft>
                <a:spcPts val="0"/>
              </a:spcAft>
            </a:pPr>
            <a:r>
              <a:rPr sz="1500" b="0">
                <a:solidFill>
                  <a:srgbClr val="F2EFEA"/>
                </a:solidFill>
                <a:latin typeface="Segoe UI"/>
              </a:rPr>
              <a:t>The bad-choice rate rises from 2.3% to 73.3% purely because a second index exists that is never the faster one to use.</a:t>
            </a:r>
          </a:p>
          <a:p>
            <a:pPr algn="l">
              <a:lnSpc>
                <a:spcPct val="135000"/>
              </a:lnSpc>
              <a:spcAft>
                <a:spcPts val="0"/>
              </a:spcAft>
            </a:pPr>
            <a:r>
              <a:rPr sz="800" b="0">
                <a:solidFill>
                  <a:srgbClr val="F2EFEA"/>
                </a:solidFill>
                <a:latin typeface="Segoe UI"/>
              </a:rPr>
              <a:t/>
            </a:r>
          </a:p>
          <a:p>
            <a:pPr algn="l">
              <a:lnSpc>
                <a:spcPct val="135000"/>
              </a:lnSpc>
              <a:spcAft>
                <a:spcPts val="0"/>
              </a:spcAft>
            </a:pPr>
            <a:r>
              <a:rPr sz="1400" b="0">
                <a:solidFill>
                  <a:srgbClr val="92989E"/>
                </a:solidFill>
                <a:latin typeface="Segoe UI"/>
              </a:rPr>
              <a:t>The effect is confined to tables that still fit in the buffer pool, which is exactly the size at which BRIN is most often recommended as a free addition.</a:t>
            </a:r>
          </a:p>
        </p:txBody>
      </p:sp>
      <p:sp>
        <p:nvSpPr>
          <p:cNvPr id="23" name="TextBox 22"/>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4A505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4  /  THE MECHANISM</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Located in the source, not inferred</a:t>
            </a:r>
          </a:p>
        </p:txBody>
      </p:sp>
      <p:sp>
        <p:nvSpPr>
          <p:cNvPr id="4" name="TextBox 3"/>
          <p:cNvSpPr txBox="1"/>
          <p:nvPr/>
        </p:nvSpPr>
        <p:spPr>
          <a:xfrm>
            <a:off x="822960" y="1874519"/>
            <a:ext cx="5760720" cy="457200"/>
          </a:xfrm>
          <a:prstGeom prst="rect">
            <a:avLst/>
          </a:prstGeom>
          <a:noFill/>
        </p:spPr>
        <p:txBody>
          <a:bodyPr wrap="square" anchor="t" lIns="0" rIns="0" tIns="0" bIns="0">
            <a:spAutoFit/>
          </a:bodyPr>
          <a:lstStyle/>
          <a:p>
            <a:pPr algn="l">
              <a:lnSpc>
                <a:spcPct val="120000"/>
              </a:lnSpc>
              <a:spcAft>
                <a:spcPts val="0"/>
              </a:spcAft>
            </a:pPr>
            <a:r>
              <a:rPr sz="1500" b="0">
                <a:solidFill>
                  <a:srgbClr val="1F4E5F"/>
                </a:solidFill>
                <a:latin typeface="Consolas"/>
              </a:rPr>
              <a:t>choose_bitmap_and()   in   optimizer/path/indxpath.c</a:t>
            </a:r>
          </a:p>
        </p:txBody>
      </p:sp>
      <p:sp>
        <p:nvSpPr>
          <p:cNvPr id="5" name="TextBox 4"/>
          <p:cNvSpPr txBox="1"/>
          <p:nvPr/>
        </p:nvSpPr>
        <p:spPr>
          <a:xfrm>
            <a:off x="822960" y="2468880"/>
            <a:ext cx="5760720" cy="2377440"/>
          </a:xfrm>
          <a:prstGeom prst="rect">
            <a:avLst/>
          </a:prstGeom>
          <a:noFill/>
        </p:spPr>
        <p:txBody>
          <a:bodyPr wrap="square" anchor="t" lIns="0" rIns="0" tIns="0" bIns="0">
            <a:spAutoFit/>
          </a:bodyPr>
          <a:lstStyle/>
          <a:p>
            <a:pPr algn="l">
              <a:lnSpc>
                <a:spcPct val="138000"/>
              </a:lnSpc>
              <a:spcAft>
                <a:spcPts val="0"/>
              </a:spcAft>
            </a:pPr>
            <a:r>
              <a:rPr sz="1550" b="0">
                <a:solidFill>
                  <a:srgbClr val="1A1D21"/>
                </a:solidFill>
                <a:latin typeface="Segoe UI"/>
              </a:rPr>
              <a:t>When two indexes can answer the same predicate, PostgreSQL keeps one and discards the other, choosing whichever is cheaper to scan.</a:t>
            </a:r>
          </a:p>
          <a:p>
            <a:pPr algn="l">
              <a:lnSpc>
                <a:spcPct val="138000"/>
              </a:lnSpc>
              <a:spcAft>
                <a:spcPts val="0"/>
              </a:spcAft>
            </a:pPr>
            <a:r>
              <a:rPr sz="700" b="0">
                <a:solidFill>
                  <a:srgbClr val="1A1D21"/>
                </a:solidFill>
                <a:latin typeface="Segoe UI"/>
              </a:rPr>
              <a:t/>
            </a:r>
          </a:p>
          <a:p>
            <a:pPr algn="l">
              <a:lnSpc>
                <a:spcPct val="138000"/>
              </a:lnSpc>
              <a:spcAft>
                <a:spcPts val="0"/>
              </a:spcAft>
            </a:pPr>
            <a:r>
              <a:rPr sz="1550" b="0">
                <a:solidFill>
                  <a:srgbClr val="70757A"/>
                </a:solidFill>
                <a:latin typeface="Segoe UI"/>
              </a:rPr>
              <a:t>That cost is indextotalcost, the cost of reading the index alone. It does not include the heap fetches the query must then perform.</a:t>
            </a:r>
          </a:p>
          <a:p>
            <a:pPr algn="l">
              <a:lnSpc>
                <a:spcPct val="138000"/>
              </a:lnSpc>
              <a:spcAft>
                <a:spcPts val="0"/>
              </a:spcAft>
            </a:pPr>
            <a:r>
              <a:rPr sz="700" b="0">
                <a:solidFill>
                  <a:srgbClr val="1A1D21"/>
                </a:solidFill>
                <a:latin typeface="Segoe UI"/>
              </a:rPr>
              <a:t/>
            </a:r>
          </a:p>
          <a:p>
            <a:pPr algn="l">
              <a:lnSpc>
                <a:spcPct val="138000"/>
              </a:lnSpc>
              <a:spcAft>
                <a:spcPts val="0"/>
              </a:spcAft>
            </a:pPr>
            <a:r>
              <a:rPr sz="1550" b="1">
                <a:solidFill>
                  <a:srgbClr val="1A1D21"/>
                </a:solidFill>
                <a:latin typeface="Segoe UI"/>
              </a:rPr>
              <a:t>A BRIN index is small by design, so it wins that comparison almost always, and the index thrown away is the faster one.</a:t>
            </a:r>
          </a:p>
        </p:txBody>
      </p:sp>
      <p:sp>
        <p:nvSpPr>
          <p:cNvPr id="6" name="TextBox 5"/>
          <p:cNvSpPr txBox="1"/>
          <p:nvPr/>
        </p:nvSpPr>
        <p:spPr>
          <a:xfrm>
            <a:off x="6858000" y="2377440"/>
            <a:ext cx="100584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Index</a:t>
            </a:r>
          </a:p>
        </p:txBody>
      </p:sp>
      <p:sp>
        <p:nvSpPr>
          <p:cNvPr id="7" name="TextBox 6"/>
          <p:cNvSpPr txBox="1"/>
          <p:nvPr/>
        </p:nvSpPr>
        <p:spPr>
          <a:xfrm>
            <a:off x="8046720" y="2377440"/>
            <a:ext cx="192024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Cost used to decide</a:t>
            </a:r>
          </a:p>
        </p:txBody>
      </p:sp>
      <p:sp>
        <p:nvSpPr>
          <p:cNvPr id="8" name="TextBox 7"/>
          <p:cNvSpPr txBox="1"/>
          <p:nvPr/>
        </p:nvSpPr>
        <p:spPr>
          <a:xfrm>
            <a:off x="10149840" y="2377440"/>
            <a:ext cx="141732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Actual query time</a:t>
            </a:r>
          </a:p>
        </p:txBody>
      </p:sp>
      <p:sp>
        <p:nvSpPr>
          <p:cNvPr id="9" name="Rectangle 8"/>
          <p:cNvSpPr/>
          <p:nvPr/>
        </p:nvSpPr>
        <p:spPr>
          <a:xfrm>
            <a:off x="6766560" y="2679192"/>
            <a:ext cx="48920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2825496"/>
            <a:ext cx="1005840" cy="310896"/>
          </a:xfrm>
          <a:prstGeom prst="rect">
            <a:avLst/>
          </a:prstGeom>
          <a:noFill/>
        </p:spPr>
        <p:txBody>
          <a:bodyPr wrap="square" anchor="t" lIns="0" rIns="0" tIns="0" bIns="0">
            <a:spAutoFit/>
          </a:bodyPr>
          <a:lstStyle/>
          <a:p>
            <a:pPr algn="l">
              <a:lnSpc>
                <a:spcPct val="100000"/>
              </a:lnSpc>
              <a:spcAft>
                <a:spcPts val="0"/>
              </a:spcAft>
            </a:pPr>
            <a:r>
              <a:rPr sz="1400" b="0">
                <a:solidFill>
                  <a:srgbClr val="1A1D21"/>
                </a:solidFill>
                <a:latin typeface="Segoe UI"/>
              </a:rPr>
              <a:t>BRIN</a:t>
            </a:r>
          </a:p>
        </p:txBody>
      </p:sp>
      <p:sp>
        <p:nvSpPr>
          <p:cNvPr id="11" name="TextBox 10"/>
          <p:cNvSpPr txBox="1"/>
          <p:nvPr/>
        </p:nvSpPr>
        <p:spPr>
          <a:xfrm>
            <a:off x="8046720" y="2825496"/>
            <a:ext cx="1920240" cy="310896"/>
          </a:xfrm>
          <a:prstGeom prst="rect">
            <a:avLst/>
          </a:prstGeom>
          <a:noFill/>
        </p:spPr>
        <p:txBody>
          <a:bodyPr wrap="square" anchor="t" lIns="0" rIns="0" tIns="0" bIns="0">
            <a:spAutoFit/>
          </a:bodyPr>
          <a:lstStyle/>
          <a:p>
            <a:pPr algn="r">
              <a:lnSpc>
                <a:spcPct val="100000"/>
              </a:lnSpc>
              <a:spcAft>
                <a:spcPts val="0"/>
              </a:spcAft>
            </a:pPr>
            <a:r>
              <a:rPr sz="1400" b="0">
                <a:solidFill>
                  <a:srgbClr val="1A1D21"/>
                </a:solidFill>
                <a:latin typeface="Segoe UI"/>
              </a:rPr>
              <a:t>12.13   (kept)</a:t>
            </a:r>
          </a:p>
        </p:txBody>
      </p:sp>
      <p:sp>
        <p:nvSpPr>
          <p:cNvPr id="12" name="TextBox 11"/>
          <p:cNvSpPr txBox="1"/>
          <p:nvPr/>
        </p:nvSpPr>
        <p:spPr>
          <a:xfrm>
            <a:off x="10149840" y="2825496"/>
            <a:ext cx="1417320" cy="310896"/>
          </a:xfrm>
          <a:prstGeom prst="rect">
            <a:avLst/>
          </a:prstGeom>
          <a:noFill/>
        </p:spPr>
        <p:txBody>
          <a:bodyPr wrap="square" anchor="t" lIns="0" rIns="0" tIns="0" bIns="0">
            <a:spAutoFit/>
          </a:bodyPr>
          <a:lstStyle/>
          <a:p>
            <a:pPr algn="r">
              <a:lnSpc>
                <a:spcPct val="100000"/>
              </a:lnSpc>
              <a:spcAft>
                <a:spcPts val="0"/>
              </a:spcAft>
            </a:pPr>
            <a:r>
              <a:rPr sz="1400" b="0">
                <a:solidFill>
                  <a:srgbClr val="1A1D21"/>
                </a:solidFill>
                <a:latin typeface="Segoe UI"/>
              </a:rPr>
              <a:t>65.95 ms</a:t>
            </a:r>
          </a:p>
        </p:txBody>
      </p:sp>
      <p:sp>
        <p:nvSpPr>
          <p:cNvPr id="13" name="Rectangle 12"/>
          <p:cNvSpPr/>
          <p:nvPr/>
        </p:nvSpPr>
        <p:spPr>
          <a:xfrm>
            <a:off x="6766560" y="3209544"/>
            <a:ext cx="48920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3300984"/>
            <a:ext cx="1005840" cy="310896"/>
          </a:xfrm>
          <a:prstGeom prst="rect">
            <a:avLst/>
          </a:prstGeom>
          <a:noFill/>
        </p:spPr>
        <p:txBody>
          <a:bodyPr wrap="square" anchor="t" lIns="0" rIns="0" tIns="0" bIns="0">
            <a:spAutoFit/>
          </a:bodyPr>
          <a:lstStyle/>
          <a:p>
            <a:pPr algn="l">
              <a:lnSpc>
                <a:spcPct val="100000"/>
              </a:lnSpc>
              <a:spcAft>
                <a:spcPts val="0"/>
              </a:spcAft>
            </a:pPr>
            <a:r>
              <a:rPr sz="1400" b="0">
                <a:solidFill>
                  <a:srgbClr val="1A1D21"/>
                </a:solidFill>
                <a:latin typeface="Segoe UI"/>
              </a:rPr>
              <a:t>B-tree</a:t>
            </a:r>
          </a:p>
        </p:txBody>
      </p:sp>
      <p:sp>
        <p:nvSpPr>
          <p:cNvPr id="15" name="TextBox 14"/>
          <p:cNvSpPr txBox="1"/>
          <p:nvPr/>
        </p:nvSpPr>
        <p:spPr>
          <a:xfrm>
            <a:off x="8046720" y="3300984"/>
            <a:ext cx="1920240" cy="310896"/>
          </a:xfrm>
          <a:prstGeom prst="rect">
            <a:avLst/>
          </a:prstGeom>
          <a:noFill/>
        </p:spPr>
        <p:txBody>
          <a:bodyPr wrap="square" anchor="t" lIns="0" rIns="0" tIns="0" bIns="0">
            <a:spAutoFit/>
          </a:bodyPr>
          <a:lstStyle/>
          <a:p>
            <a:pPr algn="r">
              <a:lnSpc>
                <a:spcPct val="100000"/>
              </a:lnSpc>
              <a:spcAft>
                <a:spcPts val="0"/>
              </a:spcAft>
            </a:pPr>
            <a:r>
              <a:rPr sz="1400" b="0">
                <a:solidFill>
                  <a:srgbClr val="1A1D21"/>
                </a:solidFill>
                <a:latin typeface="Segoe UI"/>
              </a:rPr>
              <a:t>213.35   (discarded)</a:t>
            </a:r>
          </a:p>
        </p:txBody>
      </p:sp>
      <p:sp>
        <p:nvSpPr>
          <p:cNvPr id="16" name="TextBox 15"/>
          <p:cNvSpPr txBox="1"/>
          <p:nvPr/>
        </p:nvSpPr>
        <p:spPr>
          <a:xfrm>
            <a:off x="10149840" y="3300984"/>
            <a:ext cx="1417320" cy="310896"/>
          </a:xfrm>
          <a:prstGeom prst="rect">
            <a:avLst/>
          </a:prstGeom>
          <a:noFill/>
        </p:spPr>
        <p:txBody>
          <a:bodyPr wrap="square" anchor="t" lIns="0" rIns="0" tIns="0" bIns="0">
            <a:spAutoFit/>
          </a:bodyPr>
          <a:lstStyle/>
          <a:p>
            <a:pPr algn="r">
              <a:lnSpc>
                <a:spcPct val="100000"/>
              </a:lnSpc>
              <a:spcAft>
                <a:spcPts val="0"/>
              </a:spcAft>
            </a:pPr>
            <a:r>
              <a:rPr sz="1400" b="0">
                <a:solidFill>
                  <a:srgbClr val="1A1D21"/>
                </a:solidFill>
                <a:latin typeface="Segoe UI"/>
              </a:rPr>
              <a:t>0.34 ms</a:t>
            </a:r>
          </a:p>
        </p:txBody>
      </p:sp>
      <p:sp>
        <p:nvSpPr>
          <p:cNvPr id="17" name="Rectangle 16"/>
          <p:cNvSpPr/>
          <p:nvPr/>
        </p:nvSpPr>
        <p:spPr>
          <a:xfrm>
            <a:off x="6766560" y="3703320"/>
            <a:ext cx="48920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4114800"/>
            <a:ext cx="4572000" cy="914400"/>
          </a:xfrm>
          <a:prstGeom prst="rect">
            <a:avLst/>
          </a:prstGeom>
          <a:noFill/>
        </p:spPr>
        <p:txBody>
          <a:bodyPr wrap="square" anchor="t" lIns="0" rIns="0" tIns="0" bIns="0">
            <a:spAutoFit/>
          </a:bodyPr>
          <a:lstStyle/>
          <a:p>
            <a:pPr algn="l">
              <a:lnSpc>
                <a:spcPct val="130000"/>
              </a:lnSpc>
              <a:spcAft>
                <a:spcPts val="0"/>
              </a:spcAft>
            </a:pPr>
            <a:r>
              <a:rPr sz="1500" b="1">
                <a:solidFill>
                  <a:srgbClr val="A8322A"/>
                </a:solidFill>
                <a:latin typeface="Segoe UI"/>
              </a:rPr>
              <a:t>The index that costs 17x less to read is the one that runs 194x slower.</a:t>
            </a:r>
          </a:p>
        </p:txBody>
      </p:sp>
      <p:sp>
        <p:nvSpPr>
          <p:cNvPr id="19" name="TextBox 18"/>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spcAft>
                <a:spcPts val="0"/>
              </a:spcAft>
            </a:pPr>
            <a:r>
              <a:rPr sz="1050" b="0">
                <a:solidFill>
                  <a:srgbClr val="70757A"/>
                </a:solidFill>
                <a:latin typeface="Segoe UI"/>
              </a:rPr>
              <a:t>This is why the effect is a design consequence rather than a bug, and why it cannot be tuned away.</a:t>
            </a:r>
          </a:p>
        </p:txBody>
      </p:sp>
      <p:sp>
        <p:nvSpPr>
          <p:cNvPr id="20" name="TextBox 19"/>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5  /  RQ4</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The boundary is real, and it moves both ways at once</a:t>
            </a:r>
          </a:p>
        </p:txBody>
      </p:sp>
      <p:sp>
        <p:nvSpPr>
          <p:cNvPr id="4" name="TextBox 3"/>
          <p:cNvSpPr txBox="1"/>
          <p:nvPr/>
        </p:nvSpPr>
        <p:spPr>
          <a:xfrm>
            <a:off x="914400" y="1755648"/>
            <a:ext cx="1417320" cy="512064"/>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Table size</a:t>
            </a:r>
          </a:p>
        </p:txBody>
      </p:sp>
      <p:sp>
        <p:nvSpPr>
          <p:cNvPr id="5" name="TextBox 4"/>
          <p:cNvSpPr txBox="1"/>
          <p:nvPr/>
        </p:nvSpPr>
        <p:spPr>
          <a:xfrm>
            <a:off x="2514600" y="1755648"/>
            <a:ext cx="86868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Heap</a:t>
            </a:r>
          </a:p>
        </p:txBody>
      </p:sp>
      <p:sp>
        <p:nvSpPr>
          <p:cNvPr id="6" name="TextBox 5"/>
          <p:cNvSpPr txBox="1"/>
          <p:nvPr/>
        </p:nvSpPr>
        <p:spPr>
          <a:xfrm>
            <a:off x="3566160" y="1755648"/>
            <a:ext cx="77724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In pool</a:t>
            </a:r>
          </a:p>
        </p:txBody>
      </p:sp>
      <p:sp>
        <p:nvSpPr>
          <p:cNvPr id="7" name="TextBox 6"/>
          <p:cNvSpPr txBox="1"/>
          <p:nvPr/>
        </p:nvSpPr>
        <p:spPr>
          <a:xfrm>
            <a:off x="4526280" y="1755648"/>
            <a:ext cx="91440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Chose badly</a:t>
            </a:r>
          </a:p>
        </p:txBody>
      </p:sp>
      <p:sp>
        <p:nvSpPr>
          <p:cNvPr id="8" name="TextBox 7"/>
          <p:cNvSpPr txBox="1"/>
          <p:nvPr/>
        </p:nvSpPr>
        <p:spPr>
          <a:xfrm>
            <a:off x="5623560" y="1755648"/>
            <a:ext cx="86868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Worst case</a:t>
            </a:r>
          </a:p>
        </p:txBody>
      </p:sp>
      <p:sp>
        <p:nvSpPr>
          <p:cNvPr id="9" name="Rectangle 8"/>
          <p:cNvSpPr/>
          <p:nvPr/>
        </p:nvSpPr>
        <p:spPr>
          <a:xfrm>
            <a:off x="822960" y="2267712"/>
            <a:ext cx="57607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14016"/>
            <a:ext cx="1417320" cy="310896"/>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1,000,000</a:t>
            </a:r>
          </a:p>
        </p:txBody>
      </p:sp>
      <p:sp>
        <p:nvSpPr>
          <p:cNvPr id="11" name="TextBox 10"/>
          <p:cNvSpPr txBox="1"/>
          <p:nvPr/>
        </p:nvSpPr>
        <p:spPr>
          <a:xfrm>
            <a:off x="2514600" y="2414016"/>
            <a:ext cx="86868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112 MB</a:t>
            </a:r>
          </a:p>
        </p:txBody>
      </p:sp>
      <p:sp>
        <p:nvSpPr>
          <p:cNvPr id="12" name="TextBox 11"/>
          <p:cNvSpPr txBox="1"/>
          <p:nvPr/>
        </p:nvSpPr>
        <p:spPr>
          <a:xfrm>
            <a:off x="3566160" y="2414016"/>
            <a:ext cx="77724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yes</a:t>
            </a:r>
          </a:p>
        </p:txBody>
      </p:sp>
      <p:sp>
        <p:nvSpPr>
          <p:cNvPr id="13" name="TextBox 12"/>
          <p:cNvSpPr txBox="1"/>
          <p:nvPr/>
        </p:nvSpPr>
        <p:spPr>
          <a:xfrm>
            <a:off x="4526280" y="2414016"/>
            <a:ext cx="91440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71.4%</a:t>
            </a:r>
          </a:p>
        </p:txBody>
      </p:sp>
      <p:sp>
        <p:nvSpPr>
          <p:cNvPr id="14" name="TextBox 13"/>
          <p:cNvSpPr txBox="1"/>
          <p:nvPr/>
        </p:nvSpPr>
        <p:spPr>
          <a:xfrm>
            <a:off x="5623560" y="2414016"/>
            <a:ext cx="86868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18.8x</a:t>
            </a:r>
          </a:p>
        </p:txBody>
      </p:sp>
      <p:sp>
        <p:nvSpPr>
          <p:cNvPr id="15" name="Rectangle 14"/>
          <p:cNvSpPr/>
          <p:nvPr/>
        </p:nvSpPr>
        <p:spPr>
          <a:xfrm>
            <a:off x="822960" y="268833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779776"/>
            <a:ext cx="1417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1,250,000</a:t>
            </a:r>
          </a:p>
        </p:txBody>
      </p:sp>
      <p:sp>
        <p:nvSpPr>
          <p:cNvPr id="17" name="TextBox 16"/>
          <p:cNvSpPr txBox="1"/>
          <p:nvPr/>
        </p:nvSpPr>
        <p:spPr>
          <a:xfrm>
            <a:off x="2514600" y="277977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140 MB</a:t>
            </a:r>
          </a:p>
        </p:txBody>
      </p:sp>
      <p:sp>
        <p:nvSpPr>
          <p:cNvPr id="18" name="TextBox 17"/>
          <p:cNvSpPr txBox="1"/>
          <p:nvPr/>
        </p:nvSpPr>
        <p:spPr>
          <a:xfrm>
            <a:off x="3566160" y="2779776"/>
            <a:ext cx="7772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no</a:t>
            </a:r>
          </a:p>
        </p:txBody>
      </p:sp>
      <p:sp>
        <p:nvSpPr>
          <p:cNvPr id="19" name="TextBox 18"/>
          <p:cNvSpPr txBox="1"/>
          <p:nvPr/>
        </p:nvSpPr>
        <p:spPr>
          <a:xfrm>
            <a:off x="4526280" y="2779776"/>
            <a:ext cx="9144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37.9%</a:t>
            </a:r>
          </a:p>
        </p:txBody>
      </p:sp>
      <p:sp>
        <p:nvSpPr>
          <p:cNvPr id="20" name="TextBox 19"/>
          <p:cNvSpPr txBox="1"/>
          <p:nvPr/>
        </p:nvSpPr>
        <p:spPr>
          <a:xfrm>
            <a:off x="5623560" y="277977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38.8x</a:t>
            </a:r>
          </a:p>
        </p:txBody>
      </p:sp>
      <p:sp>
        <p:nvSpPr>
          <p:cNvPr id="21" name="Rectangle 20"/>
          <p:cNvSpPr/>
          <p:nvPr/>
        </p:nvSpPr>
        <p:spPr>
          <a:xfrm>
            <a:off x="822960" y="305409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145536"/>
            <a:ext cx="1417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1,500,000</a:t>
            </a:r>
          </a:p>
        </p:txBody>
      </p:sp>
      <p:sp>
        <p:nvSpPr>
          <p:cNvPr id="23" name="TextBox 22"/>
          <p:cNvSpPr txBox="1"/>
          <p:nvPr/>
        </p:nvSpPr>
        <p:spPr>
          <a:xfrm>
            <a:off x="2514600" y="314553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168 MB</a:t>
            </a:r>
          </a:p>
        </p:txBody>
      </p:sp>
      <p:sp>
        <p:nvSpPr>
          <p:cNvPr id="24" name="TextBox 23"/>
          <p:cNvSpPr txBox="1"/>
          <p:nvPr/>
        </p:nvSpPr>
        <p:spPr>
          <a:xfrm>
            <a:off x="3566160" y="3145536"/>
            <a:ext cx="7772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no</a:t>
            </a:r>
          </a:p>
        </p:txBody>
      </p:sp>
      <p:sp>
        <p:nvSpPr>
          <p:cNvPr id="25" name="TextBox 24"/>
          <p:cNvSpPr txBox="1"/>
          <p:nvPr/>
        </p:nvSpPr>
        <p:spPr>
          <a:xfrm>
            <a:off x="4526280" y="3145536"/>
            <a:ext cx="9144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31.0%</a:t>
            </a:r>
          </a:p>
        </p:txBody>
      </p:sp>
      <p:sp>
        <p:nvSpPr>
          <p:cNvPr id="26" name="TextBox 25"/>
          <p:cNvSpPr txBox="1"/>
          <p:nvPr/>
        </p:nvSpPr>
        <p:spPr>
          <a:xfrm>
            <a:off x="5623560" y="314553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40.3x</a:t>
            </a:r>
          </a:p>
        </p:txBody>
      </p:sp>
      <p:sp>
        <p:nvSpPr>
          <p:cNvPr id="27" name="Rectangle 26"/>
          <p:cNvSpPr/>
          <p:nvPr/>
        </p:nvSpPr>
        <p:spPr>
          <a:xfrm>
            <a:off x="822960" y="341985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511296"/>
            <a:ext cx="1417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2,000,000</a:t>
            </a:r>
          </a:p>
        </p:txBody>
      </p:sp>
      <p:sp>
        <p:nvSpPr>
          <p:cNvPr id="29" name="TextBox 28"/>
          <p:cNvSpPr txBox="1"/>
          <p:nvPr/>
        </p:nvSpPr>
        <p:spPr>
          <a:xfrm>
            <a:off x="2514600" y="351129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223 MB</a:t>
            </a:r>
          </a:p>
        </p:txBody>
      </p:sp>
      <p:sp>
        <p:nvSpPr>
          <p:cNvPr id="30" name="TextBox 29"/>
          <p:cNvSpPr txBox="1"/>
          <p:nvPr/>
        </p:nvSpPr>
        <p:spPr>
          <a:xfrm>
            <a:off x="3566160" y="3511296"/>
            <a:ext cx="7772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no</a:t>
            </a:r>
          </a:p>
        </p:txBody>
      </p:sp>
      <p:sp>
        <p:nvSpPr>
          <p:cNvPr id="31" name="TextBox 30"/>
          <p:cNvSpPr txBox="1"/>
          <p:nvPr/>
        </p:nvSpPr>
        <p:spPr>
          <a:xfrm>
            <a:off x="4526280" y="3511296"/>
            <a:ext cx="9144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25.8%</a:t>
            </a:r>
          </a:p>
        </p:txBody>
      </p:sp>
      <p:sp>
        <p:nvSpPr>
          <p:cNvPr id="32" name="TextBox 31"/>
          <p:cNvSpPr txBox="1"/>
          <p:nvPr/>
        </p:nvSpPr>
        <p:spPr>
          <a:xfrm>
            <a:off x="5623560" y="351129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38.3x</a:t>
            </a:r>
          </a:p>
        </p:txBody>
      </p:sp>
      <p:sp>
        <p:nvSpPr>
          <p:cNvPr id="33" name="Rectangle 32"/>
          <p:cNvSpPr/>
          <p:nvPr/>
        </p:nvSpPr>
        <p:spPr>
          <a:xfrm>
            <a:off x="822960" y="378561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877056"/>
            <a:ext cx="1417320" cy="310896"/>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3,000,000</a:t>
            </a:r>
          </a:p>
        </p:txBody>
      </p:sp>
      <p:sp>
        <p:nvSpPr>
          <p:cNvPr id="35" name="TextBox 34"/>
          <p:cNvSpPr txBox="1"/>
          <p:nvPr/>
        </p:nvSpPr>
        <p:spPr>
          <a:xfrm>
            <a:off x="2514600" y="3877056"/>
            <a:ext cx="86868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335 MB</a:t>
            </a:r>
          </a:p>
        </p:txBody>
      </p:sp>
      <p:sp>
        <p:nvSpPr>
          <p:cNvPr id="36" name="TextBox 35"/>
          <p:cNvSpPr txBox="1"/>
          <p:nvPr/>
        </p:nvSpPr>
        <p:spPr>
          <a:xfrm>
            <a:off x="3566160" y="3877056"/>
            <a:ext cx="77724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no</a:t>
            </a:r>
          </a:p>
        </p:txBody>
      </p:sp>
      <p:sp>
        <p:nvSpPr>
          <p:cNvPr id="37" name="TextBox 36"/>
          <p:cNvSpPr txBox="1"/>
          <p:nvPr/>
        </p:nvSpPr>
        <p:spPr>
          <a:xfrm>
            <a:off x="4526280" y="3877056"/>
            <a:ext cx="91440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30.3%</a:t>
            </a:r>
          </a:p>
        </p:txBody>
      </p:sp>
      <p:sp>
        <p:nvSpPr>
          <p:cNvPr id="38" name="TextBox 37"/>
          <p:cNvSpPr txBox="1"/>
          <p:nvPr/>
        </p:nvSpPr>
        <p:spPr>
          <a:xfrm>
            <a:off x="5623560" y="3877056"/>
            <a:ext cx="86868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41.5x</a:t>
            </a:r>
          </a:p>
        </p:txBody>
      </p:sp>
      <p:sp>
        <p:nvSpPr>
          <p:cNvPr id="39" name="Rectangle 38"/>
          <p:cNvSpPr/>
          <p:nvPr/>
        </p:nvSpPr>
        <p:spPr>
          <a:xfrm>
            <a:off x="822960" y="415137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242816"/>
            <a:ext cx="1417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5,000,000</a:t>
            </a:r>
          </a:p>
        </p:txBody>
      </p:sp>
      <p:sp>
        <p:nvSpPr>
          <p:cNvPr id="41" name="TextBox 40"/>
          <p:cNvSpPr txBox="1"/>
          <p:nvPr/>
        </p:nvSpPr>
        <p:spPr>
          <a:xfrm>
            <a:off x="2514600" y="424281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558 MB</a:t>
            </a:r>
          </a:p>
        </p:txBody>
      </p:sp>
      <p:sp>
        <p:nvSpPr>
          <p:cNvPr id="42" name="TextBox 41"/>
          <p:cNvSpPr txBox="1"/>
          <p:nvPr/>
        </p:nvSpPr>
        <p:spPr>
          <a:xfrm>
            <a:off x="3566160" y="4242816"/>
            <a:ext cx="7772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no</a:t>
            </a:r>
          </a:p>
        </p:txBody>
      </p:sp>
      <p:sp>
        <p:nvSpPr>
          <p:cNvPr id="43" name="TextBox 42"/>
          <p:cNvSpPr txBox="1"/>
          <p:nvPr/>
        </p:nvSpPr>
        <p:spPr>
          <a:xfrm>
            <a:off x="4526280" y="4242816"/>
            <a:ext cx="9144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36.4%</a:t>
            </a:r>
          </a:p>
        </p:txBody>
      </p:sp>
      <p:sp>
        <p:nvSpPr>
          <p:cNvPr id="44" name="TextBox 43"/>
          <p:cNvSpPr txBox="1"/>
          <p:nvPr/>
        </p:nvSpPr>
        <p:spPr>
          <a:xfrm>
            <a:off x="5623560" y="424281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7.0x</a:t>
            </a:r>
          </a:p>
        </p:txBody>
      </p:sp>
      <p:sp>
        <p:nvSpPr>
          <p:cNvPr id="45" name="Rectangle 44"/>
          <p:cNvSpPr/>
          <p:nvPr/>
        </p:nvSpPr>
        <p:spPr>
          <a:xfrm>
            <a:off x="822960" y="451713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4608576"/>
            <a:ext cx="141732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10,000,000</a:t>
            </a:r>
          </a:p>
        </p:txBody>
      </p:sp>
      <p:sp>
        <p:nvSpPr>
          <p:cNvPr id="47" name="TextBox 46"/>
          <p:cNvSpPr txBox="1"/>
          <p:nvPr/>
        </p:nvSpPr>
        <p:spPr>
          <a:xfrm>
            <a:off x="2514600" y="460857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1,116 MB</a:t>
            </a:r>
          </a:p>
        </p:txBody>
      </p:sp>
      <p:sp>
        <p:nvSpPr>
          <p:cNvPr id="48" name="TextBox 47"/>
          <p:cNvSpPr txBox="1"/>
          <p:nvPr/>
        </p:nvSpPr>
        <p:spPr>
          <a:xfrm>
            <a:off x="3566160" y="4608576"/>
            <a:ext cx="7772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no</a:t>
            </a:r>
          </a:p>
        </p:txBody>
      </p:sp>
      <p:sp>
        <p:nvSpPr>
          <p:cNvPr id="49" name="TextBox 48"/>
          <p:cNvSpPr txBox="1"/>
          <p:nvPr/>
        </p:nvSpPr>
        <p:spPr>
          <a:xfrm>
            <a:off x="4526280" y="4608576"/>
            <a:ext cx="91440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38.2%</a:t>
            </a:r>
          </a:p>
        </p:txBody>
      </p:sp>
      <p:sp>
        <p:nvSpPr>
          <p:cNvPr id="50" name="TextBox 49"/>
          <p:cNvSpPr txBox="1"/>
          <p:nvPr/>
        </p:nvSpPr>
        <p:spPr>
          <a:xfrm>
            <a:off x="5623560" y="4608576"/>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1.9x</a:t>
            </a:r>
          </a:p>
        </p:txBody>
      </p:sp>
      <p:sp>
        <p:nvSpPr>
          <p:cNvPr id="51" name="Rectangle 50"/>
          <p:cNvSpPr/>
          <p:nvPr/>
        </p:nvSpPr>
        <p:spPr>
          <a:xfrm>
            <a:off x="822960" y="4901184"/>
            <a:ext cx="57607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ig7_scale_transition.png"/>
          <p:cNvPicPr>
            <a:picLocks noChangeAspect="1"/>
          </p:cNvPicPr>
          <p:nvPr/>
        </p:nvPicPr>
        <p:blipFill>
          <a:blip r:embed="rId3"/>
          <a:stretch>
            <a:fillRect/>
          </a:stretch>
        </p:blipFill>
        <p:spPr>
          <a:xfrm>
            <a:off x="6720840" y="1874519"/>
            <a:ext cx="4617720" cy="2167538"/>
          </a:xfrm>
          <a:prstGeom prst="rect">
            <a:avLst/>
          </a:prstGeom>
        </p:spPr>
      </p:pic>
      <p:sp>
        <p:nvSpPr>
          <p:cNvPr id="53" name="TextBox 52"/>
          <p:cNvSpPr txBox="1"/>
          <p:nvPr/>
        </p:nvSpPr>
        <p:spPr>
          <a:xfrm>
            <a:off x="6720840" y="4343400"/>
            <a:ext cx="4617720" cy="1737360"/>
          </a:xfrm>
          <a:prstGeom prst="rect">
            <a:avLst/>
          </a:prstGeom>
          <a:noFill/>
        </p:spPr>
        <p:txBody>
          <a:bodyPr wrap="square" anchor="t" lIns="0" rIns="0" tIns="0" bIns="0">
            <a:spAutoFit/>
          </a:bodyPr>
          <a:lstStyle/>
          <a:p>
            <a:pPr algn="l">
              <a:lnSpc>
                <a:spcPct val="130000"/>
              </a:lnSpc>
              <a:spcAft>
                <a:spcPts val="0"/>
              </a:spcAft>
            </a:pPr>
            <a:r>
              <a:rPr sz="1350" b="1">
                <a:solidFill>
                  <a:srgbClr val="A8322A"/>
                </a:solidFill>
                <a:latin typeface="Segoe UI"/>
              </a:rPr>
              <a:t>Two things happen at two different points</a:t>
            </a:r>
          </a:p>
          <a:p>
            <a:pPr algn="l">
              <a:lnSpc>
                <a:spcPct val="130000"/>
              </a:lnSpc>
              <a:spcAft>
                <a:spcPts val="0"/>
              </a:spcAft>
            </a:pPr>
            <a:r>
              <a:rPr sz="500" b="0">
                <a:solidFill>
                  <a:srgbClr val="1A1D21"/>
                </a:solidFill>
                <a:latin typeface="Segoe UI"/>
              </a:rPr>
              <a:t/>
            </a:r>
          </a:p>
          <a:p>
            <a:pPr algn="l">
              <a:lnSpc>
                <a:spcPct val="130000"/>
              </a:lnSpc>
              <a:spcAft>
                <a:spcPts val="0"/>
              </a:spcAft>
            </a:pPr>
            <a:r>
              <a:rPr sz="1350" b="0">
                <a:solidFill>
                  <a:srgbClr val="70757A"/>
                </a:solidFill>
                <a:latin typeface="Segoe UI"/>
              </a:rPr>
              <a:t>How often it fails collapses at the memory boundary. How badly it fails doubles there and only subsides much later. Testing two sizes would have given the opposite conclusion.</a:t>
            </a:r>
          </a:p>
        </p:txBody>
      </p:sp>
      <p:sp>
        <p:nvSpPr>
          <p:cNvPr id="54" name="TextBox 53"/>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6  /  RQ5</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What is general, and what belongs to one product</a:t>
            </a:r>
          </a:p>
        </p:txBody>
      </p:sp>
      <p:sp>
        <p:nvSpPr>
          <p:cNvPr id="4" name="TextBox 3"/>
          <p:cNvSpPr txBox="1"/>
          <p:nvPr/>
        </p:nvSpPr>
        <p:spPr>
          <a:xfrm>
            <a:off x="914400" y="1874519"/>
            <a:ext cx="114300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Correlation</a:t>
            </a:r>
          </a:p>
        </p:txBody>
      </p:sp>
      <p:sp>
        <p:nvSpPr>
          <p:cNvPr id="5" name="TextBox 4"/>
          <p:cNvSpPr txBox="1"/>
          <p:nvPr/>
        </p:nvSpPr>
        <p:spPr>
          <a:xfrm>
            <a:off x="2240280" y="1874519"/>
            <a:ext cx="160020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PostgreSQL q-error</a:t>
            </a:r>
          </a:p>
        </p:txBody>
      </p:sp>
      <p:sp>
        <p:nvSpPr>
          <p:cNvPr id="6" name="TextBox 5"/>
          <p:cNvSpPr txBox="1"/>
          <p:nvPr/>
        </p:nvSpPr>
        <p:spPr>
          <a:xfrm>
            <a:off x="4023360" y="1874519"/>
            <a:ext cx="146304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MariaDB q-error</a:t>
            </a:r>
          </a:p>
        </p:txBody>
      </p:sp>
      <p:sp>
        <p:nvSpPr>
          <p:cNvPr id="7" name="TextBox 6"/>
          <p:cNvSpPr txBox="1"/>
          <p:nvPr/>
        </p:nvSpPr>
        <p:spPr>
          <a:xfrm>
            <a:off x="5669280" y="1874519"/>
            <a:ext cx="233172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MariaDB plan used</a:t>
            </a:r>
          </a:p>
        </p:txBody>
      </p:sp>
      <p:sp>
        <p:nvSpPr>
          <p:cNvPr id="8" name="Rectangle 7"/>
          <p:cNvSpPr/>
          <p:nvPr/>
        </p:nvSpPr>
        <p:spPr>
          <a:xfrm>
            <a:off x="822960" y="2176271"/>
            <a:ext cx="72694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22575"/>
            <a:ext cx="114300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0.25</a:t>
            </a:r>
          </a:p>
        </p:txBody>
      </p:sp>
      <p:sp>
        <p:nvSpPr>
          <p:cNvPr id="10" name="TextBox 9"/>
          <p:cNvSpPr txBox="1"/>
          <p:nvPr/>
        </p:nvSpPr>
        <p:spPr>
          <a:xfrm>
            <a:off x="2240280" y="2322575"/>
            <a:ext cx="160020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26.4</a:t>
            </a:r>
          </a:p>
        </p:txBody>
      </p:sp>
      <p:sp>
        <p:nvSpPr>
          <p:cNvPr id="11" name="TextBox 10"/>
          <p:cNvSpPr txBox="1"/>
          <p:nvPr/>
        </p:nvSpPr>
        <p:spPr>
          <a:xfrm>
            <a:off x="4023360" y="2322575"/>
            <a:ext cx="146304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1.00</a:t>
            </a:r>
          </a:p>
        </p:txBody>
      </p:sp>
      <p:sp>
        <p:nvSpPr>
          <p:cNvPr id="12" name="TextBox 11"/>
          <p:cNvSpPr txBox="1"/>
          <p:nvPr/>
        </p:nvSpPr>
        <p:spPr>
          <a:xfrm>
            <a:off x="5669280" y="2322575"/>
            <a:ext cx="233172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single combined index</a:t>
            </a:r>
          </a:p>
        </p:txBody>
      </p:sp>
      <p:sp>
        <p:nvSpPr>
          <p:cNvPr id="13" name="Rectangle 12"/>
          <p:cNvSpPr/>
          <p:nvPr/>
        </p:nvSpPr>
        <p:spPr>
          <a:xfrm>
            <a:off x="822960" y="2633471"/>
            <a:ext cx="72694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24911"/>
            <a:ext cx="114300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0.50</a:t>
            </a:r>
          </a:p>
        </p:txBody>
      </p:sp>
      <p:sp>
        <p:nvSpPr>
          <p:cNvPr id="15" name="TextBox 14"/>
          <p:cNvSpPr txBox="1"/>
          <p:nvPr/>
        </p:nvSpPr>
        <p:spPr>
          <a:xfrm>
            <a:off x="2240280" y="2724911"/>
            <a:ext cx="160020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49.0</a:t>
            </a:r>
          </a:p>
        </p:txBody>
      </p:sp>
      <p:sp>
        <p:nvSpPr>
          <p:cNvPr id="16" name="TextBox 15"/>
          <p:cNvSpPr txBox="1"/>
          <p:nvPr/>
        </p:nvSpPr>
        <p:spPr>
          <a:xfrm>
            <a:off x="4023360" y="2724911"/>
            <a:ext cx="146304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1.00</a:t>
            </a:r>
          </a:p>
        </p:txBody>
      </p:sp>
      <p:sp>
        <p:nvSpPr>
          <p:cNvPr id="17" name="TextBox 16"/>
          <p:cNvSpPr txBox="1"/>
          <p:nvPr/>
        </p:nvSpPr>
        <p:spPr>
          <a:xfrm>
            <a:off x="5669280" y="2724911"/>
            <a:ext cx="233172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single combined index</a:t>
            </a:r>
          </a:p>
        </p:txBody>
      </p:sp>
      <p:sp>
        <p:nvSpPr>
          <p:cNvPr id="18" name="Rectangle 17"/>
          <p:cNvSpPr/>
          <p:nvPr/>
        </p:nvSpPr>
        <p:spPr>
          <a:xfrm>
            <a:off x="822960" y="3035807"/>
            <a:ext cx="72694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127247"/>
            <a:ext cx="114300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0.75</a:t>
            </a:r>
          </a:p>
        </p:txBody>
      </p:sp>
      <p:sp>
        <p:nvSpPr>
          <p:cNvPr id="20" name="TextBox 19"/>
          <p:cNvSpPr txBox="1"/>
          <p:nvPr/>
        </p:nvSpPr>
        <p:spPr>
          <a:xfrm>
            <a:off x="2240280" y="3127247"/>
            <a:ext cx="160020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81.8</a:t>
            </a:r>
          </a:p>
        </p:txBody>
      </p:sp>
      <p:sp>
        <p:nvSpPr>
          <p:cNvPr id="21" name="TextBox 20"/>
          <p:cNvSpPr txBox="1"/>
          <p:nvPr/>
        </p:nvSpPr>
        <p:spPr>
          <a:xfrm>
            <a:off x="4023360" y="3127247"/>
            <a:ext cx="1463040" cy="310896"/>
          </a:xfrm>
          <a:prstGeom prst="rect">
            <a:avLst/>
          </a:prstGeom>
          <a:noFill/>
        </p:spPr>
        <p:txBody>
          <a:bodyPr wrap="square" anchor="t" lIns="0" rIns="0" tIns="0" bIns="0">
            <a:spAutoFit/>
          </a:bodyPr>
          <a:lstStyle/>
          <a:p>
            <a:pPr algn="r">
              <a:lnSpc>
                <a:spcPct val="100000"/>
              </a:lnSpc>
              <a:spcAft>
                <a:spcPts val="0"/>
              </a:spcAft>
            </a:pPr>
            <a:r>
              <a:rPr sz="1350" b="0">
                <a:solidFill>
                  <a:srgbClr val="1A1D21"/>
                </a:solidFill>
                <a:latin typeface="Segoe UI"/>
              </a:rPr>
              <a:t>1.00</a:t>
            </a:r>
          </a:p>
        </p:txBody>
      </p:sp>
      <p:sp>
        <p:nvSpPr>
          <p:cNvPr id="22" name="TextBox 21"/>
          <p:cNvSpPr txBox="1"/>
          <p:nvPr/>
        </p:nvSpPr>
        <p:spPr>
          <a:xfrm>
            <a:off x="5669280" y="3127247"/>
            <a:ext cx="2331720" cy="310896"/>
          </a:xfrm>
          <a:prstGeom prst="rect">
            <a:avLst/>
          </a:prstGeom>
          <a:noFill/>
        </p:spPr>
        <p:txBody>
          <a:bodyPr wrap="square" anchor="t" lIns="0" rIns="0" tIns="0" bIns="0">
            <a:spAutoFit/>
          </a:bodyPr>
          <a:lstStyle/>
          <a:p>
            <a:pPr algn="l">
              <a:lnSpc>
                <a:spcPct val="100000"/>
              </a:lnSpc>
              <a:spcAft>
                <a:spcPts val="0"/>
              </a:spcAft>
            </a:pPr>
            <a:r>
              <a:rPr sz="1350" b="0">
                <a:solidFill>
                  <a:srgbClr val="1A1D21"/>
                </a:solidFill>
                <a:latin typeface="Segoe UI"/>
              </a:rPr>
              <a:t>single combined index</a:t>
            </a:r>
          </a:p>
        </p:txBody>
      </p:sp>
      <p:sp>
        <p:nvSpPr>
          <p:cNvPr id="23" name="Rectangle 22"/>
          <p:cNvSpPr/>
          <p:nvPr/>
        </p:nvSpPr>
        <p:spPr>
          <a:xfrm>
            <a:off x="822960" y="3438143"/>
            <a:ext cx="72694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529583"/>
            <a:ext cx="1143000" cy="310896"/>
          </a:xfrm>
          <a:prstGeom prst="rect">
            <a:avLst/>
          </a:prstGeom>
          <a:noFill/>
        </p:spPr>
        <p:txBody>
          <a:bodyPr wrap="square" anchor="t" lIns="0" rIns="0" tIns="0" bIns="0">
            <a:spAutoFit/>
          </a:bodyPr>
          <a:lstStyle/>
          <a:p>
            <a:pPr algn="l">
              <a:lnSpc>
                <a:spcPct val="100000"/>
              </a:lnSpc>
              <a:spcAft>
                <a:spcPts val="0"/>
              </a:spcAft>
            </a:pPr>
            <a:r>
              <a:rPr sz="1350" b="1">
                <a:solidFill>
                  <a:srgbClr val="A8322A"/>
                </a:solidFill>
                <a:latin typeface="Segoe UI"/>
              </a:rPr>
              <a:t>1.00</a:t>
            </a:r>
          </a:p>
        </p:txBody>
      </p:sp>
      <p:sp>
        <p:nvSpPr>
          <p:cNvPr id="25" name="TextBox 24"/>
          <p:cNvSpPr txBox="1"/>
          <p:nvPr/>
        </p:nvSpPr>
        <p:spPr>
          <a:xfrm>
            <a:off x="2240280" y="3529583"/>
            <a:ext cx="1600200" cy="310896"/>
          </a:xfrm>
          <a:prstGeom prst="rect">
            <a:avLst/>
          </a:prstGeom>
          <a:noFill/>
        </p:spPr>
        <p:txBody>
          <a:bodyPr wrap="square" anchor="t" lIns="0" rIns="0" tIns="0" bIns="0">
            <a:spAutoFit/>
          </a:bodyPr>
          <a:lstStyle/>
          <a:p>
            <a:pPr algn="r">
              <a:lnSpc>
                <a:spcPct val="100000"/>
              </a:lnSpc>
              <a:spcAft>
                <a:spcPts val="0"/>
              </a:spcAft>
            </a:pPr>
            <a:r>
              <a:rPr sz="1350" b="1">
                <a:solidFill>
                  <a:srgbClr val="A8322A"/>
                </a:solidFill>
                <a:latin typeface="Segoe UI"/>
              </a:rPr>
              <a:t>98.7</a:t>
            </a:r>
          </a:p>
        </p:txBody>
      </p:sp>
      <p:sp>
        <p:nvSpPr>
          <p:cNvPr id="26" name="TextBox 25"/>
          <p:cNvSpPr txBox="1"/>
          <p:nvPr/>
        </p:nvSpPr>
        <p:spPr>
          <a:xfrm>
            <a:off x="4023360" y="3529583"/>
            <a:ext cx="1463040" cy="310896"/>
          </a:xfrm>
          <a:prstGeom prst="rect">
            <a:avLst/>
          </a:prstGeom>
          <a:noFill/>
        </p:spPr>
        <p:txBody>
          <a:bodyPr wrap="square" anchor="t" lIns="0" rIns="0" tIns="0" bIns="0">
            <a:spAutoFit/>
          </a:bodyPr>
          <a:lstStyle/>
          <a:p>
            <a:pPr algn="r">
              <a:lnSpc>
                <a:spcPct val="100000"/>
              </a:lnSpc>
              <a:spcAft>
                <a:spcPts val="0"/>
              </a:spcAft>
            </a:pPr>
            <a:r>
              <a:rPr sz="1350" b="1">
                <a:solidFill>
                  <a:srgbClr val="A8322A"/>
                </a:solidFill>
                <a:latin typeface="Segoe UI"/>
              </a:rPr>
              <a:t>55.8</a:t>
            </a:r>
          </a:p>
        </p:txBody>
      </p:sp>
      <p:sp>
        <p:nvSpPr>
          <p:cNvPr id="27" name="TextBox 26"/>
          <p:cNvSpPr txBox="1"/>
          <p:nvPr/>
        </p:nvSpPr>
        <p:spPr>
          <a:xfrm>
            <a:off x="5669280" y="3529583"/>
            <a:ext cx="2331720" cy="310896"/>
          </a:xfrm>
          <a:prstGeom prst="rect">
            <a:avLst/>
          </a:prstGeom>
          <a:noFill/>
        </p:spPr>
        <p:txBody>
          <a:bodyPr wrap="square" anchor="t" lIns="0" rIns="0" tIns="0" bIns="0">
            <a:spAutoFit/>
          </a:bodyPr>
          <a:lstStyle/>
          <a:p>
            <a:pPr algn="l">
              <a:lnSpc>
                <a:spcPct val="100000"/>
              </a:lnSpc>
              <a:spcAft>
                <a:spcPts val="0"/>
              </a:spcAft>
            </a:pPr>
            <a:r>
              <a:rPr sz="1350" b="1">
                <a:solidFill>
                  <a:srgbClr val="A8322A"/>
                </a:solidFill>
                <a:latin typeface="Segoe UI"/>
              </a:rPr>
              <a:t>merges two indexes</a:t>
            </a:r>
          </a:p>
        </p:txBody>
      </p:sp>
      <p:sp>
        <p:nvSpPr>
          <p:cNvPr id="28" name="Rectangle 27"/>
          <p:cNvSpPr/>
          <p:nvPr/>
        </p:nvSpPr>
        <p:spPr>
          <a:xfrm>
            <a:off x="822960" y="3858767"/>
            <a:ext cx="72694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3977639"/>
            <a:ext cx="72694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251960"/>
            <a:ext cx="7269480" cy="1828800"/>
          </a:xfrm>
          <a:prstGeom prst="rect">
            <a:avLst/>
          </a:prstGeom>
          <a:noFill/>
        </p:spPr>
        <p:txBody>
          <a:bodyPr wrap="square" anchor="t" lIns="0" rIns="0" tIns="0" bIns="0">
            <a:spAutoFit/>
          </a:bodyPr>
          <a:lstStyle/>
          <a:p>
            <a:pPr algn="l">
              <a:lnSpc>
                <a:spcPct val="138000"/>
              </a:lnSpc>
              <a:spcAft>
                <a:spcPts val="0"/>
              </a:spcAft>
            </a:pPr>
            <a:r>
              <a:rPr sz="1550" b="1">
                <a:solidFill>
                  <a:srgbClr val="A8322A"/>
                </a:solidFill>
                <a:latin typeface="Segoe UI"/>
              </a:rPr>
              <a:t>General:</a:t>
            </a:r>
            <a:r>
              <a:rPr sz="1550" b="0">
                <a:solidFill>
                  <a:srgbClr val="1A1D21"/>
                </a:solidFill>
                <a:latin typeface="Segoe UI"/>
              </a:rPr>
              <a:t>  both engines are accurate only while a single index covers both columns and they can measure the answer directly. Once no such index exists, both multiply two separate guesses and both get it wrong.</a:t>
            </a:r>
          </a:p>
          <a:p>
            <a:pPr algn="l">
              <a:lnSpc>
                <a:spcPct val="138000"/>
              </a:lnSpc>
              <a:spcAft>
                <a:spcPts val="0"/>
              </a:spcAft>
            </a:pPr>
            <a:r>
              <a:rPr sz="700" b="0">
                <a:solidFill>
                  <a:srgbClr val="1A1D21"/>
                </a:solidFill>
                <a:latin typeface="Segoe UI"/>
              </a:rPr>
              <a:t/>
            </a:r>
          </a:p>
          <a:p>
            <a:pPr algn="l">
              <a:lnSpc>
                <a:spcPct val="138000"/>
              </a:lnSpc>
              <a:spcAft>
                <a:spcPts val="0"/>
              </a:spcAft>
            </a:pPr>
            <a:r>
              <a:rPr sz="1550" b="1">
                <a:solidFill>
                  <a:srgbClr val="1F4E5F"/>
                </a:solidFill>
                <a:latin typeface="Segoe UI"/>
              </a:rPr>
              <a:t>Product-specific:</a:t>
            </a:r>
            <a:r>
              <a:rPr sz="1550" b="0">
                <a:solidFill>
                  <a:srgbClr val="1A1D21"/>
                </a:solidFill>
                <a:latin typeface="Segoe UI"/>
              </a:rPr>
              <a:t>  good plan selection. PostgreSQL's 2.3% bad-choice rate is not a property of relational optimisers in general.</a:t>
            </a:r>
          </a:p>
        </p:txBody>
      </p:sp>
      <p:pic>
        <p:nvPicPr>
          <p:cNvPr id="31" name="Picture 30" descr="fig10_cross_conj.png"/>
          <p:cNvPicPr>
            <a:picLocks noChangeAspect="1"/>
          </p:cNvPicPr>
          <p:nvPr/>
        </p:nvPicPr>
        <p:blipFill>
          <a:blip r:embed="rId3"/>
          <a:stretch>
            <a:fillRect/>
          </a:stretch>
        </p:blipFill>
        <p:spPr>
          <a:xfrm>
            <a:off x="8412480" y="2148840"/>
            <a:ext cx="2926080" cy="1924281"/>
          </a:xfrm>
          <a:prstGeom prst="rect">
            <a:avLst/>
          </a:prstGeom>
        </p:spPr>
      </p:pic>
      <p:sp>
        <p:nvSpPr>
          <p:cNvPr id="32" name="TextBox 31"/>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7</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The two engines degrade in opposite directions</a:t>
            </a:r>
          </a:p>
        </p:txBody>
      </p:sp>
      <p:sp>
        <p:nvSpPr>
          <p:cNvPr id="4" name="TextBox 3"/>
          <p:cNvSpPr txBox="1"/>
          <p:nvPr/>
        </p:nvSpPr>
        <p:spPr>
          <a:xfrm>
            <a:off x="914400" y="1828800"/>
            <a:ext cx="1280160" cy="512064"/>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Table size</a:t>
            </a:r>
          </a:p>
        </p:txBody>
      </p:sp>
      <p:sp>
        <p:nvSpPr>
          <p:cNvPr id="5" name="TextBox 4"/>
          <p:cNvSpPr txBox="1"/>
          <p:nvPr/>
        </p:nvSpPr>
        <p:spPr>
          <a:xfrm>
            <a:off x="2377440" y="1828800"/>
            <a:ext cx="100584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PostgreSQL wrong</a:t>
            </a:r>
          </a:p>
        </p:txBody>
      </p:sp>
      <p:sp>
        <p:nvSpPr>
          <p:cNvPr id="6" name="TextBox 5"/>
          <p:cNvSpPr txBox="1"/>
          <p:nvPr/>
        </p:nvSpPr>
        <p:spPr>
          <a:xfrm>
            <a:off x="3566160" y="1828800"/>
            <a:ext cx="82296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worst case</a:t>
            </a:r>
          </a:p>
        </p:txBody>
      </p:sp>
      <p:sp>
        <p:nvSpPr>
          <p:cNvPr id="7" name="TextBox 6"/>
          <p:cNvSpPr txBox="1"/>
          <p:nvPr/>
        </p:nvSpPr>
        <p:spPr>
          <a:xfrm>
            <a:off x="4572000" y="1828800"/>
            <a:ext cx="100584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MariaDB wrong</a:t>
            </a:r>
          </a:p>
        </p:txBody>
      </p:sp>
      <p:sp>
        <p:nvSpPr>
          <p:cNvPr id="8" name="TextBox 7"/>
          <p:cNvSpPr txBox="1"/>
          <p:nvPr/>
        </p:nvSpPr>
        <p:spPr>
          <a:xfrm>
            <a:off x="5760720" y="1828800"/>
            <a:ext cx="868680" cy="512064"/>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worst case</a:t>
            </a:r>
          </a:p>
        </p:txBody>
      </p:sp>
      <p:sp>
        <p:nvSpPr>
          <p:cNvPr id="9" name="Rectangle 8"/>
          <p:cNvSpPr/>
          <p:nvPr/>
        </p:nvSpPr>
        <p:spPr>
          <a:xfrm>
            <a:off x="822960" y="2340864"/>
            <a:ext cx="58978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87168"/>
            <a:ext cx="128016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1,000,000</a:t>
            </a:r>
          </a:p>
        </p:txBody>
      </p:sp>
      <p:sp>
        <p:nvSpPr>
          <p:cNvPr id="11" name="TextBox 10"/>
          <p:cNvSpPr txBox="1"/>
          <p:nvPr/>
        </p:nvSpPr>
        <p:spPr>
          <a:xfrm>
            <a:off x="2377440" y="248716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0.0%</a:t>
            </a:r>
          </a:p>
        </p:txBody>
      </p:sp>
      <p:sp>
        <p:nvSpPr>
          <p:cNvPr id="12" name="TextBox 11"/>
          <p:cNvSpPr txBox="1"/>
          <p:nvPr/>
        </p:nvSpPr>
        <p:spPr>
          <a:xfrm>
            <a:off x="3566160" y="2487168"/>
            <a:ext cx="82296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1.1x</a:t>
            </a:r>
          </a:p>
        </p:txBody>
      </p:sp>
      <p:sp>
        <p:nvSpPr>
          <p:cNvPr id="13" name="TextBox 12"/>
          <p:cNvSpPr txBox="1"/>
          <p:nvPr/>
        </p:nvSpPr>
        <p:spPr>
          <a:xfrm>
            <a:off x="4572000" y="248716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52.9%</a:t>
            </a:r>
          </a:p>
        </p:txBody>
      </p:sp>
      <p:sp>
        <p:nvSpPr>
          <p:cNvPr id="14" name="TextBox 13"/>
          <p:cNvSpPr txBox="1"/>
          <p:nvPr/>
        </p:nvSpPr>
        <p:spPr>
          <a:xfrm>
            <a:off x="5760720" y="2487168"/>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3.3x</a:t>
            </a:r>
          </a:p>
        </p:txBody>
      </p:sp>
      <p:sp>
        <p:nvSpPr>
          <p:cNvPr id="15" name="Rectangle 14"/>
          <p:cNvSpPr/>
          <p:nvPr/>
        </p:nvSpPr>
        <p:spPr>
          <a:xfrm>
            <a:off x="822960" y="276148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852928"/>
            <a:ext cx="128016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1,250,000</a:t>
            </a:r>
          </a:p>
        </p:txBody>
      </p:sp>
      <p:sp>
        <p:nvSpPr>
          <p:cNvPr id="17" name="TextBox 16"/>
          <p:cNvSpPr txBox="1"/>
          <p:nvPr/>
        </p:nvSpPr>
        <p:spPr>
          <a:xfrm>
            <a:off x="2377440" y="285292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27.6%</a:t>
            </a:r>
          </a:p>
        </p:txBody>
      </p:sp>
      <p:sp>
        <p:nvSpPr>
          <p:cNvPr id="18" name="TextBox 17"/>
          <p:cNvSpPr txBox="1"/>
          <p:nvPr/>
        </p:nvSpPr>
        <p:spPr>
          <a:xfrm>
            <a:off x="3566160" y="2852928"/>
            <a:ext cx="82296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1.7x</a:t>
            </a:r>
          </a:p>
        </p:txBody>
      </p:sp>
      <p:sp>
        <p:nvSpPr>
          <p:cNvPr id="19" name="TextBox 18"/>
          <p:cNvSpPr txBox="1"/>
          <p:nvPr/>
        </p:nvSpPr>
        <p:spPr>
          <a:xfrm>
            <a:off x="4572000" y="285292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74.3%</a:t>
            </a:r>
          </a:p>
        </p:txBody>
      </p:sp>
      <p:sp>
        <p:nvSpPr>
          <p:cNvPr id="20" name="TextBox 19"/>
          <p:cNvSpPr txBox="1"/>
          <p:nvPr/>
        </p:nvSpPr>
        <p:spPr>
          <a:xfrm>
            <a:off x="5760720" y="2852928"/>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6.5x</a:t>
            </a:r>
          </a:p>
        </p:txBody>
      </p:sp>
      <p:sp>
        <p:nvSpPr>
          <p:cNvPr id="21" name="Rectangle 20"/>
          <p:cNvSpPr/>
          <p:nvPr/>
        </p:nvSpPr>
        <p:spPr>
          <a:xfrm>
            <a:off x="822960" y="312724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218688"/>
            <a:ext cx="128016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1,500,000</a:t>
            </a:r>
          </a:p>
        </p:txBody>
      </p:sp>
      <p:sp>
        <p:nvSpPr>
          <p:cNvPr id="23" name="TextBox 22"/>
          <p:cNvSpPr txBox="1"/>
          <p:nvPr/>
        </p:nvSpPr>
        <p:spPr>
          <a:xfrm>
            <a:off x="2377440" y="321868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6.9%</a:t>
            </a:r>
          </a:p>
        </p:txBody>
      </p:sp>
      <p:sp>
        <p:nvSpPr>
          <p:cNvPr id="24" name="TextBox 23"/>
          <p:cNvSpPr txBox="1"/>
          <p:nvPr/>
        </p:nvSpPr>
        <p:spPr>
          <a:xfrm>
            <a:off x="3566160" y="3218688"/>
            <a:ext cx="82296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1.8x</a:t>
            </a:r>
          </a:p>
        </p:txBody>
      </p:sp>
      <p:sp>
        <p:nvSpPr>
          <p:cNvPr id="25" name="TextBox 24"/>
          <p:cNvSpPr txBox="1"/>
          <p:nvPr/>
        </p:nvSpPr>
        <p:spPr>
          <a:xfrm>
            <a:off x="4572000" y="321868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77.8%</a:t>
            </a:r>
          </a:p>
        </p:txBody>
      </p:sp>
      <p:sp>
        <p:nvSpPr>
          <p:cNvPr id="26" name="TextBox 25"/>
          <p:cNvSpPr txBox="1"/>
          <p:nvPr/>
        </p:nvSpPr>
        <p:spPr>
          <a:xfrm>
            <a:off x="5760720" y="3218688"/>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10.9x</a:t>
            </a:r>
          </a:p>
        </p:txBody>
      </p:sp>
      <p:sp>
        <p:nvSpPr>
          <p:cNvPr id="27" name="Rectangle 26"/>
          <p:cNvSpPr/>
          <p:nvPr/>
        </p:nvSpPr>
        <p:spPr>
          <a:xfrm>
            <a:off x="822960" y="349300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584448"/>
            <a:ext cx="128016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2,000,000</a:t>
            </a:r>
          </a:p>
        </p:txBody>
      </p:sp>
      <p:sp>
        <p:nvSpPr>
          <p:cNvPr id="29" name="TextBox 28"/>
          <p:cNvSpPr txBox="1"/>
          <p:nvPr/>
        </p:nvSpPr>
        <p:spPr>
          <a:xfrm>
            <a:off x="2377440" y="358444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6.5%</a:t>
            </a:r>
          </a:p>
        </p:txBody>
      </p:sp>
      <p:sp>
        <p:nvSpPr>
          <p:cNvPr id="30" name="TextBox 29"/>
          <p:cNvSpPr txBox="1"/>
          <p:nvPr/>
        </p:nvSpPr>
        <p:spPr>
          <a:xfrm>
            <a:off x="3566160" y="3584448"/>
            <a:ext cx="82296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1.4x</a:t>
            </a:r>
          </a:p>
        </p:txBody>
      </p:sp>
      <p:sp>
        <p:nvSpPr>
          <p:cNvPr id="31" name="TextBox 30"/>
          <p:cNvSpPr txBox="1"/>
          <p:nvPr/>
        </p:nvSpPr>
        <p:spPr>
          <a:xfrm>
            <a:off x="4572000" y="358444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75.7%</a:t>
            </a:r>
          </a:p>
        </p:txBody>
      </p:sp>
      <p:sp>
        <p:nvSpPr>
          <p:cNvPr id="32" name="TextBox 31"/>
          <p:cNvSpPr txBox="1"/>
          <p:nvPr/>
        </p:nvSpPr>
        <p:spPr>
          <a:xfrm>
            <a:off x="5760720" y="3584448"/>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15.2x</a:t>
            </a:r>
          </a:p>
        </p:txBody>
      </p:sp>
      <p:sp>
        <p:nvSpPr>
          <p:cNvPr id="33" name="Rectangle 32"/>
          <p:cNvSpPr/>
          <p:nvPr/>
        </p:nvSpPr>
        <p:spPr>
          <a:xfrm>
            <a:off x="822960" y="385876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950208"/>
            <a:ext cx="128016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3,000,000</a:t>
            </a:r>
          </a:p>
        </p:txBody>
      </p:sp>
      <p:sp>
        <p:nvSpPr>
          <p:cNvPr id="35" name="TextBox 34"/>
          <p:cNvSpPr txBox="1"/>
          <p:nvPr/>
        </p:nvSpPr>
        <p:spPr>
          <a:xfrm>
            <a:off x="2377440" y="395020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6.1%</a:t>
            </a:r>
          </a:p>
        </p:txBody>
      </p:sp>
      <p:sp>
        <p:nvSpPr>
          <p:cNvPr id="36" name="TextBox 35"/>
          <p:cNvSpPr txBox="1"/>
          <p:nvPr/>
        </p:nvSpPr>
        <p:spPr>
          <a:xfrm>
            <a:off x="3566160" y="3950208"/>
            <a:ext cx="82296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1.7x</a:t>
            </a:r>
          </a:p>
        </p:txBody>
      </p:sp>
      <p:sp>
        <p:nvSpPr>
          <p:cNvPr id="37" name="TextBox 36"/>
          <p:cNvSpPr txBox="1"/>
          <p:nvPr/>
        </p:nvSpPr>
        <p:spPr>
          <a:xfrm>
            <a:off x="4572000" y="395020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36.1%</a:t>
            </a:r>
          </a:p>
        </p:txBody>
      </p:sp>
      <p:sp>
        <p:nvSpPr>
          <p:cNvPr id="38" name="TextBox 37"/>
          <p:cNvSpPr txBox="1"/>
          <p:nvPr/>
        </p:nvSpPr>
        <p:spPr>
          <a:xfrm>
            <a:off x="5760720" y="3950208"/>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18.8x</a:t>
            </a:r>
          </a:p>
        </p:txBody>
      </p:sp>
      <p:sp>
        <p:nvSpPr>
          <p:cNvPr id="39" name="Rectangle 38"/>
          <p:cNvSpPr/>
          <p:nvPr/>
        </p:nvSpPr>
        <p:spPr>
          <a:xfrm>
            <a:off x="822960" y="422452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315968"/>
            <a:ext cx="1280160" cy="310896"/>
          </a:xfrm>
          <a:prstGeom prst="rect">
            <a:avLst/>
          </a:prstGeom>
          <a:noFill/>
        </p:spPr>
        <p:txBody>
          <a:bodyPr wrap="square" anchor="t" lIns="0" rIns="0" tIns="0" bIns="0">
            <a:spAutoFit/>
          </a:bodyPr>
          <a:lstStyle/>
          <a:p>
            <a:pPr algn="l">
              <a:lnSpc>
                <a:spcPct val="100000"/>
              </a:lnSpc>
              <a:spcAft>
                <a:spcPts val="0"/>
              </a:spcAft>
            </a:pPr>
            <a:r>
              <a:rPr sz="1300" b="0">
                <a:solidFill>
                  <a:srgbClr val="1A1D21"/>
                </a:solidFill>
                <a:latin typeface="Segoe UI"/>
              </a:rPr>
              <a:t>5,000,000</a:t>
            </a:r>
          </a:p>
        </p:txBody>
      </p:sp>
      <p:sp>
        <p:nvSpPr>
          <p:cNvPr id="41" name="TextBox 40"/>
          <p:cNvSpPr txBox="1"/>
          <p:nvPr/>
        </p:nvSpPr>
        <p:spPr>
          <a:xfrm>
            <a:off x="2377440" y="431596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12.1%</a:t>
            </a:r>
          </a:p>
        </p:txBody>
      </p:sp>
      <p:sp>
        <p:nvSpPr>
          <p:cNvPr id="42" name="TextBox 41"/>
          <p:cNvSpPr txBox="1"/>
          <p:nvPr/>
        </p:nvSpPr>
        <p:spPr>
          <a:xfrm>
            <a:off x="3566160" y="4315968"/>
            <a:ext cx="82296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1.8x</a:t>
            </a:r>
          </a:p>
        </p:txBody>
      </p:sp>
      <p:sp>
        <p:nvSpPr>
          <p:cNvPr id="43" name="TextBox 42"/>
          <p:cNvSpPr txBox="1"/>
          <p:nvPr/>
        </p:nvSpPr>
        <p:spPr>
          <a:xfrm>
            <a:off x="4572000" y="4315968"/>
            <a:ext cx="100584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37.9%</a:t>
            </a:r>
          </a:p>
        </p:txBody>
      </p:sp>
      <p:sp>
        <p:nvSpPr>
          <p:cNvPr id="44" name="TextBox 43"/>
          <p:cNvSpPr txBox="1"/>
          <p:nvPr/>
        </p:nvSpPr>
        <p:spPr>
          <a:xfrm>
            <a:off x="5760720" y="4315968"/>
            <a:ext cx="868680" cy="310896"/>
          </a:xfrm>
          <a:prstGeom prst="rect">
            <a:avLst/>
          </a:prstGeom>
          <a:noFill/>
        </p:spPr>
        <p:txBody>
          <a:bodyPr wrap="square" anchor="t" lIns="0" rIns="0" tIns="0" bIns="0">
            <a:spAutoFit/>
          </a:bodyPr>
          <a:lstStyle/>
          <a:p>
            <a:pPr algn="r">
              <a:lnSpc>
                <a:spcPct val="100000"/>
              </a:lnSpc>
              <a:spcAft>
                <a:spcPts val="0"/>
              </a:spcAft>
            </a:pPr>
            <a:r>
              <a:rPr sz="1300" b="0">
                <a:solidFill>
                  <a:srgbClr val="1A1D21"/>
                </a:solidFill>
                <a:latin typeface="Segoe UI"/>
              </a:rPr>
              <a:t>27.8x</a:t>
            </a:r>
          </a:p>
        </p:txBody>
      </p:sp>
      <p:sp>
        <p:nvSpPr>
          <p:cNvPr id="45" name="Rectangle 44"/>
          <p:cNvSpPr/>
          <p:nvPr/>
        </p:nvSpPr>
        <p:spPr>
          <a:xfrm>
            <a:off x="822960" y="459028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4681728"/>
            <a:ext cx="1280160" cy="310896"/>
          </a:xfrm>
          <a:prstGeom prst="rect">
            <a:avLst/>
          </a:prstGeom>
          <a:noFill/>
        </p:spPr>
        <p:txBody>
          <a:bodyPr wrap="square" anchor="t" lIns="0" rIns="0" tIns="0" bIns="0">
            <a:spAutoFit/>
          </a:bodyPr>
          <a:lstStyle/>
          <a:p>
            <a:pPr algn="l">
              <a:lnSpc>
                <a:spcPct val="100000"/>
              </a:lnSpc>
              <a:spcAft>
                <a:spcPts val="0"/>
              </a:spcAft>
            </a:pPr>
            <a:r>
              <a:rPr sz="1300" b="1">
                <a:solidFill>
                  <a:srgbClr val="A8322A"/>
                </a:solidFill>
                <a:latin typeface="Segoe UI"/>
              </a:rPr>
              <a:t>10,000,000</a:t>
            </a:r>
          </a:p>
        </p:txBody>
      </p:sp>
      <p:sp>
        <p:nvSpPr>
          <p:cNvPr id="47" name="TextBox 46"/>
          <p:cNvSpPr txBox="1"/>
          <p:nvPr/>
        </p:nvSpPr>
        <p:spPr>
          <a:xfrm>
            <a:off x="2377440" y="4681728"/>
            <a:ext cx="100584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36.1%</a:t>
            </a:r>
          </a:p>
        </p:txBody>
      </p:sp>
      <p:sp>
        <p:nvSpPr>
          <p:cNvPr id="48" name="TextBox 47"/>
          <p:cNvSpPr txBox="1"/>
          <p:nvPr/>
        </p:nvSpPr>
        <p:spPr>
          <a:xfrm>
            <a:off x="3566160" y="4681728"/>
            <a:ext cx="82296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3.7x</a:t>
            </a:r>
          </a:p>
        </p:txBody>
      </p:sp>
      <p:sp>
        <p:nvSpPr>
          <p:cNvPr id="49" name="TextBox 48"/>
          <p:cNvSpPr txBox="1"/>
          <p:nvPr/>
        </p:nvSpPr>
        <p:spPr>
          <a:xfrm>
            <a:off x="4572000" y="4681728"/>
            <a:ext cx="100584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12.4%</a:t>
            </a:r>
          </a:p>
        </p:txBody>
      </p:sp>
      <p:sp>
        <p:nvSpPr>
          <p:cNvPr id="50" name="TextBox 49"/>
          <p:cNvSpPr txBox="1"/>
          <p:nvPr/>
        </p:nvSpPr>
        <p:spPr>
          <a:xfrm>
            <a:off x="5760720" y="4681728"/>
            <a:ext cx="868680" cy="310896"/>
          </a:xfrm>
          <a:prstGeom prst="rect">
            <a:avLst/>
          </a:prstGeom>
          <a:noFill/>
        </p:spPr>
        <p:txBody>
          <a:bodyPr wrap="square" anchor="t" lIns="0" rIns="0" tIns="0" bIns="0">
            <a:spAutoFit/>
          </a:bodyPr>
          <a:lstStyle/>
          <a:p>
            <a:pPr algn="r">
              <a:lnSpc>
                <a:spcPct val="100000"/>
              </a:lnSpc>
              <a:spcAft>
                <a:spcPts val="0"/>
              </a:spcAft>
            </a:pPr>
            <a:r>
              <a:rPr sz="1300" b="1">
                <a:solidFill>
                  <a:srgbClr val="A8322A"/>
                </a:solidFill>
                <a:latin typeface="Segoe UI"/>
              </a:rPr>
              <a:t>30.9x</a:t>
            </a:r>
          </a:p>
        </p:txBody>
      </p:sp>
      <p:sp>
        <p:nvSpPr>
          <p:cNvPr id="51" name="Rectangle 50"/>
          <p:cNvSpPr/>
          <p:nvPr/>
        </p:nvSpPr>
        <p:spPr>
          <a:xfrm>
            <a:off x="822960" y="4974336"/>
            <a:ext cx="58978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ig8_degradation_shape.png"/>
          <p:cNvPicPr>
            <a:picLocks noChangeAspect="1"/>
          </p:cNvPicPr>
          <p:nvPr/>
        </p:nvPicPr>
        <p:blipFill>
          <a:blip r:embed="rId3"/>
          <a:stretch>
            <a:fillRect/>
          </a:stretch>
        </p:blipFill>
        <p:spPr>
          <a:xfrm>
            <a:off x="6949440" y="1874519"/>
            <a:ext cx="4389120" cy="2148368"/>
          </a:xfrm>
          <a:prstGeom prst="rect">
            <a:avLst/>
          </a:prstGeom>
        </p:spPr>
      </p:pic>
      <p:sp>
        <p:nvSpPr>
          <p:cNvPr id="53" name="TextBox 52"/>
          <p:cNvSpPr txBox="1"/>
          <p:nvPr/>
        </p:nvSpPr>
        <p:spPr>
          <a:xfrm>
            <a:off x="6949440" y="4297680"/>
            <a:ext cx="4389120" cy="1828800"/>
          </a:xfrm>
          <a:prstGeom prst="rect">
            <a:avLst/>
          </a:prstGeom>
          <a:noFill/>
        </p:spPr>
        <p:txBody>
          <a:bodyPr wrap="square" anchor="t" lIns="0" rIns="0" tIns="0" bIns="0">
            <a:spAutoFit/>
          </a:bodyPr>
          <a:lstStyle/>
          <a:p>
            <a:pPr algn="l">
              <a:lnSpc>
                <a:spcPct val="132000"/>
              </a:lnSpc>
              <a:spcAft>
                <a:spcPts val="0"/>
              </a:spcAft>
            </a:pPr>
            <a:r>
              <a:rPr sz="1400" b="1">
                <a:solidFill>
                  <a:srgbClr val="1A1D21"/>
                </a:solidFill>
                <a:latin typeface="Segoe UI"/>
              </a:rPr>
              <a:t>Wrong often but never badly is easier to operate than wrong rarely but catastrophically.</a:t>
            </a:r>
          </a:p>
          <a:p>
            <a:pPr algn="l">
              <a:lnSpc>
                <a:spcPct val="132000"/>
              </a:lnSpc>
              <a:spcAft>
                <a:spcPts val="0"/>
              </a:spcAft>
            </a:pPr>
            <a:r>
              <a:rPr sz="600" b="0">
                <a:solidFill>
                  <a:srgbClr val="1A1D21"/>
                </a:solidFill>
                <a:latin typeface="Segoe UI"/>
              </a:rPr>
              <a:t/>
            </a:r>
          </a:p>
          <a:p>
            <a:pPr algn="l">
              <a:lnSpc>
                <a:spcPct val="132000"/>
              </a:lnSpc>
              <a:spcAft>
                <a:spcPts val="0"/>
              </a:spcAft>
            </a:pPr>
            <a:r>
              <a:rPr sz="1350" b="0">
                <a:solidFill>
                  <a:srgbClr val="70757A"/>
                </a:solidFill>
                <a:latin typeface="Segoe UI"/>
              </a:rPr>
              <a:t>Bitmap scans cap the damage: even a wrong choice reads the disk in order. MariaDB has no such ceiling.</a:t>
            </a:r>
          </a:p>
        </p:txBody>
      </p:sp>
      <p:sp>
        <p:nvSpPr>
          <p:cNvPr id="54" name="TextBox 53"/>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spcAft>
                <a:spcPts val="0"/>
              </a:spcAft>
            </a:pPr>
            <a:r>
              <a:rPr sz="1050" b="0">
                <a:solidFill>
                  <a:srgbClr val="70757A"/>
                </a:solidFill>
                <a:latin typeface="Segoe UI"/>
              </a:rPr>
              <a:t>Both engines judged only against plans the other could also have formed, so neither is held to a stricter standard.</a:t>
            </a:r>
          </a:p>
        </p:txBody>
      </p:sp>
      <p:sp>
        <p:nvSpPr>
          <p:cNvPr id="55" name="TextBox 54"/>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8</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Which cost dominates is a property of the engine</a:t>
            </a:r>
          </a:p>
        </p:txBody>
      </p:sp>
      <p:sp>
        <p:nvSpPr>
          <p:cNvPr id="4" name="TextBox 3"/>
          <p:cNvSpPr txBox="1"/>
          <p:nvPr/>
        </p:nvSpPr>
        <p:spPr>
          <a:xfrm>
            <a:off x="914400" y="1965960"/>
            <a:ext cx="210312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
            </a:r>
          </a:p>
        </p:txBody>
      </p:sp>
      <p:sp>
        <p:nvSpPr>
          <p:cNvPr id="5" name="TextBox 4"/>
          <p:cNvSpPr txBox="1"/>
          <p:nvPr/>
        </p:nvSpPr>
        <p:spPr>
          <a:xfrm>
            <a:off x="3200400" y="1965960"/>
            <a:ext cx="178308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Time running queries</a:t>
            </a:r>
          </a:p>
        </p:txBody>
      </p:sp>
      <p:sp>
        <p:nvSpPr>
          <p:cNvPr id="6" name="TextBox 5"/>
          <p:cNvSpPr txBox="1"/>
          <p:nvPr/>
        </p:nvSpPr>
        <p:spPr>
          <a:xfrm>
            <a:off x="5166360" y="1965960"/>
            <a:ext cx="178308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Time building indexes</a:t>
            </a:r>
          </a:p>
        </p:txBody>
      </p:sp>
      <p:sp>
        <p:nvSpPr>
          <p:cNvPr id="7" name="Rectangle 6"/>
          <p:cNvSpPr/>
          <p:nvPr/>
        </p:nvSpPr>
        <p:spPr>
          <a:xfrm>
            <a:off x="822960" y="2267712"/>
            <a:ext cx="62179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14016"/>
            <a:ext cx="2103120" cy="310896"/>
          </a:xfrm>
          <a:prstGeom prst="rect">
            <a:avLst/>
          </a:prstGeom>
          <a:noFill/>
        </p:spPr>
        <p:txBody>
          <a:bodyPr wrap="square" anchor="t" lIns="0" rIns="0" tIns="0" bIns="0">
            <a:spAutoFit/>
          </a:bodyPr>
          <a:lstStyle/>
          <a:p>
            <a:pPr algn="l">
              <a:lnSpc>
                <a:spcPct val="100000"/>
              </a:lnSpc>
              <a:spcAft>
                <a:spcPts val="0"/>
              </a:spcAft>
            </a:pPr>
            <a:r>
              <a:rPr sz="1450" b="0">
                <a:solidFill>
                  <a:srgbClr val="1A1D21"/>
                </a:solidFill>
                <a:latin typeface="Segoe UI"/>
              </a:rPr>
              <a:t>PostgreSQL 17.1</a:t>
            </a:r>
          </a:p>
        </p:txBody>
      </p:sp>
      <p:sp>
        <p:nvSpPr>
          <p:cNvPr id="9" name="TextBox 8"/>
          <p:cNvSpPr txBox="1"/>
          <p:nvPr/>
        </p:nvSpPr>
        <p:spPr>
          <a:xfrm>
            <a:off x="3200400" y="2414016"/>
            <a:ext cx="178308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50.8 min</a:t>
            </a:r>
          </a:p>
        </p:txBody>
      </p:sp>
      <p:sp>
        <p:nvSpPr>
          <p:cNvPr id="10" name="TextBox 9"/>
          <p:cNvSpPr txBox="1"/>
          <p:nvPr/>
        </p:nvSpPr>
        <p:spPr>
          <a:xfrm>
            <a:off x="5166360" y="2414016"/>
            <a:ext cx="178308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45.6 min</a:t>
            </a:r>
          </a:p>
        </p:txBody>
      </p:sp>
      <p:sp>
        <p:nvSpPr>
          <p:cNvPr id="11" name="Rectangle 10"/>
          <p:cNvSpPr/>
          <p:nvPr/>
        </p:nvSpPr>
        <p:spPr>
          <a:xfrm>
            <a:off x="822960" y="2779776"/>
            <a:ext cx="62179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71216"/>
            <a:ext cx="2103120" cy="310896"/>
          </a:xfrm>
          <a:prstGeom prst="rect">
            <a:avLst/>
          </a:prstGeom>
          <a:noFill/>
        </p:spPr>
        <p:txBody>
          <a:bodyPr wrap="square" anchor="t" lIns="0" rIns="0" tIns="0" bIns="0">
            <a:spAutoFit/>
          </a:bodyPr>
          <a:lstStyle/>
          <a:p>
            <a:pPr algn="l">
              <a:lnSpc>
                <a:spcPct val="100000"/>
              </a:lnSpc>
              <a:spcAft>
                <a:spcPts val="0"/>
              </a:spcAft>
            </a:pPr>
            <a:r>
              <a:rPr sz="1450" b="0">
                <a:solidFill>
                  <a:srgbClr val="1A1D21"/>
                </a:solidFill>
                <a:latin typeface="Segoe UI"/>
              </a:rPr>
              <a:t>MariaDB 10.4.28</a:t>
            </a:r>
          </a:p>
        </p:txBody>
      </p:sp>
      <p:sp>
        <p:nvSpPr>
          <p:cNvPr id="13" name="TextBox 12"/>
          <p:cNvSpPr txBox="1"/>
          <p:nvPr/>
        </p:nvSpPr>
        <p:spPr>
          <a:xfrm>
            <a:off x="3200400" y="2871216"/>
            <a:ext cx="178308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781.8 min</a:t>
            </a:r>
          </a:p>
        </p:txBody>
      </p:sp>
      <p:sp>
        <p:nvSpPr>
          <p:cNvPr id="14" name="TextBox 13"/>
          <p:cNvSpPr txBox="1"/>
          <p:nvPr/>
        </p:nvSpPr>
        <p:spPr>
          <a:xfrm>
            <a:off x="5166360" y="2871216"/>
            <a:ext cx="178308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19.3 min</a:t>
            </a:r>
          </a:p>
        </p:txBody>
      </p:sp>
      <p:sp>
        <p:nvSpPr>
          <p:cNvPr id="15" name="Rectangle 14"/>
          <p:cNvSpPr/>
          <p:nvPr/>
        </p:nvSpPr>
        <p:spPr>
          <a:xfrm>
            <a:off x="822960" y="3236976"/>
            <a:ext cx="62179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28416"/>
            <a:ext cx="2103120" cy="310896"/>
          </a:xfrm>
          <a:prstGeom prst="rect">
            <a:avLst/>
          </a:prstGeom>
          <a:noFill/>
        </p:spPr>
        <p:txBody>
          <a:bodyPr wrap="square" anchor="t" lIns="0" rIns="0" tIns="0" bIns="0">
            <a:spAutoFit/>
          </a:bodyPr>
          <a:lstStyle/>
          <a:p>
            <a:pPr algn="l">
              <a:lnSpc>
                <a:spcPct val="100000"/>
              </a:lnSpc>
              <a:spcAft>
                <a:spcPts val="0"/>
              </a:spcAft>
            </a:pPr>
            <a:r>
              <a:rPr sz="1450" b="1">
                <a:solidFill>
                  <a:srgbClr val="A8322A"/>
                </a:solidFill>
                <a:latin typeface="Segoe UI"/>
              </a:rPr>
              <a:t>Ratio</a:t>
            </a:r>
          </a:p>
        </p:txBody>
      </p:sp>
      <p:sp>
        <p:nvSpPr>
          <p:cNvPr id="17" name="TextBox 16"/>
          <p:cNvSpPr txBox="1"/>
          <p:nvPr/>
        </p:nvSpPr>
        <p:spPr>
          <a:xfrm>
            <a:off x="3200400" y="3328416"/>
            <a:ext cx="1783080" cy="310896"/>
          </a:xfrm>
          <a:prstGeom prst="rect">
            <a:avLst/>
          </a:prstGeom>
          <a:noFill/>
        </p:spPr>
        <p:txBody>
          <a:bodyPr wrap="square" anchor="t" lIns="0" rIns="0" tIns="0" bIns="0">
            <a:spAutoFit/>
          </a:bodyPr>
          <a:lstStyle/>
          <a:p>
            <a:pPr algn="r">
              <a:lnSpc>
                <a:spcPct val="100000"/>
              </a:lnSpc>
              <a:spcAft>
                <a:spcPts val="0"/>
              </a:spcAft>
            </a:pPr>
            <a:r>
              <a:rPr sz="1450" b="1">
                <a:solidFill>
                  <a:srgbClr val="A8322A"/>
                </a:solidFill>
                <a:latin typeface="Segoe UI"/>
              </a:rPr>
              <a:t>15.4x slower</a:t>
            </a:r>
          </a:p>
        </p:txBody>
      </p:sp>
      <p:sp>
        <p:nvSpPr>
          <p:cNvPr id="18" name="TextBox 17"/>
          <p:cNvSpPr txBox="1"/>
          <p:nvPr/>
        </p:nvSpPr>
        <p:spPr>
          <a:xfrm>
            <a:off x="5166360" y="3328416"/>
            <a:ext cx="1783080" cy="310896"/>
          </a:xfrm>
          <a:prstGeom prst="rect">
            <a:avLst/>
          </a:prstGeom>
          <a:noFill/>
        </p:spPr>
        <p:txBody>
          <a:bodyPr wrap="square" anchor="t" lIns="0" rIns="0" tIns="0" bIns="0">
            <a:spAutoFit/>
          </a:bodyPr>
          <a:lstStyle/>
          <a:p>
            <a:pPr algn="r">
              <a:lnSpc>
                <a:spcPct val="100000"/>
              </a:lnSpc>
              <a:spcAft>
                <a:spcPts val="0"/>
              </a:spcAft>
            </a:pPr>
            <a:r>
              <a:rPr sz="1450" b="1">
                <a:solidFill>
                  <a:srgbClr val="A8322A"/>
                </a:solidFill>
                <a:latin typeface="Segoe UI"/>
              </a:rPr>
              <a:t>2.4x faster</a:t>
            </a:r>
          </a:p>
        </p:txBody>
      </p:sp>
      <p:sp>
        <p:nvSpPr>
          <p:cNvPr id="19" name="Rectangle 18"/>
          <p:cNvSpPr/>
          <p:nvPr/>
        </p:nvSpPr>
        <p:spPr>
          <a:xfrm>
            <a:off x="822960" y="3712464"/>
            <a:ext cx="62179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886200"/>
            <a:ext cx="630936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206240"/>
            <a:ext cx="6309360" cy="1645920"/>
          </a:xfrm>
          <a:prstGeom prst="rect">
            <a:avLst/>
          </a:prstGeom>
          <a:noFill/>
        </p:spPr>
        <p:txBody>
          <a:bodyPr wrap="square" anchor="t" lIns="0" rIns="0" tIns="0" bIns="0">
            <a:spAutoFit/>
          </a:bodyPr>
          <a:lstStyle/>
          <a:p>
            <a:pPr algn="l">
              <a:lnSpc>
                <a:spcPct val="135000"/>
              </a:lnSpc>
              <a:spcAft>
                <a:spcPts val="0"/>
              </a:spcAft>
            </a:pPr>
            <a:r>
              <a:rPr sz="1700" b="0">
                <a:solidFill>
                  <a:srgbClr val="1A1D21"/>
                </a:solidFill>
                <a:latin typeface="Georgia"/>
              </a:rPr>
              <a:t>A study measuring only build time and a study measuring only query time would rank these two databases in opposite orders.</a:t>
            </a:r>
          </a:p>
          <a:p>
            <a:pPr algn="l">
              <a:lnSpc>
                <a:spcPct val="135000"/>
              </a:lnSpc>
              <a:spcAft>
                <a:spcPts val="0"/>
              </a:spcAft>
            </a:pPr>
            <a:r>
              <a:rPr sz="800" b="0">
                <a:solidFill>
                  <a:srgbClr val="1A1D21"/>
                </a:solidFill>
                <a:latin typeface="Segoe UI"/>
              </a:rPr>
              <a:t/>
            </a:r>
          </a:p>
          <a:p>
            <a:pPr algn="l">
              <a:lnSpc>
                <a:spcPct val="135000"/>
              </a:lnSpc>
              <a:spcAft>
                <a:spcPts val="0"/>
              </a:spcAft>
            </a:pPr>
            <a:r>
              <a:rPr sz="1350" b="0">
                <a:solidFill>
                  <a:srgbClr val="70757A"/>
                </a:solidFill>
                <a:latin typeface="Segoe UI"/>
              </a:rPr>
              <a:t>Measured at 10,000,000 rows with the same 128 MB pool, counting only index types both engines support.</a:t>
            </a:r>
          </a:p>
        </p:txBody>
      </p:sp>
      <p:pic>
        <p:nvPicPr>
          <p:cNvPr id="22" name="Picture 21" descr="fig9_resource_cost.png"/>
          <p:cNvPicPr>
            <a:picLocks noChangeAspect="1"/>
          </p:cNvPicPr>
          <p:nvPr/>
        </p:nvPicPr>
        <p:blipFill>
          <a:blip r:embed="rId3"/>
          <a:stretch>
            <a:fillRect/>
          </a:stretch>
        </p:blipFill>
        <p:spPr>
          <a:xfrm>
            <a:off x="7452360" y="2011680"/>
            <a:ext cx="3886200" cy="2364253"/>
          </a:xfrm>
          <a:prstGeom prst="rect">
            <a:avLst/>
          </a:prstGeom>
        </p:spPr>
      </p:pic>
      <p:sp>
        <p:nvSpPr>
          <p:cNvPr id="23" name="TextBox 22"/>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FINDING 10  /  VALIDITY</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One explanation I had to withdraw</a:t>
            </a:r>
          </a:p>
        </p:txBody>
      </p:sp>
      <p:sp>
        <p:nvSpPr>
          <p:cNvPr id="4" name="TextBox 3"/>
          <p:cNvSpPr txBox="1"/>
          <p:nvPr/>
        </p:nvSpPr>
        <p:spPr>
          <a:xfrm>
            <a:off x="822960" y="1874519"/>
            <a:ext cx="5577840" cy="2377440"/>
          </a:xfrm>
          <a:prstGeom prst="rect">
            <a:avLst/>
          </a:prstGeom>
          <a:noFill/>
        </p:spPr>
        <p:txBody>
          <a:bodyPr wrap="square" anchor="t" lIns="0" rIns="0" tIns="0" bIns="0">
            <a:spAutoFit/>
          </a:bodyPr>
          <a:lstStyle/>
          <a:p>
            <a:pPr algn="l">
              <a:lnSpc>
                <a:spcPct val="136000"/>
              </a:lnSpc>
              <a:spcAft>
                <a:spcPts val="0"/>
              </a:spcAft>
            </a:pPr>
            <a:r>
              <a:rPr sz="1300" b="1">
                <a:solidFill>
                  <a:srgbClr val="70757A"/>
                </a:solidFill>
                <a:latin typeface="Segoe UI"/>
              </a:rPr>
              <a:t>What I claimed</a:t>
            </a:r>
          </a:p>
          <a:p>
            <a:pPr algn="l">
              <a:lnSpc>
                <a:spcPct val="136000"/>
              </a:lnSpc>
              <a:spcAft>
                <a:spcPts val="0"/>
              </a:spcAft>
            </a:pPr>
            <a:r>
              <a:rPr sz="1550" b="0">
                <a:solidFill>
                  <a:srgbClr val="1A1D21"/>
                </a:solidFill>
                <a:latin typeface="Segoe UI"/>
              </a:rPr>
              <a:t>That the correlated-column failure was caused by the plan shape that merges two indexes, since both engines fail while using it.</a:t>
            </a:r>
          </a:p>
          <a:p>
            <a:pPr algn="l">
              <a:lnSpc>
                <a:spcPct val="136000"/>
              </a:lnSpc>
              <a:spcAft>
                <a:spcPts val="0"/>
              </a:spcAft>
            </a:pPr>
            <a:r>
              <a:rPr sz="900" b="0">
                <a:solidFill>
                  <a:srgbClr val="1A1D21"/>
                </a:solidFill>
                <a:latin typeface="Segoe UI"/>
              </a:rPr>
              <a:t/>
            </a:r>
          </a:p>
          <a:p>
            <a:pPr algn="l">
              <a:lnSpc>
                <a:spcPct val="136000"/>
              </a:lnSpc>
              <a:spcAft>
                <a:spcPts val="0"/>
              </a:spcAft>
            </a:pPr>
            <a:r>
              <a:rPr sz="1300" b="1">
                <a:solidFill>
                  <a:srgbClr val="70757A"/>
                </a:solidFill>
                <a:latin typeface="Segoe UI"/>
              </a:rPr>
              <a:t>How I tested it</a:t>
            </a:r>
          </a:p>
          <a:p>
            <a:pPr algn="l">
              <a:lnSpc>
                <a:spcPct val="136000"/>
              </a:lnSpc>
              <a:spcAft>
                <a:spcPts val="0"/>
              </a:spcAft>
            </a:pPr>
            <a:r>
              <a:rPr sz="1550" b="0">
                <a:solidFill>
                  <a:srgbClr val="1A1D21"/>
                </a:solidFill>
                <a:latin typeface="Segoe UI"/>
              </a:rPr>
              <a:t>Switched that plan off entirely, forcing a different strategy, and re-measured the estimation error.</a:t>
            </a:r>
          </a:p>
        </p:txBody>
      </p:sp>
      <p:sp>
        <p:nvSpPr>
          <p:cNvPr id="5" name="TextBox 4"/>
          <p:cNvSpPr txBox="1"/>
          <p:nvPr/>
        </p:nvSpPr>
        <p:spPr>
          <a:xfrm>
            <a:off x="6675120" y="1965960"/>
            <a:ext cx="2560320" cy="301752"/>
          </a:xfrm>
          <a:prstGeom prst="rect">
            <a:avLst/>
          </a:prstGeom>
          <a:noFill/>
        </p:spPr>
        <p:txBody>
          <a:bodyPr wrap="square" anchor="b" lIns="0" rIns="0" tIns="0" bIns="0">
            <a:spAutoFit/>
          </a:bodyPr>
          <a:lstStyle/>
          <a:p>
            <a:pPr algn="l">
              <a:lnSpc>
                <a:spcPct val="110000"/>
              </a:lnSpc>
              <a:spcAft>
                <a:spcPts val="0"/>
              </a:spcAft>
            </a:pPr>
            <a:r>
              <a:rPr sz="1100" b="1">
                <a:solidFill>
                  <a:srgbClr val="70757A"/>
                </a:solidFill>
                <a:latin typeface="Segoe UI"/>
              </a:rPr>
              <a:t>Configuration</a:t>
            </a:r>
          </a:p>
        </p:txBody>
      </p:sp>
      <p:sp>
        <p:nvSpPr>
          <p:cNvPr id="6" name="TextBox 5"/>
          <p:cNvSpPr txBox="1"/>
          <p:nvPr/>
        </p:nvSpPr>
        <p:spPr>
          <a:xfrm>
            <a:off x="9418320" y="1965960"/>
            <a:ext cx="1280160" cy="301752"/>
          </a:xfrm>
          <a:prstGeom prst="rect">
            <a:avLst/>
          </a:prstGeom>
          <a:noFill/>
        </p:spPr>
        <p:txBody>
          <a:bodyPr wrap="square" anchor="b" lIns="0" rIns="0" tIns="0" bIns="0">
            <a:spAutoFit/>
          </a:bodyPr>
          <a:lstStyle/>
          <a:p>
            <a:pPr algn="r">
              <a:lnSpc>
                <a:spcPct val="110000"/>
              </a:lnSpc>
              <a:spcAft>
                <a:spcPts val="0"/>
              </a:spcAft>
            </a:pPr>
            <a:r>
              <a:rPr sz="1100" b="1">
                <a:solidFill>
                  <a:srgbClr val="70757A"/>
                </a:solidFill>
                <a:latin typeface="Segoe UI"/>
              </a:rPr>
              <a:t>q-error</a:t>
            </a:r>
          </a:p>
        </p:txBody>
      </p:sp>
      <p:sp>
        <p:nvSpPr>
          <p:cNvPr id="7" name="Rectangle 6"/>
          <p:cNvSpPr/>
          <p:nvPr/>
        </p:nvSpPr>
        <p:spPr>
          <a:xfrm>
            <a:off x="6583680" y="2267712"/>
            <a:ext cx="42062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414016"/>
            <a:ext cx="2560320" cy="310896"/>
          </a:xfrm>
          <a:prstGeom prst="rect">
            <a:avLst/>
          </a:prstGeom>
          <a:noFill/>
        </p:spPr>
        <p:txBody>
          <a:bodyPr wrap="square" anchor="t" lIns="0" rIns="0" tIns="0" bIns="0">
            <a:spAutoFit/>
          </a:bodyPr>
          <a:lstStyle/>
          <a:p>
            <a:pPr algn="l">
              <a:lnSpc>
                <a:spcPct val="100000"/>
              </a:lnSpc>
              <a:spcAft>
                <a:spcPts val="0"/>
              </a:spcAft>
            </a:pPr>
            <a:r>
              <a:rPr sz="1450" b="0">
                <a:solidFill>
                  <a:srgbClr val="1A1D21"/>
                </a:solidFill>
                <a:latin typeface="Segoe UI"/>
              </a:rPr>
              <a:t>Merge plan enabled</a:t>
            </a:r>
          </a:p>
        </p:txBody>
      </p:sp>
      <p:sp>
        <p:nvSpPr>
          <p:cNvPr id="9" name="TextBox 8"/>
          <p:cNvSpPr txBox="1"/>
          <p:nvPr/>
        </p:nvSpPr>
        <p:spPr>
          <a:xfrm>
            <a:off x="9418320" y="2414016"/>
            <a:ext cx="128016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55.59</a:t>
            </a:r>
          </a:p>
        </p:txBody>
      </p:sp>
      <p:sp>
        <p:nvSpPr>
          <p:cNvPr id="10" name="Rectangle 9"/>
          <p:cNvSpPr/>
          <p:nvPr/>
        </p:nvSpPr>
        <p:spPr>
          <a:xfrm>
            <a:off x="6583680" y="2779776"/>
            <a:ext cx="42062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2871216"/>
            <a:ext cx="2560320" cy="310896"/>
          </a:xfrm>
          <a:prstGeom prst="rect">
            <a:avLst/>
          </a:prstGeom>
          <a:noFill/>
        </p:spPr>
        <p:txBody>
          <a:bodyPr wrap="square" anchor="t" lIns="0" rIns="0" tIns="0" bIns="0">
            <a:spAutoFit/>
          </a:bodyPr>
          <a:lstStyle/>
          <a:p>
            <a:pPr algn="l">
              <a:lnSpc>
                <a:spcPct val="100000"/>
              </a:lnSpc>
              <a:spcAft>
                <a:spcPts val="0"/>
              </a:spcAft>
            </a:pPr>
            <a:r>
              <a:rPr sz="1450" b="0">
                <a:solidFill>
                  <a:srgbClr val="1A1D21"/>
                </a:solidFill>
                <a:latin typeface="Segoe UI"/>
              </a:rPr>
              <a:t>Merge plan disabled</a:t>
            </a:r>
          </a:p>
        </p:txBody>
      </p:sp>
      <p:sp>
        <p:nvSpPr>
          <p:cNvPr id="12" name="TextBox 11"/>
          <p:cNvSpPr txBox="1"/>
          <p:nvPr/>
        </p:nvSpPr>
        <p:spPr>
          <a:xfrm>
            <a:off x="9418320" y="2871216"/>
            <a:ext cx="1280160" cy="310896"/>
          </a:xfrm>
          <a:prstGeom prst="rect">
            <a:avLst/>
          </a:prstGeom>
          <a:noFill/>
        </p:spPr>
        <p:txBody>
          <a:bodyPr wrap="square" anchor="t" lIns="0" rIns="0" tIns="0" bIns="0">
            <a:spAutoFit/>
          </a:bodyPr>
          <a:lstStyle/>
          <a:p>
            <a:pPr algn="r">
              <a:lnSpc>
                <a:spcPct val="100000"/>
              </a:lnSpc>
              <a:spcAft>
                <a:spcPts val="0"/>
              </a:spcAft>
            </a:pPr>
            <a:r>
              <a:rPr sz="1450" b="0">
                <a:solidFill>
                  <a:srgbClr val="1A1D21"/>
                </a:solidFill>
                <a:latin typeface="Segoe UI"/>
              </a:rPr>
              <a:t>55.84</a:t>
            </a:r>
          </a:p>
        </p:txBody>
      </p:sp>
      <p:sp>
        <p:nvSpPr>
          <p:cNvPr id="13" name="Rectangle 12"/>
          <p:cNvSpPr/>
          <p:nvPr/>
        </p:nvSpPr>
        <p:spPr>
          <a:xfrm>
            <a:off x="6583680" y="3255264"/>
            <a:ext cx="42062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657600"/>
            <a:ext cx="4754880" cy="1097280"/>
          </a:xfrm>
          <a:prstGeom prst="rect">
            <a:avLst/>
          </a:prstGeom>
          <a:noFill/>
        </p:spPr>
        <p:txBody>
          <a:bodyPr wrap="square" anchor="t" lIns="0" rIns="0" tIns="0" bIns="0">
            <a:spAutoFit/>
          </a:bodyPr>
          <a:lstStyle/>
          <a:p>
            <a:pPr algn="l">
              <a:lnSpc>
                <a:spcPct val="130000"/>
              </a:lnSpc>
              <a:spcAft>
                <a:spcPts val="0"/>
              </a:spcAft>
            </a:pPr>
            <a:r>
              <a:rPr sz="1500" b="1">
                <a:solidFill>
                  <a:srgbClr val="A8322A"/>
                </a:solidFill>
                <a:latin typeface="Segoe UI"/>
              </a:rPr>
              <a:t>Unchanged. So the merge is where the error becomes visible, not where it comes from.</a:t>
            </a:r>
          </a:p>
        </p:txBody>
      </p:sp>
      <p:sp>
        <p:nvSpPr>
          <p:cNvPr id="15" name="Rectangle 14"/>
          <p:cNvSpPr/>
          <p:nvPr/>
        </p:nvSpPr>
        <p:spPr>
          <a:xfrm>
            <a:off x="822960" y="470916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983480"/>
            <a:ext cx="10545775" cy="1097280"/>
          </a:xfrm>
          <a:prstGeom prst="rect">
            <a:avLst/>
          </a:prstGeom>
          <a:noFill/>
        </p:spPr>
        <p:txBody>
          <a:bodyPr wrap="square" anchor="t" lIns="0" rIns="0" tIns="0" bIns="0">
            <a:spAutoFit/>
          </a:bodyPr>
          <a:lstStyle/>
          <a:p>
            <a:pPr algn="l">
              <a:lnSpc>
                <a:spcPct val="135000"/>
              </a:lnSpc>
              <a:spcAft>
                <a:spcPts val="0"/>
              </a:spcAft>
            </a:pPr>
            <a:r>
              <a:rPr sz="1550" b="0">
                <a:solidFill>
                  <a:srgbClr val="1A1D21"/>
                </a:solidFill>
                <a:latin typeface="Segoe UI"/>
              </a:rPr>
              <a:t>The real cause is narrower: both engines are accurate only when one index covers both columns. Otherwise both multiply two separate guesses, whichever plan they choose.</a:t>
            </a:r>
          </a:p>
          <a:p>
            <a:pPr algn="l">
              <a:lnSpc>
                <a:spcPct val="135000"/>
              </a:lnSpc>
              <a:spcAft>
                <a:spcPts val="0"/>
              </a:spcAft>
            </a:pPr>
            <a:r>
              <a:rPr sz="600" b="0">
                <a:solidFill>
                  <a:srgbClr val="1A1D21"/>
                </a:solidFill>
                <a:latin typeface="Segoe UI"/>
              </a:rPr>
              <a:t/>
            </a:r>
          </a:p>
          <a:p>
            <a:pPr algn="l">
              <a:lnSpc>
                <a:spcPct val="135000"/>
              </a:lnSpc>
              <a:spcAft>
                <a:spcPts val="0"/>
              </a:spcAft>
            </a:pPr>
            <a:r>
              <a:rPr sz="1400" b="0">
                <a:solidFill>
                  <a:srgbClr val="70757A"/>
                </a:solidFill>
                <a:latin typeface="Segoe UI"/>
              </a:rPr>
              <a:t>Three of my own measurement errors were found during the study. All three are reported in the paper rather than removed.</a:t>
            </a:r>
          </a:p>
        </p:txBody>
      </p:sp>
      <p:sp>
        <p:nvSpPr>
          <p:cNvPr id="17" name="TextBox 16"/>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VALIDITY AND REPRODUCIBILITY</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What makes these numbers trustworthy</a:t>
            </a:r>
          </a:p>
        </p:txBody>
      </p:sp>
      <p:sp>
        <p:nvSpPr>
          <p:cNvPr id="4" name="Rectangle 3"/>
          <p:cNvSpPr/>
          <p:nvPr/>
        </p:nvSpPr>
        <p:spPr>
          <a:xfrm>
            <a:off x="822960" y="1874519"/>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40280"/>
            <a:ext cx="3200400" cy="914400"/>
          </a:xfrm>
          <a:prstGeom prst="rect">
            <a:avLst/>
          </a:prstGeom>
          <a:noFill/>
        </p:spPr>
        <p:txBody>
          <a:bodyPr wrap="square" anchor="t" lIns="0" rIns="0" tIns="0" bIns="0">
            <a:spAutoFit/>
          </a:bodyPr>
          <a:lstStyle/>
          <a:p>
            <a:pPr algn="l">
              <a:lnSpc>
                <a:spcPct val="95000"/>
              </a:lnSpc>
              <a:spcAft>
                <a:spcPts val="0"/>
              </a:spcAft>
            </a:pPr>
            <a:r>
              <a:rPr sz="5800" b="0">
                <a:solidFill>
                  <a:srgbClr val="1F4E5F"/>
                </a:solidFill>
                <a:latin typeface="Georgia"/>
              </a:rPr>
              <a:t>19</a:t>
            </a:r>
          </a:p>
        </p:txBody>
      </p:sp>
      <p:sp>
        <p:nvSpPr>
          <p:cNvPr id="6" name="TextBox 5"/>
          <p:cNvSpPr txBox="1"/>
          <p:nvPr/>
        </p:nvSpPr>
        <p:spPr>
          <a:xfrm>
            <a:off x="822960" y="3063240"/>
            <a:ext cx="3200400" cy="640080"/>
          </a:xfrm>
          <a:prstGeom prst="rect">
            <a:avLst/>
          </a:prstGeom>
          <a:noFill/>
        </p:spPr>
        <p:txBody>
          <a:bodyPr wrap="square" anchor="t" lIns="0" rIns="0" tIns="0" bIns="0">
            <a:spAutoFit/>
          </a:bodyPr>
          <a:lstStyle/>
          <a:p>
            <a:pPr algn="l">
              <a:lnSpc>
                <a:spcPct val="125000"/>
              </a:lnSpc>
              <a:spcAft>
                <a:spcPts val="0"/>
              </a:spcAft>
            </a:pPr>
            <a:r>
              <a:rPr sz="1300" b="1">
                <a:solidFill>
                  <a:srgbClr val="1A1D21"/>
                </a:solidFill>
                <a:latin typeface="Segoe UI"/>
              </a:rPr>
              <a:t>automated checks run before any
measurement is accepted</a:t>
            </a:r>
          </a:p>
        </p:txBody>
      </p:sp>
      <p:sp>
        <p:nvSpPr>
          <p:cNvPr id="7" name="TextBox 6"/>
          <p:cNvSpPr txBox="1"/>
          <p:nvPr/>
        </p:nvSpPr>
        <p:spPr>
          <a:xfrm>
            <a:off x="822960" y="3886200"/>
            <a:ext cx="3200400" cy="1828800"/>
          </a:xfrm>
          <a:prstGeom prst="rect">
            <a:avLst/>
          </a:prstGeom>
          <a:noFill/>
        </p:spPr>
        <p:txBody>
          <a:bodyPr wrap="square" anchor="t" lIns="0" rIns="0" tIns="0" bIns="0">
            <a:spAutoFit/>
          </a:bodyPr>
          <a:lstStyle/>
          <a:p>
            <a:pPr algn="l">
              <a:lnSpc>
                <a:spcPct val="135000"/>
              </a:lnSpc>
              <a:spcAft>
                <a:spcPts val="0"/>
              </a:spcAft>
            </a:pPr>
            <a:r>
              <a:rPr sz="1350" b="0">
                <a:solidFill>
                  <a:srgbClr val="70757A"/>
                </a:solidFill>
                <a:latin typeface="Segoe UI"/>
              </a:rPr>
              <a:t>Includes validating the generated data against PostgreSQL's own internal statistics, so the generator is checked against something I do not control.</a:t>
            </a:r>
          </a:p>
        </p:txBody>
      </p:sp>
      <p:sp>
        <p:nvSpPr>
          <p:cNvPr id="8" name="TextBox 7"/>
          <p:cNvSpPr txBox="1"/>
          <p:nvPr/>
        </p:nvSpPr>
        <p:spPr>
          <a:xfrm>
            <a:off x="4434840" y="2240280"/>
            <a:ext cx="3200400" cy="914400"/>
          </a:xfrm>
          <a:prstGeom prst="rect">
            <a:avLst/>
          </a:prstGeom>
          <a:noFill/>
        </p:spPr>
        <p:txBody>
          <a:bodyPr wrap="square" anchor="t" lIns="0" rIns="0" tIns="0" bIns="0">
            <a:spAutoFit/>
          </a:bodyPr>
          <a:lstStyle/>
          <a:p>
            <a:pPr algn="l">
              <a:lnSpc>
                <a:spcPct val="95000"/>
              </a:lnSpc>
              <a:spcAft>
                <a:spcPts val="0"/>
              </a:spcAft>
            </a:pPr>
            <a:r>
              <a:rPr sz="5800" b="0">
                <a:solidFill>
                  <a:srgbClr val="1F4E5F"/>
                </a:solidFill>
                <a:latin typeface="Georgia"/>
              </a:rPr>
              <a:t>7</a:t>
            </a:r>
          </a:p>
        </p:txBody>
      </p:sp>
      <p:sp>
        <p:nvSpPr>
          <p:cNvPr id="9" name="TextBox 8"/>
          <p:cNvSpPr txBox="1"/>
          <p:nvPr/>
        </p:nvSpPr>
        <p:spPr>
          <a:xfrm>
            <a:off x="4434840" y="3063240"/>
            <a:ext cx="3200400" cy="640080"/>
          </a:xfrm>
          <a:prstGeom prst="rect">
            <a:avLst/>
          </a:prstGeom>
          <a:noFill/>
        </p:spPr>
        <p:txBody>
          <a:bodyPr wrap="square" anchor="t" lIns="0" rIns="0" tIns="0" bIns="0">
            <a:spAutoFit/>
          </a:bodyPr>
          <a:lstStyle/>
          <a:p>
            <a:pPr algn="l">
              <a:lnSpc>
                <a:spcPct val="125000"/>
              </a:lnSpc>
              <a:spcAft>
                <a:spcPts val="0"/>
              </a:spcAft>
            </a:pPr>
            <a:r>
              <a:rPr sz="1300" b="1">
                <a:solidFill>
                  <a:srgbClr val="1A1D21"/>
                </a:solidFill>
                <a:latin typeface="Segoe UI"/>
              </a:rPr>
              <a:t>executions per query, first
discarded as warm-up</a:t>
            </a:r>
          </a:p>
        </p:txBody>
      </p:sp>
      <p:sp>
        <p:nvSpPr>
          <p:cNvPr id="10" name="TextBox 9"/>
          <p:cNvSpPr txBox="1"/>
          <p:nvPr/>
        </p:nvSpPr>
        <p:spPr>
          <a:xfrm>
            <a:off x="4434840" y="3886200"/>
            <a:ext cx="3200400" cy="1828800"/>
          </a:xfrm>
          <a:prstGeom prst="rect">
            <a:avLst/>
          </a:prstGeom>
          <a:noFill/>
        </p:spPr>
        <p:txBody>
          <a:bodyPr wrap="square" anchor="t" lIns="0" rIns="0" tIns="0" bIns="0">
            <a:spAutoFit/>
          </a:bodyPr>
          <a:lstStyle/>
          <a:p>
            <a:pPr algn="l">
              <a:lnSpc>
                <a:spcPct val="135000"/>
              </a:lnSpc>
              <a:spcAft>
                <a:spcPts val="0"/>
              </a:spcAft>
            </a:pPr>
            <a:r>
              <a:rPr sz="1350" b="0">
                <a:solidFill>
                  <a:srgbClr val="70757A"/>
                </a:solidFill>
                <a:latin typeface="Segoe UI"/>
              </a:rPr>
              <a:t>Parallel workers and JIT disabled, buffer pool pinned at 128 MB, dedicated tablespace, every dataset seeded so it regenerates identically.</a:t>
            </a:r>
          </a:p>
        </p:txBody>
      </p:sp>
      <p:sp>
        <p:nvSpPr>
          <p:cNvPr id="11" name="TextBox 10"/>
          <p:cNvSpPr txBox="1"/>
          <p:nvPr/>
        </p:nvSpPr>
        <p:spPr>
          <a:xfrm>
            <a:off x="8046720" y="2240280"/>
            <a:ext cx="3200400" cy="914400"/>
          </a:xfrm>
          <a:prstGeom prst="rect">
            <a:avLst/>
          </a:prstGeom>
          <a:noFill/>
        </p:spPr>
        <p:txBody>
          <a:bodyPr wrap="square" anchor="t" lIns="0" rIns="0" tIns="0" bIns="0">
            <a:spAutoFit/>
          </a:bodyPr>
          <a:lstStyle/>
          <a:p>
            <a:pPr algn="l">
              <a:lnSpc>
                <a:spcPct val="95000"/>
              </a:lnSpc>
              <a:spcAft>
                <a:spcPts val="0"/>
              </a:spcAft>
            </a:pPr>
            <a:r>
              <a:rPr sz="5800" b="0">
                <a:solidFill>
                  <a:srgbClr val="1F4E5F"/>
                </a:solidFill>
                <a:latin typeface="Georgia"/>
              </a:rPr>
              <a:t>3</a:t>
            </a:r>
          </a:p>
        </p:txBody>
      </p:sp>
      <p:sp>
        <p:nvSpPr>
          <p:cNvPr id="12" name="TextBox 11"/>
          <p:cNvSpPr txBox="1"/>
          <p:nvPr/>
        </p:nvSpPr>
        <p:spPr>
          <a:xfrm>
            <a:off x="8046720" y="3063240"/>
            <a:ext cx="3200400" cy="640080"/>
          </a:xfrm>
          <a:prstGeom prst="rect">
            <a:avLst/>
          </a:prstGeom>
          <a:noFill/>
        </p:spPr>
        <p:txBody>
          <a:bodyPr wrap="square" anchor="t" lIns="0" rIns="0" tIns="0" bIns="0">
            <a:spAutoFit/>
          </a:bodyPr>
          <a:lstStyle/>
          <a:p>
            <a:pPr algn="l">
              <a:lnSpc>
                <a:spcPct val="125000"/>
              </a:lnSpc>
              <a:spcAft>
                <a:spcPts val="0"/>
              </a:spcAft>
            </a:pPr>
            <a:r>
              <a:rPr sz="1300" b="1">
                <a:solidFill>
                  <a:srgbClr val="1A1D21"/>
                </a:solidFill>
                <a:latin typeface="Segoe UI"/>
              </a:rPr>
              <a:t>of my own errors found,
corrected and reported</a:t>
            </a:r>
          </a:p>
        </p:txBody>
      </p:sp>
      <p:sp>
        <p:nvSpPr>
          <p:cNvPr id="13" name="TextBox 12"/>
          <p:cNvSpPr txBox="1"/>
          <p:nvPr/>
        </p:nvSpPr>
        <p:spPr>
          <a:xfrm>
            <a:off x="8046720" y="3886200"/>
            <a:ext cx="3200400" cy="1828800"/>
          </a:xfrm>
          <a:prstGeom prst="rect">
            <a:avLst/>
          </a:prstGeom>
          <a:noFill/>
        </p:spPr>
        <p:txBody>
          <a:bodyPr wrap="square" anchor="t" lIns="0" rIns="0" tIns="0" bIns="0">
            <a:spAutoFit/>
          </a:bodyPr>
          <a:lstStyle/>
          <a:p>
            <a:pPr algn="l">
              <a:lnSpc>
                <a:spcPct val="135000"/>
              </a:lnSpc>
              <a:spcAft>
                <a:spcPts val="0"/>
              </a:spcAft>
            </a:pPr>
            <a:r>
              <a:rPr sz="1350" b="0">
                <a:solidFill>
                  <a:srgbClr val="70757A"/>
                </a:solidFill>
                <a:latin typeface="Segoe UI"/>
              </a:rPr>
              <a:t>A collapsed selectivity range on skewed data, row counts meaning different things across the two engines, and an estimate that looked too good to be real.</a:t>
            </a:r>
          </a:p>
        </p:txBody>
      </p:sp>
      <p:sp>
        <p:nvSpPr>
          <p:cNvPr id="14" name="TextBox 13"/>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spcAft>
                <a:spcPts val="0"/>
              </a:spcAft>
            </a:pPr>
            <a:r>
              <a:rPr sz="1050" b="0">
                <a:solidFill>
                  <a:srgbClr val="70757A"/>
                </a:solidFill>
                <a:latin typeface="Segoe UI"/>
              </a:rPr>
              <a:t>Public repository with raw measurements, one-command reproduction, and a notebook that executes end to end.</a:t>
            </a:r>
          </a:p>
        </p:txBody>
      </p:sp>
      <p:sp>
        <p:nvSpPr>
          <p:cNvPr id="15" name="TextBox 14"/>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spcAft>
                <a:spcPts val="0"/>
              </a:spcAft>
            </a:pPr>
            <a:r>
              <a:rPr sz="1050" b="1">
                <a:solidFill>
                  <a:srgbClr val="A8322A"/>
                </a:solidFill>
                <a:latin typeface="Segoe UI"/>
              </a:rPr>
              <a:t>WHAT IT MEANS</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spcAft>
                <a:spcPts val="0"/>
              </a:spcAft>
            </a:pPr>
            <a:r>
              <a:rPr sz="2900" b="0">
                <a:solidFill>
                  <a:srgbClr val="1A1D21"/>
                </a:solidFill>
                <a:latin typeface="Georgia"/>
              </a:rPr>
              <a:t>Conclusions</a:t>
            </a:r>
          </a:p>
        </p:txBody>
      </p:sp>
      <p:sp>
        <p:nvSpPr>
          <p:cNvPr id="4" name="Rectangle 3"/>
          <p:cNvSpPr/>
          <p:nvPr/>
        </p:nvSpPr>
        <p:spPr>
          <a:xfrm>
            <a:off x="822960" y="1874519"/>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457200" cy="365760"/>
          </a:xfrm>
          <a:prstGeom prst="rect">
            <a:avLst/>
          </a:prstGeom>
          <a:noFill/>
        </p:spPr>
        <p:txBody>
          <a:bodyPr wrap="square" anchor="t" lIns="0" rIns="0" tIns="0" bIns="0">
            <a:spAutoFit/>
          </a:bodyPr>
          <a:lstStyle/>
          <a:p>
            <a:pPr algn="l">
              <a:lnSpc>
                <a:spcPct val="100000"/>
              </a:lnSpc>
              <a:spcAft>
                <a:spcPts val="0"/>
              </a:spcAft>
            </a:pPr>
            <a:r>
              <a:rPr sz="1500" b="1">
                <a:solidFill>
                  <a:srgbClr val="A8322A"/>
                </a:solidFill>
                <a:latin typeface="Georgia"/>
              </a:rPr>
              <a:t>1</a:t>
            </a:r>
          </a:p>
        </p:txBody>
      </p:sp>
      <p:sp>
        <p:nvSpPr>
          <p:cNvPr id="6" name="TextBox 5"/>
          <p:cNvSpPr txBox="1"/>
          <p:nvPr/>
        </p:nvSpPr>
        <p:spPr>
          <a:xfrm>
            <a:off x="1325880" y="2176272"/>
            <a:ext cx="10058400" cy="914400"/>
          </a:xfrm>
          <a:prstGeom prst="rect">
            <a:avLst/>
          </a:prstGeom>
          <a:noFill/>
        </p:spPr>
        <p:txBody>
          <a:bodyPr wrap="square" anchor="t" lIns="0" rIns="0" tIns="0" bIns="0">
            <a:spAutoFit/>
          </a:bodyPr>
          <a:lstStyle/>
          <a:p>
            <a:pPr algn="l">
              <a:lnSpc>
                <a:spcPct val="130000"/>
              </a:lnSpc>
              <a:spcAft>
                <a:spcPts val="0"/>
              </a:spcAft>
            </a:pPr>
            <a:r>
              <a:rPr sz="1650" b="1">
                <a:solidFill>
                  <a:srgbClr val="1A1D21"/>
                </a:solidFill>
                <a:latin typeface="Segoe UI"/>
              </a:rPr>
              <a:t>Tuning advice needs conditions attached to it</a:t>
            </a:r>
          </a:p>
          <a:p>
            <a:pPr algn="l">
              <a:lnSpc>
                <a:spcPct val="130000"/>
              </a:lnSpc>
              <a:spcAft>
                <a:spcPts val="0"/>
              </a:spcAft>
            </a:pPr>
            <a:r>
              <a:rPr sz="1400" b="0">
                <a:solidFill>
                  <a:srgbClr val="70757A"/>
                </a:solidFill>
                <a:latin typeface="Segoe UI"/>
              </a:rPr>
              <a:t>All four practices tested are sound in the case they were written for and harmful outside it. None of them ships with the boundary stated.</a:t>
            </a:r>
          </a:p>
        </p:txBody>
      </p:sp>
      <p:sp>
        <p:nvSpPr>
          <p:cNvPr id="7" name="TextBox 6"/>
          <p:cNvSpPr txBox="1"/>
          <p:nvPr/>
        </p:nvSpPr>
        <p:spPr>
          <a:xfrm>
            <a:off x="822960" y="3218688"/>
            <a:ext cx="457200" cy="365760"/>
          </a:xfrm>
          <a:prstGeom prst="rect">
            <a:avLst/>
          </a:prstGeom>
          <a:noFill/>
        </p:spPr>
        <p:txBody>
          <a:bodyPr wrap="square" anchor="t" lIns="0" rIns="0" tIns="0" bIns="0">
            <a:spAutoFit/>
          </a:bodyPr>
          <a:lstStyle/>
          <a:p>
            <a:pPr algn="l">
              <a:lnSpc>
                <a:spcPct val="100000"/>
              </a:lnSpc>
              <a:spcAft>
                <a:spcPts val="0"/>
              </a:spcAft>
            </a:pPr>
            <a:r>
              <a:rPr sz="1500" b="1">
                <a:solidFill>
                  <a:srgbClr val="A8322A"/>
                </a:solidFill>
                <a:latin typeface="Georgia"/>
              </a:rPr>
              <a:t>2</a:t>
            </a:r>
          </a:p>
        </p:txBody>
      </p:sp>
      <p:sp>
        <p:nvSpPr>
          <p:cNvPr id="8" name="TextBox 7"/>
          <p:cNvSpPr txBox="1"/>
          <p:nvPr/>
        </p:nvSpPr>
        <p:spPr>
          <a:xfrm>
            <a:off x="1325880" y="3200400"/>
            <a:ext cx="10058400" cy="914400"/>
          </a:xfrm>
          <a:prstGeom prst="rect">
            <a:avLst/>
          </a:prstGeom>
          <a:noFill/>
        </p:spPr>
        <p:txBody>
          <a:bodyPr wrap="square" anchor="t" lIns="0" rIns="0" tIns="0" bIns="0">
            <a:spAutoFit/>
          </a:bodyPr>
          <a:lstStyle/>
          <a:p>
            <a:pPr algn="l">
              <a:lnSpc>
                <a:spcPct val="130000"/>
              </a:lnSpc>
              <a:spcAft>
                <a:spcPts val="0"/>
              </a:spcAft>
            </a:pPr>
            <a:r>
              <a:rPr sz="1650" b="1">
                <a:solidFill>
                  <a:srgbClr val="1A1D21"/>
                </a:solidFill>
                <a:latin typeface="Segoe UI"/>
              </a:rPr>
              <a:t>The cause is costing, not statistics</a:t>
            </a:r>
          </a:p>
          <a:p>
            <a:pPr algn="l">
              <a:lnSpc>
                <a:spcPct val="130000"/>
              </a:lnSpc>
              <a:spcAft>
                <a:spcPts val="0"/>
              </a:spcAft>
            </a:pPr>
            <a:r>
              <a:rPr sz="1400" b="0">
                <a:solidFill>
                  <a:srgbClr val="70757A"/>
                </a:solidFill>
                <a:latin typeface="Segoe UI"/>
              </a:rPr>
              <a:t>98.2% of bad choices had correct row estimates. Better statistics cannot fix a comparison that ignores heap work, so the fix belongs in the cost model.</a:t>
            </a:r>
          </a:p>
        </p:txBody>
      </p:sp>
      <p:sp>
        <p:nvSpPr>
          <p:cNvPr id="9" name="TextBox 8"/>
          <p:cNvSpPr txBox="1"/>
          <p:nvPr/>
        </p:nvSpPr>
        <p:spPr>
          <a:xfrm>
            <a:off x="822960" y="4242816"/>
            <a:ext cx="457200" cy="365760"/>
          </a:xfrm>
          <a:prstGeom prst="rect">
            <a:avLst/>
          </a:prstGeom>
          <a:noFill/>
        </p:spPr>
        <p:txBody>
          <a:bodyPr wrap="square" anchor="t" lIns="0" rIns="0" tIns="0" bIns="0">
            <a:spAutoFit/>
          </a:bodyPr>
          <a:lstStyle/>
          <a:p>
            <a:pPr algn="l">
              <a:lnSpc>
                <a:spcPct val="100000"/>
              </a:lnSpc>
              <a:spcAft>
                <a:spcPts val="0"/>
              </a:spcAft>
            </a:pPr>
            <a:r>
              <a:rPr sz="1500" b="1">
                <a:solidFill>
                  <a:srgbClr val="A8322A"/>
                </a:solidFill>
                <a:latin typeface="Georgia"/>
              </a:rPr>
              <a:t>3</a:t>
            </a:r>
          </a:p>
        </p:txBody>
      </p:sp>
      <p:sp>
        <p:nvSpPr>
          <p:cNvPr id="10" name="TextBox 9"/>
          <p:cNvSpPr txBox="1"/>
          <p:nvPr/>
        </p:nvSpPr>
        <p:spPr>
          <a:xfrm>
            <a:off x="1325880" y="4224528"/>
            <a:ext cx="10058400" cy="914400"/>
          </a:xfrm>
          <a:prstGeom prst="rect">
            <a:avLst/>
          </a:prstGeom>
          <a:noFill/>
        </p:spPr>
        <p:txBody>
          <a:bodyPr wrap="square" anchor="t" lIns="0" rIns="0" tIns="0" bIns="0">
            <a:spAutoFit/>
          </a:bodyPr>
          <a:lstStyle/>
          <a:p>
            <a:pPr algn="l">
              <a:lnSpc>
                <a:spcPct val="130000"/>
              </a:lnSpc>
              <a:spcAft>
                <a:spcPts val="0"/>
              </a:spcAft>
            </a:pPr>
            <a:r>
              <a:rPr sz="1650" b="1">
                <a:solidFill>
                  <a:srgbClr val="1A1D21"/>
                </a:solidFill>
                <a:latin typeface="Segoe UI"/>
              </a:rPr>
              <a:t>One number cannot describe an optimiser</a:t>
            </a:r>
          </a:p>
          <a:p>
            <a:pPr algn="l">
              <a:lnSpc>
                <a:spcPct val="130000"/>
              </a:lnSpc>
              <a:spcAft>
                <a:spcPts val="0"/>
              </a:spcAft>
            </a:pPr>
            <a:r>
              <a:rPr sz="1400" b="0">
                <a:solidFill>
                  <a:srgbClr val="70757A"/>
                </a:solidFill>
                <a:latin typeface="Segoe UI"/>
              </a:rPr>
              <a:t>How often it errs and how badly it errs move in opposite directions across scale, and across these two engines.</a:t>
            </a:r>
          </a:p>
        </p:txBody>
      </p:sp>
      <p:sp>
        <p:nvSpPr>
          <p:cNvPr id="11" name="TextBox 10"/>
          <p:cNvSpPr txBox="1"/>
          <p:nvPr/>
        </p:nvSpPr>
        <p:spPr>
          <a:xfrm>
            <a:off x="822960" y="5266944"/>
            <a:ext cx="457200" cy="365760"/>
          </a:xfrm>
          <a:prstGeom prst="rect">
            <a:avLst/>
          </a:prstGeom>
          <a:noFill/>
        </p:spPr>
        <p:txBody>
          <a:bodyPr wrap="square" anchor="t" lIns="0" rIns="0" tIns="0" bIns="0">
            <a:spAutoFit/>
          </a:bodyPr>
          <a:lstStyle/>
          <a:p>
            <a:pPr algn="l">
              <a:lnSpc>
                <a:spcPct val="100000"/>
              </a:lnSpc>
              <a:spcAft>
                <a:spcPts val="0"/>
              </a:spcAft>
            </a:pPr>
            <a:r>
              <a:rPr sz="1500" b="1">
                <a:solidFill>
                  <a:srgbClr val="A8322A"/>
                </a:solidFill>
                <a:latin typeface="Georgia"/>
              </a:rPr>
              <a:t>4</a:t>
            </a:r>
          </a:p>
        </p:txBody>
      </p:sp>
      <p:sp>
        <p:nvSpPr>
          <p:cNvPr id="12" name="TextBox 11"/>
          <p:cNvSpPr txBox="1"/>
          <p:nvPr/>
        </p:nvSpPr>
        <p:spPr>
          <a:xfrm>
            <a:off x="1325880" y="5248656"/>
            <a:ext cx="10058400" cy="914400"/>
          </a:xfrm>
          <a:prstGeom prst="rect">
            <a:avLst/>
          </a:prstGeom>
          <a:noFill/>
        </p:spPr>
        <p:txBody>
          <a:bodyPr wrap="square" anchor="t" lIns="0" rIns="0" tIns="0" bIns="0">
            <a:spAutoFit/>
          </a:bodyPr>
          <a:lstStyle/>
          <a:p>
            <a:pPr algn="l">
              <a:lnSpc>
                <a:spcPct val="130000"/>
              </a:lnSpc>
              <a:spcAft>
                <a:spcPts val="0"/>
              </a:spcAft>
            </a:pPr>
            <a:r>
              <a:rPr sz="1650" b="1">
                <a:solidFill>
                  <a:srgbClr val="1A1D21"/>
                </a:solidFill>
                <a:latin typeface="Segoe UI"/>
              </a:rPr>
              <a:t>Never generalise from one query or one table size</a:t>
            </a:r>
          </a:p>
          <a:p>
            <a:pPr algn="l">
              <a:lnSpc>
                <a:spcPct val="130000"/>
              </a:lnSpc>
              <a:spcAft>
                <a:spcPts val="0"/>
              </a:spcAft>
            </a:pPr>
            <a:r>
              <a:rPr sz="1400" b="0">
                <a:solidFill>
                  <a:srgbClr val="70757A"/>
                </a:solidFill>
                <a:latin typeface="Segoe UI"/>
              </a:rPr>
              <a:t>A 24x tuning effect vanished across the workload, and a two-point scale test would have reversed the BRIN conclusion.</a:t>
            </a:r>
          </a:p>
        </p:txBody>
      </p:sp>
      <p:sp>
        <p:nvSpPr>
          <p:cNvPr id="13" name="TextBox 12"/>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spcAft>
                <a:spcPts val="0"/>
              </a:spcAft>
            </a:pPr>
            <a:r>
              <a:rPr sz="1000" b="0">
                <a:solidFill>
                  <a:srgbClr val="A8ACB0"/>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Rectangle 1"/>
          <p:cNvSpPr/>
          <p:nvPr/>
        </p:nvSpPr>
        <p:spPr>
          <a:xfrm>
            <a:off x="822960" y="1828800"/>
            <a:ext cx="1280160" cy="31750"/>
          </a:xfrm>
          <a:prstGeom prst="rect">
            <a:avLst/>
          </a:prstGeom>
          <a:solidFill>
            <a:srgbClr val="A8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8686800" cy="1280160"/>
          </a:xfrm>
          <a:prstGeom prst="rect">
            <a:avLst/>
          </a:prstGeom>
          <a:noFill/>
        </p:spPr>
        <p:txBody>
          <a:bodyPr wrap="square" anchor="t" lIns="0" rIns="0" tIns="0" bIns="0">
            <a:spAutoFit/>
          </a:bodyPr>
          <a:lstStyle/>
          <a:p>
            <a:pPr algn="l">
              <a:lnSpc>
                <a:spcPct val="110000"/>
              </a:lnSpc>
              <a:spcAft>
                <a:spcPts val="0"/>
              </a:spcAft>
            </a:pPr>
            <a:r>
              <a:rPr sz="4400" b="0">
                <a:solidFill>
                  <a:srgbClr val="F2EFEA"/>
                </a:solidFill>
                <a:latin typeface="Georgia"/>
              </a:rPr>
              <a:t>Thank you. Questions?</a:t>
            </a:r>
          </a:p>
        </p:txBody>
      </p:sp>
      <p:sp>
        <p:nvSpPr>
          <p:cNvPr id="4" name="Rectangle 3"/>
          <p:cNvSpPr/>
          <p:nvPr/>
        </p:nvSpPr>
        <p:spPr>
          <a:xfrm>
            <a:off x="822960" y="342900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749039"/>
            <a:ext cx="5120640" cy="2011680"/>
          </a:xfrm>
          <a:prstGeom prst="rect">
            <a:avLst/>
          </a:prstGeom>
          <a:noFill/>
        </p:spPr>
        <p:txBody>
          <a:bodyPr wrap="square" anchor="t" lIns="0" rIns="0" tIns="0" bIns="0">
            <a:spAutoFit/>
          </a:bodyPr>
          <a:lstStyle/>
          <a:p>
            <a:pPr algn="l">
              <a:lnSpc>
                <a:spcPct val="135000"/>
              </a:lnSpc>
              <a:spcAft>
                <a:spcPts val="0"/>
              </a:spcAft>
            </a:pPr>
            <a:r>
              <a:rPr sz="1400" b="1">
                <a:solidFill>
                  <a:srgbClr val="F2EFEA"/>
                </a:solidFill>
                <a:latin typeface="Segoe UI"/>
              </a:rPr>
              <a:t>Everything is reproducible</a:t>
            </a:r>
          </a:p>
          <a:p>
            <a:pPr algn="l">
              <a:lnSpc>
                <a:spcPct val="135000"/>
              </a:lnSpc>
              <a:spcAft>
                <a:spcPts val="0"/>
              </a:spcAft>
            </a:pPr>
            <a:r>
              <a:rPr sz="600" b="0">
                <a:solidFill>
                  <a:srgbClr val="F2EFEA"/>
                </a:solidFill>
                <a:latin typeface="Segoe UI"/>
              </a:rPr>
              <a:t/>
            </a:r>
          </a:p>
          <a:p>
            <a:pPr algn="l">
              <a:lnSpc>
                <a:spcPct val="135000"/>
              </a:lnSpc>
              <a:spcAft>
                <a:spcPts val="0"/>
              </a:spcAft>
            </a:pPr>
            <a:r>
              <a:rPr sz="1400" b="0">
                <a:solidFill>
                  <a:srgbClr val="92989E"/>
                </a:solidFill>
                <a:latin typeface="Segoe UI"/>
              </a:rPr>
              <a:t>23,480 raw measurements, seeded generators, the analysis notebook and both write-ups are in the repository.</a:t>
            </a:r>
          </a:p>
        </p:txBody>
      </p:sp>
      <p:sp>
        <p:nvSpPr>
          <p:cNvPr id="6" name="TextBox 5"/>
          <p:cNvSpPr txBox="1"/>
          <p:nvPr/>
        </p:nvSpPr>
        <p:spPr>
          <a:xfrm>
            <a:off x="6583680" y="3749039"/>
            <a:ext cx="4754880" cy="2011680"/>
          </a:xfrm>
          <a:prstGeom prst="rect">
            <a:avLst/>
          </a:prstGeom>
          <a:noFill/>
        </p:spPr>
        <p:txBody>
          <a:bodyPr wrap="square" anchor="t" lIns="0" rIns="0" tIns="0" bIns="0">
            <a:spAutoFit/>
          </a:bodyPr>
          <a:lstStyle/>
          <a:p>
            <a:pPr algn="l">
              <a:lnSpc>
                <a:spcPct val="140000"/>
              </a:lnSpc>
              <a:spcAft>
                <a:spcPts val="0"/>
              </a:spcAft>
            </a:pPr>
            <a:r>
              <a:rPr sz="1500" b="1">
                <a:solidFill>
                  <a:srgbClr val="F2EFEA"/>
                </a:solidFill>
                <a:latin typeface="Segoe UI"/>
              </a:rPr>
              <a:t>Md. Imtiaj Alam Sajin</a:t>
            </a:r>
          </a:p>
          <a:p>
            <a:pPr algn="l">
              <a:lnSpc>
                <a:spcPct val="140000"/>
              </a:lnSpc>
              <a:spcAft>
                <a:spcPts val="0"/>
              </a:spcAft>
            </a:pPr>
            <a:r>
              <a:rPr sz="1300" b="0">
                <a:solidFill>
                  <a:srgbClr val="92989E"/>
                </a:solidFill>
                <a:latin typeface="Segoe UI"/>
              </a:rPr>
              <a:t>26-94090-2</a:t>
            </a:r>
          </a:p>
          <a:p>
            <a:pPr algn="l">
              <a:lnSpc>
                <a:spcPct val="140000"/>
              </a:lnSpc>
              <a:spcAft>
                <a:spcPts val="0"/>
              </a:spcAft>
            </a:pPr>
            <a:r>
              <a:rPr sz="1300" b="0">
                <a:solidFill>
                  <a:srgbClr val="92989E"/>
                </a:solidFill>
                <a:latin typeface="Segoe UI"/>
              </a:rPr>
              <a:t>Supervisor: Dr. Ashraf Uddin</a:t>
            </a:r>
          </a:p>
        </p:txBody>
      </p:sp>
      <p:sp>
        <p:nvSpPr>
          <p:cNvPr id="7" name="TextBox 6"/>
          <p:cNvSpPr txBox="1"/>
          <p:nvPr/>
        </p:nvSpPr>
        <p:spPr>
          <a:xfrm>
            <a:off x="822960" y="6080760"/>
            <a:ext cx="10545775" cy="365760"/>
          </a:xfrm>
          <a:prstGeom prst="rect">
            <a:avLst/>
          </a:prstGeom>
          <a:noFill/>
        </p:spPr>
        <p:txBody>
          <a:bodyPr wrap="square" anchor="t" lIns="0" rIns="0" tIns="0" bIns="0">
            <a:spAutoFit/>
          </a:bodyPr>
          <a:lstStyle/>
          <a:p>
            <a:pPr algn="l">
              <a:lnSpc>
                <a:spcPct val="120000"/>
              </a:lnSpc>
              <a:spcAft>
                <a:spcPts val="0"/>
              </a:spcAft>
            </a:pPr>
            <a:r>
              <a:rPr sz="1150" b="0">
                <a:solidFill>
                  <a:srgbClr val="92989E"/>
                </a:solidFill>
                <a:latin typeface="Consolas"/>
              </a:rPr>
              <a:t>github.com/Imtiaj-Sajin/Reseach-on-Database-Architecture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